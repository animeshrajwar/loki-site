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031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our project, Loki, a transparent Git-style version control system written in Go. We are team PIET NON ASMP – 04 from Parul Institute of Engineering and Technology, Parul University, Vadodara. The four of us are Ajay Agnihotri, Animesh Singh Rajwar, Nilesh Saraswat and Vedant Mahale, B.Tech. Computer Science and Engineering with specialization in Artificial Intelligence, working under our project guide Prof. Rahul Moud, Assistant Professor. Today we will walk through what Loki is, how it is built internally, how it stores data, how its commands work, and how it is released and installed. Loki is an educational, local system: it is inspired by Git but is not a full Git replacement.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official project and academic details. All four members have equal standing in the project: Ajay Agnihotri, enrollment 2303031240181; Animesh Singh Rajwar, 2303031240205; Nilesh Saraswat, 2303031240715; and Vedant Mahale, 2303031241475. We are team PIET NON ASMP – 04 at Parul Institute of Engineering and Technology, Parul University, Vadodara, Gujarat, India. Our department is Computer Science and Engineering with specialization in Artificial Intelligence, in the Bachelor of Technology program, 7th semester, academic year 2026–2027. Our project guide is Prof. Rahul Moud, Assistant Professor. The same team name and institution appear in the footer of every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 map for the next forty slides. We start with what version control is in general, then introduce Loki and its capabilities. Next comes the system architecture: how a command travels from the command line through the handlers and core logic into storage. The longest part explains the object model and how Loki stores data on disk. After that we cover everyday command workflows, then branching and merging. We close with configuration, the GitHub stable release and installation files, and finally the limitations and future scope. Slide numbers are shown next to each topic so you can follow along.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a way of tracking how files change over time. Instead of keeping copies like final, final2 and final_really, a version control system records each meaningful change as a commit: a saved snapshot with a message. The ordered list of commits is the history, so you can see what changed and go back if needed. A branch is a parallel line of work, for example a feature experiment, that can be merged back later. The example on the right is only illustrative: a website goes from v1 to v2 to v3, while a feature branch starts from v2 with a dark-mode experiment. This slide is about the general idea; Loki-specific details start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Loki is a lightweight, educational, local version-control system written in Go. It uses Git-inspired concepts, such as object storage, staging, commits, branches, tags, diffs, merging and reverting, to show how a version control system works underneath. Four points to remember. It is written in Go. It works on local repositories only, so there are no remote repositories. Its purpose is educational: it makes the mechanics visible and readable. And it is Git-inspired but not fully Git-compatible: for example its index is a custom JSON format, not Git's index format. Please keep that distinction in mind for the rest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project set out to do? According to the architecture documentation, Loki demonstrates the core concepts of a version control system: object storage, staging, commits, branches, tags, diffs, merging and reverting. Building those pieces teaches how a repository is initialized, how files become blobs, how a commit ties staged content together, how objects are named by hash and stored compressed, and how history and references are managed. These cards are a summary of that scope, taken from the documentation rather than invented requirements. All of it happens inside one local repository.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implemented command set, taken from the Loki documentation page titled Loki commands currently implemented. Every command on the page is marked implemented. Repository basics: init, add, status, diff, commit and log. Status shows tracked, staged, modified, deleted and untracked files. Diff compares the working tree with the index, and with the staged option compares the index with HEAD. Commit takes a message and attaches author metadata. Branching and history: branch creates or lists branches, checkout switches to a branch, tag or commit reference, merge handles fast-forward and three-way flows, reset resets HEAD, the index or the working tree to a target, and revert creates a new commit that reverses an earlier one. Also available: rm removes files from the index and working tree, tag creates, lists, deletes or annotates tags, config reads or writes repository configuration values, and help prints usage. Everything is local; fetch, pull and push do not exist.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and it follows the documented flowchart. A user types a loki command in the terminal. The CLI entry point, cmd/loki, dispatches the command to a command handler in internal/commands. The handlers parse arguments and present output, and they also use the configuration module. The handlers call the repository core in internal/core, which coordinates all repository operations. The core works with four things: the working tree of project files, the staging index, the data models for blob, tree, commit and tag, and the storage interface. The index and the storage layer persist their data inside the .loki directory: the index as a JSON file, and objects as SHA-1 named, zlib-compressed files. The dashed box, diff utilities in internal/utils, is part of the documented component list, but the supplied diagram does not show where it is called, so we deliberately draw no arrow to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architecture, read as layers from top to bottom. The CLI entry point in cmd/loki is the front door: it dispatches commands. Command handlers in internal/commands parse the arguments and present the output. The repository core in internal/core does the real coordination: staging, status, commits, references, checkout, reset, merge, revert and tree access. Below it sit the data models, which serialize and parse blobs, trees, commits and tags, and the storage layer, which stores and reads those serialized objects using SHA-1 identifiers and zlib compression. Configuration and diff utilities support the layers above. Each layer has one clear responsibility, which is what keeps the code readable for learning.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follow a simple command, loki status. The user types it in the terminal and it enters the program at cmd/loki/main.go, the entry point. The entry point dispatches the command to its handler in internal/commands. The handler parses the arguments and presents the output, and it relies on the repository core in internal/core for the actual work. That is as far as the supplied documentation traces the path, so we stop there rather than invent details. The same pattern holds for representative commands like init, add, commit, log, branch, checkout, merge, reset and revert, but the documentation does not claim every command follows an identical execution path, so we do not claim it either.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core, in internal/core, is the coordinator of Loki. When a handler needs something done, it calls into the core. According to the documentation the core coordinates staging, status, commits, references, checkout, reset, merge, revert and tree access. To do that it works with four collaborators: the staging index, the data models, the storage interface and the working tree of project files. Notice what the core does not do: it does not parse command-line arguments, which is the handlers' job, and it does not itself implement compression or hashing, which is the storage layer's job. Keeping coordination in one place makes the logic easy to study.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pieces. First, the data models in internal/models. They know how to serialize and parse the four object types: blob, tree, commit and tag. Second, storage in internal/storage. It stores and reads serialized objects, identifying each by a SHA-1 hash and compressing it with zlib, and the core reaches it through an object-storage interface. Third, configuration and utilities: the config module reads and writes configuration and discovers repository roots, and the diff utilities generate and format text-line diffs. At the bottom is how models and storage cooperate: a model turns an object into bytes, storage hashes those bytes to get the object ID, compresses them, and writes them under .loki/objects. The next section explains each of those steps in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diagram follows one representative command, loki add, from top to bottom in time. The user types loki add with a file name. The CLI dispatches the command to the command handler, which parses the arguments and asks the core to stage the paths. According to the documentation, staging stores a snapshot of each file as a blob and updates the index. So the core asks the storage layer to store the blob object; storage writes the compressed object file into the .loki directory; and the core updates the JSON index so that the file path maps to the blob hash. Finally the result travels back up and the handler presents the output to the user. The arrows are labelled in plain language on purpose: the supplied documentation does not give internal method names, so none are shown. The file name notes.txt is only an example.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Loki project begins with loki init. The command creates the local repository: a hidden directory called .loki inside the project folder. On the left you see an illustrative before and after. Before init there are just your files. After init, there is a .loki directory next to them. That directory holds all the repository state: the HEAD file, configuration, the staging index, the object store and the references. We look at each entry on the next slide. The configuration module is what reads and writes configuration and discovers repository roots. One honest note: the supplied architecture summary does not list exactly which entries are created at init time versus later, so we do not claim that detail.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documented on-disk layout. At the project root there may be a .lokiignore file with optional ignore patterns. Inside the .loki directory: HEAD says which branch is current, or which commit if HEAD is detached. config holds repository configuration. index is a JSON file mapping file paths to blob hashes for staged changes. commits.log is an append-only log, and it is what loki log reads. The objects directory holds compressed serialized objects. The refs directory has two sub-directories: heads for local branch references and tags for tag references. In cyan you see directories, in white files. Finally, merge and revert operations may create temporary state files while conflicts are being resolved; the summary does not name them, so neither do we.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Loki stores four kinds of objects, and this diagram shows how they relate, following the documented data model. A blob is a snapshot of a file's content. A tree maps file paths to blob IDs. A commit records a tree ID, the IDs of its parent commits, author information and a commit message. A tag names a target object; tags may be lightweight references or annotated tag objects. Branch and tag references are local files that store an object ID. So reading the diagram from the top: a branch or tag reference stores the ID of a commit, an optional tag object targets a commit, the commit points to a tree and to its previous commits, and the tree points to blobs. Only the arrows shown in the documentation are drawn.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blob is the simplest object: a snapshot of a file's content. When you stage a file, Loki reads its content and the Blob model serializes it. Loki then computes a SHA-1 hash over the complete serialized bytes, and that hash is the blob's object ID. The object is compressed with zlib and stored under .loki/objects, named from its hash. Because the ID comes from the bytes, identical serialized bytes give the same object ID in the normal write path. The file name in the example, notes.txt, and its content are only illustrative. The documentation describes a blob as a content snapshot; it is the tree and the index that record which file path points to which blob ID, so we do not claim the blob carries extra metadata.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tree object answers the question: which files, at which paths, make up this snapshot? According to the documentation, a tree maps file paths to blob IDs. In the illustration, three example paths each point to a blob that holds that file's content. A commit then records the ID of one tree, which is how a commit represents the whole project at a moment in time. We have intentionally drawn a flat list of path-to-blob entries, because that is what the documentation describes. It does not describe nested, per-directory tree objects as Git does, so we do not draw them. The paths README.md, src/app.go and docs/guide.txt are examples only.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commit is a record that ties everything together. The documentation says a commit records a tree ID, parent commit IDs, author information and a commit message. The tree ID points to the snapshot of the project, so a commit represents the whole project at one moment, not just a list of changes. The parent IDs link a commit to the commit or commits that came before it. On the right is an illustrative history: three commits, each pointing left to its parent and down to its own tree. Because the parent field can hold more than one commit ID, a merge commit can link two lines of work. We list only these four documented fields and do not claim full Git object compatibility.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how Loki gives human-friendly names to object IDs. Local branch references live as files under refs/heads, and tag references under refs/tags; each file stores an object ID. Tags come in two forms according to the documentation: a lightweight reference, or an annotated tag object that names a target object. HEAD identifies the current branch, or, when you check out a tag or a specific commit, a detached commit. The two rows at the bottom show this conceptually: normally HEAD leads through a branch reference to a commit; when detached, it points straight at a commit. These are all local references; there are no remote branches in Loki.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Loki's storage design. Every object is serialized to bytes, and Loki computes a SHA-1 hash over the complete serialized bytes. That 40-character hexadecimal string is the object ID. The ID also decides where the object lives: the first two hex characters become a folder name under .loki/objects, and the remaining 38 characters become the file name. That is what content-addressed means: the name comes from the content. Two clarifications. First, content addressing is not encryption or authentication; it names data, it does not protect it. Second, SHA-1 is used here as an identifier scheme, and we do not present it as a modern, collision-resistant security choice.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exact order of operations, as described in the architecture documentation. Step one: the data model serializes the object into bytes. Step two: Loki calculates the SHA-1 hash of the complete serialized bytes; that hash is the object ID. Step three: the object is compressed with zlib. Step four: it is stored under .loki/objects, using the first two hash characters as a directory and the rest as the file name. A key point: the hash is calculated from the serialized bytes, so compression only changes what is on disk, not the object ID. The orange box notes a documented limitation: when reading, Loki decompresses the object but does not re-hash it to verify the ID. We do not describe any extra headers or encodings, because the documentation does not.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staging area is where you prepare what the next commit will contain. When you run loki add with one or more paths, Loki stores a snapshot of each file as a blob object and records the file path and blob hash in the index. The index is a JSON file at .loki/index that maps file paths to blob hashes; the small example on the left is illustrative, with a placeholder for the hash. It is a custom Loki format, not Git's index format. The important idea is that staging and committing are two distinct operations: add prepares the index, and commit later creates a commit from the staged content. That separation lets you choose exactly what goes into each commit.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clears up a design choice that is different from Git. Loki records commits in an append-only log file, .loki/commits.log. Each new commit is appended at the end, and loki log displays the repository's recorded commit log by reading that file. On the right is what loki log does not do: it does not start at HEAD and follow parent commit IDs backwards through the commit graph. The commit objects do still carry parent IDs, as we saw earlier, but the log command does not traverse them. We draw it this way deliberately so nobody mistakes Loki's log for conventional Git history traversal. The entry names in the box are placeholders, because the exact line format of the log is not specified in the summary.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everyday loop, in a terminal-style view. Step one, loki init creates the local repository. Step two, you create or change a file; the echo command here is just one way to do that. Step three, loki add stages the file. Step four, loki status shows what changed. Step five, loki diff compares the working tree with the index, and loki diff with the staged option compares the index with HEAD. Step six, loki commit with a message creates a commit from the staged content. Step seven, loki log shows the recorded commit log. We deliberately do not paste sample output, because the documentation does not specify exact messages, and we do not want to invent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zoom in on staging. You give loki add one or more paths. For each file, Loki stores a snapshot as a blob object; and because the object ID comes from the serialized bytes, identical bytes produce the same object ID in the normal write path. Then the index is updated so that the path maps to that blob hash. The two boxes at the bottom explain a common point of confusion. A working-tree modification means the file changed on disk but nothing has been staged: loki diff compares the working tree with the index. A staged change means the blob exists and the index points to it: loki diff with the staged option compares the index with HEAD. We do not name internal functions here because the documentation does not.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states matter when you work with Loki: the working tree, which is your files on disk; the index, which holds what you have staged; and HEAD, the last committed state. loki diff compares the working tree with the index. loki diff with the staged option compares the index with HEAD. Loki's diff utilities generate and format text-line diffs; the before-and-after example in the dark panel, version equals one changing to version equals two, is only illustrative. loki status displays tracked, staged, modified, deleted and untracked files, according to the Loki documentation. We also stick to these three states rather than claiming finer distinctions that the documentation does not make.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commit itself. When you run loki commit with a message, Loki creates a commit from the staged content: the commit records a tree ID, its parent commit IDs, author information and the message. In the object store you then have the commit, the tree and the blobs. The commit is also recorded in the append-only commits log. Then loki log displays the repository's recorded commit log. The orange card repeats the important distinction from earlier: loki log reads that log file; it does not walk the commit ancestry from HEAD the way Git's log does. If someone asks whether the log order follows parent links, the honest answer from our documentation is that it follows the append-only file.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Branches in Loki are local. loki branch lists or creates them, and each branch is a reference file under refs/heads that stores a commit ID. loki checkout switches the working state to a branch, a tag or a commit. If you check out a tag or a specific commit, HEAD becomes detached, meaning it points directly at a commit instead of at a branch. On the right is a simple illustration: main continues C1, C2, C3, while a feature branch was started from C2 and has its own commit, C4. The names are examples. There are no remote branches in Loki, because remote repositories are not implemented.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and revert both help you back out of work, but they are different. loki reset moves HEAD and can optionally update the index and the working tree. The three mode flags, soft, mixed and hard, control how far the reset reaches beyond HEAD. At the level of detail in our architecture summary, we only state that reset moves HEAD and optionally updates the index and working tree; we do not claim Loki matches Git's behavior in every edge case. loki revert is separate: it applies the inverse of a non-merge commit and, when successful, records that as a new commit, so the original commit stays in the history. Because these operations can change files on disk, use them carefully.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merge? Because branches let work happen in parallel, and sooner or later the lines of work need to come back together. In Loki, loki merge with a branch name merges a local branch into the current branch. According to the documentation there are two outcomes when there are no conflicts. On the left, a fast-forward: the current branch simply moves forward to the other branch's commit, so no new commit is needed. On the right, a merge commit: when both branches have new commits, Loki can create a merge commit that has both lines of work as parents, shown here as M. Merging is between local branches only. The diagrams are illustrative, and we cover conflicts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three-way merge uses three inputs: a common base, which is the shared starting point; the current branch's version; and the other branch's version. According to the documentation, Loki's merge decisions are file or path based, not line-by-line semantic merges. The table shows the conceptual rule at file level: if only one side changed a file, that side's version is used; if both sides changed the same file differently, Loki reports a conflict for that file; if neither changed it, it stays as it is. We present this as the conceptual three-way idea. Beyond file and path level, the supplied summary does not specify further algorithm details, so we make no claim that Loki is a full Git-compatible merge engine.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conflict arises when both branches changed the same file in different ways, so Loki cannot choose automatically. The documentation says merge conflicts are detected at the file or path level, and that conflicting files may contain conflict markers. On the left is an illustrative example: two branches set the same variable to different values, and the file shows both versions between marker lines. Please treat this sample as an illustration only: the exact marker format is not specified in the supplied summary. To resolve it, the user edits the file to the desired content, stages the resolved file, and commits. Loki does not attempt line-by-line semantic merging.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merge workflow in five steps, as documented. One: start a merge of a local branch into the current branch with loki merge and the branch name. Two: if there are conflicts, Loki reports the conflicting files. Three: you edit the affected files to resolve them. Four: you stage the resolved files with loki add. Five: you complete the merge with the supported commit workflow, loki commit with a message. If there are no conflicts, the merge can fast-forward or create a merge commit. While conflicts are being resolved, Loki may keep temporary state files; the summary does not name them. The command syntax shown comes from the documented commands, and we do not add flags or messages that are not documented.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features. Tags name a target object and come in two forms: a lightweight reference stored under refs/tags, or an annotated tag object. Checking out a tag detaches HEAD. Ignore rules: the architecture summary mentions an optional .lokiignore file at the project root with ignore patterns. It does not define the pattern syntax, so we do not show examples. The documentation lists loki tag with options to create, list, delete or annotate tags. Configuration: loki config with an optional key and value reads or writes repository configuration values, stored in .loki/config, and the config module in internal/config also discovers repository roots. The documentation does not list configuration keys, so we do not invent any. If you need exact syntax, the source code or the full architecture document is the place to check.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error handling and testing we want to be precise about what we know. The architecture documentation tells us a few things about how operations behave: merge conflicts are detected at the file or path level; revert works on non-merge commits; merge and revert may create temporary state files while conflicts are resolved; reading an object decompresses it but does not re-hash it; and there is no locking or concurrency protocol. What the supplied files do not establish is just as important. There are no test counts, no coverage percentages, no continuous-integration results, no performance benchmarks, and no catalogue of error messages. So we do not quote any. If the team adds such evidence later, for example from running the project's own test suite, it can be added to this slide.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Loki releases page on GitHub, from the screenshot we captured. The repository is AnimeshRajwar slash loki. The release is named stable and carries the Latest label. Its description reads: Rolling stable build from commit ce17986, and that commit reference is shown next to the tag. The page lists 23 assets. In the visible part of the list you can see checksums.txt and five installer files, which we look at on the next slide. An important caution: this is a screenshot, so it records what was visible when it was taken. The page says released last week at that time. It does not prove which release is the latest today, so anyone installing should check the live Releases page.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commands on this slide come from Loki's documentation page, Install Loki and use the implemented command set. For Linux and macOS the recommended install is to run the project installer script for your channel; on macOS it is the same flow, and the scripts detect the platform and download the correct binary. There are two forms. A user install, which by default goes to the home directory's local bin folder, pipes the install script from the repository's scripts folder into bash with the stable channel. A system install requires sudo and passes an install location, slash usr slash local slash bin. On Windows, a PowerShell command downloads install.ps1 and installs the Windows release asset, and adds the install folder to your user PATH automatically. The Windows command downloads install.ps1 to install-loki.ps1 and runs it with the stable channel; the docs also show running it directly from PowerShell with the latest channel. The commands are reproduced exactly as written in the docs. After installing on any system, verify with loki dash dash help. As always with piped installers, review a script before running it, and check the live Releases page for the current release.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lists limitations that the architecture documentation states, in plain language. Loki is local-only: there are no remote repositories and no fetch, pull or push. loki log reads the append-only commit log rather than walking commit ancestry. When objects are read, they are decompressed but the hash is not recomputed, so integrity is not verified on read. There is no repository locking or concurrency protocol. Merge decisions are file or path based rather than line by line. And the index is a custom JSON format, not Git's. For an educational project these are reasonable trade-offs, not failures. The right side lists possible future improvements. Please note these are proposals: remote support, stronger integrity verification, safer atomic updates, more automated tests, better documentation and error messages, and richer merge and history features. None of them is claimed as implemented.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Loki's architecture is a clear pipeline: the CLI dispatches a command to a handler, the handler calls the repository core, and the core uses the data models and the storage layer to keep everything in a local .loki repository. Its core workflow, add, commit and log, rests on blobs, trees, commits and a JSON index, with objects named by SHA-1 and compressed with zlib. The educational value is that these version-control ideas become visible in readable Go code. We have also been open about the current scope: Loki is local-only and has documented limitations, with plenty of room for future improvements such as remote support and stronger integrity checks. Thank you from team PIET NON ASMP – 04 of Parul Institute of Engineering and Technology, Parul University.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8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73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7201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25601"/>
            <a:ext cx="10566400" cy="4419599"/>
          </a:xfrm>
          <a:prstGeom prst="rect">
            <a:avLst/>
          </a:prstGeom>
          <a:noFill/>
          <a:ln/>
        </p:spPr>
        <p:txBody>
          <a:bodyPr wrap="square" lIns="0" tIns="0" rIns="0" bIns="0" rtlCol="0" anchor="t"/>
          <a:lstStyle>
            <a:lvl1pPr marL="0" indent="0" algn="l">
              <a:lnSpc>
                <a:spcPct val="140000"/>
              </a:lnSpc>
              <a:buNone/>
              <a:defRPr lang="en-US" sz="1600" dirty="0">
                <a:solidFill>
                  <a:srgbClr val="0720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73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7201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25601"/>
            <a:ext cx="10566400" cy="4419599"/>
          </a:xfrm>
          <a:prstGeom prst="rect">
            <a:avLst/>
          </a:prstGeom>
          <a:noFill/>
          <a:ln/>
        </p:spPr>
        <p:txBody>
          <a:bodyPr wrap="square" lIns="0" tIns="0" rIns="0" bIns="0" rtlCol="0" anchor="t"/>
          <a:lstStyle>
            <a:lvl1pPr marL="0" indent="0" algn="l">
              <a:lnSpc>
                <a:spcPct val="140000"/>
              </a:lnSpc>
              <a:buNone/>
              <a:defRPr lang="en-US" sz="1600" dirty="0">
                <a:solidFill>
                  <a:srgbClr val="0720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01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4FD6A0"/>
          </a:solidFill>
          <a:ln/>
        </p:spPr>
      </p:sp>
      <p:sp>
        <p:nvSpPr>
          <p:cNvPr id="3" name="Text 1"/>
          <p:cNvSpPr/>
          <p:nvPr/>
        </p:nvSpPr>
        <p:spPr>
          <a:xfrm>
            <a:off x="1066800" y="558800"/>
            <a:ext cx="2244884" cy="332740"/>
          </a:xfrm>
          <a:prstGeom prst="roundRect">
            <a:avLst>
              <a:gd name="adj" fmla="val 50000"/>
            </a:avLst>
          </a:prstGeom>
          <a:solidFill>
            <a:srgbClr val="4FD6A0"/>
          </a:solidFill>
          <a:ln/>
        </p:spPr>
        <p:txBody>
          <a:bodyPr wrap="none" lIns="0" tIns="0" rIns="0" bIns="0" rtlCol="0" anchor="ctr">
            <a:normAutofit/>
          </a:bodyPr>
          <a:lstStyle/>
          <a:p>
            <a:pPr marL="0" indent="0" algn="ctr">
              <a:lnSpc>
                <a:spcPts val="1820"/>
              </a:lnSpc>
              <a:buNone/>
            </a:pPr>
            <a:r>
              <a:rPr lang="en-US" sz="1300" b="1" kern="0" spc="100" dirty="0">
                <a:solidFill>
                  <a:srgbClr val="07201A"/>
                </a:solidFill>
                <a:latin typeface="Arial" pitchFamily="34" charset="0"/>
                <a:ea typeface="Arial" pitchFamily="34" charset="-122"/>
                <a:cs typeface="Arial" pitchFamily="34" charset="-120"/>
              </a:rPr>
              <a:t>PIET NON ASMP – 04</a:t>
            </a:r>
            <a:endParaRPr lang="en-US" sz="1300" dirty="0"/>
          </a:p>
        </p:txBody>
      </p:sp>
      <p:sp>
        <p:nvSpPr>
          <p:cNvPr id="4" name="Text 2"/>
          <p:cNvSpPr>
            <a:spLocks noGrp="1"/>
          </p:cNvSpPr>
          <p:nvPr>
            <p:ph type="title"/>
          </p:nvPr>
        </p:nvSpPr>
        <p:spPr>
          <a:xfrm>
            <a:off x="1066800" y="1043940"/>
            <a:ext cx="9025890"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3F8F5"/>
                </a:solidFill>
                <a:latin typeface="Arial" pitchFamily="34" charset="0"/>
                <a:ea typeface="Arial" pitchFamily="34" charset="-122"/>
                <a:cs typeface="Arial" pitchFamily="34" charset="-120"/>
              </a:rPr>
              <a:t>Loki — A Transparent Git-Style Version Control System</a:t>
            </a:r>
            <a:endParaRPr lang="en-US" sz="4000" dirty="0"/>
          </a:p>
        </p:txBody>
      </p:sp>
      <p:sp>
        <p:nvSpPr>
          <p:cNvPr id="5" name="Text 3"/>
          <p:cNvSpPr/>
          <p:nvPr/>
        </p:nvSpPr>
        <p:spPr>
          <a:xfrm>
            <a:off x="1066800" y="2313940"/>
            <a:ext cx="902589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FD6A0"/>
                </a:solidFill>
                <a:latin typeface="Arial" pitchFamily="34" charset="0"/>
                <a:ea typeface="Arial" pitchFamily="34" charset="-122"/>
                <a:cs typeface="Arial" pitchFamily="34" charset="-120"/>
              </a:rPr>
              <a:t>Architecture, Internal Workflows, Storage Design, and Installation</a:t>
            </a:r>
            <a:endParaRPr lang="en-US" sz="1800" dirty="0"/>
          </a:p>
        </p:txBody>
      </p:sp>
      <p:sp>
        <p:nvSpPr>
          <p:cNvPr id="6" name="Text 4"/>
          <p:cNvSpPr/>
          <p:nvPr/>
        </p:nvSpPr>
        <p:spPr>
          <a:xfrm>
            <a:off x="1066800" y="2786380"/>
            <a:ext cx="90258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8C8BB"/>
                </a:solidFill>
                <a:latin typeface="Arial" pitchFamily="34" charset="0"/>
                <a:ea typeface="Arial" pitchFamily="34" charset="-122"/>
                <a:cs typeface="Arial" pitchFamily="34" charset="-120"/>
              </a:rPr>
              <a:t>An educational, local Git-style version control system implemented in Go.</a:t>
            </a:r>
            <a:endParaRPr lang="en-US" sz="1400" dirty="0"/>
          </a:p>
        </p:txBody>
      </p:sp>
      <p:pic>
        <p:nvPicPr>
          <p:cNvPr id="7" name="Image 0" descr="Loki VCS logo: a green horned Norse helmet inside a circle of two serpents, with the words VCS and LOKI"/>
          <p:cNvPicPr>
            <a:picLocks noChangeAspect="1"/>
          </p:cNvPicPr>
          <p:nvPr/>
        </p:nvPicPr>
        <p:blipFill>
          <a:blip r:embed="rId3"/>
          <a:srcRect t="88" b="88"/>
          <a:stretch/>
        </p:blipFill>
        <p:spPr>
          <a:xfrm>
            <a:off x="9982200" y="558800"/>
            <a:ext cx="1397000" cy="1841500"/>
          </a:xfrm>
          <a:prstGeom prst="roundRect">
            <a:avLst>
              <a:gd name="adj" fmla="val 8182"/>
            </a:avLst>
          </a:prstGeom>
        </p:spPr>
      </p:pic>
      <p:sp>
        <p:nvSpPr>
          <p:cNvPr id="8" name="Text 5"/>
          <p:cNvSpPr/>
          <p:nvPr/>
        </p:nvSpPr>
        <p:spPr>
          <a:xfrm>
            <a:off x="1066800" y="5581650"/>
            <a:ext cx="1062177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F2EC"/>
                </a:solidFill>
                <a:latin typeface="Arial" pitchFamily="34" charset="0"/>
                <a:ea typeface="Arial" pitchFamily="34" charset="-122"/>
                <a:cs typeface="Arial" pitchFamily="34" charset="-120"/>
              </a:rPr>
              <a:t>Parul Institute of Engineering and Technology (PIET) · Parul University, Vadodara, Gujarat, India</a:t>
            </a:r>
            <a:endParaRPr lang="en-US" sz="1300" dirty="0"/>
          </a:p>
        </p:txBody>
      </p:sp>
      <p:sp>
        <p:nvSpPr>
          <p:cNvPr id="9" name="Text 6"/>
          <p:cNvSpPr/>
          <p:nvPr/>
        </p:nvSpPr>
        <p:spPr>
          <a:xfrm>
            <a:off x="1066800" y="5850890"/>
            <a:ext cx="1062177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8C8BB"/>
                </a:solidFill>
                <a:latin typeface="Arial" pitchFamily="34" charset="0"/>
                <a:ea typeface="Arial" pitchFamily="34" charset="-122"/>
                <a:cs typeface="Arial" pitchFamily="34" charset="-120"/>
              </a:rPr>
              <a:t>B.Tech. · Computer Science and Engineering (Specialization in Artificial Intelligence)</a:t>
            </a:r>
            <a:endParaRPr lang="en-US" sz="1300" dirty="0"/>
          </a:p>
        </p:txBody>
      </p:sp>
      <p:sp>
        <p:nvSpPr>
          <p:cNvPr id="10" name="Text 7"/>
          <p:cNvSpPr/>
          <p:nvPr/>
        </p:nvSpPr>
        <p:spPr>
          <a:xfrm>
            <a:off x="1066800" y="6120130"/>
            <a:ext cx="1062177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8C8BB"/>
                </a:solidFill>
                <a:latin typeface="Arial" pitchFamily="34" charset="0"/>
                <a:ea typeface="Arial" pitchFamily="34" charset="-122"/>
                <a:cs typeface="Arial" pitchFamily="34" charset="-120"/>
              </a:rPr>
              <a:t>Project Guide: Prof. Rahul Moud, Assistant Professor · Academic Year 2026–2027</a:t>
            </a:r>
            <a:endParaRPr lang="en-US" sz="1300" dirty="0"/>
          </a:p>
        </p:txBody>
      </p:sp>
      <p:sp>
        <p:nvSpPr>
          <p:cNvPr id="11" name="Shape 8"/>
          <p:cNvSpPr/>
          <p:nvPr/>
        </p:nvSpPr>
        <p:spPr>
          <a:xfrm>
            <a:off x="1066800" y="4308475"/>
            <a:ext cx="4984750" cy="0"/>
          </a:xfrm>
          <a:prstGeom prst="line">
            <a:avLst/>
          </a:prstGeom>
          <a:noFill/>
          <a:ln w="6350">
            <a:solidFill>
              <a:srgbClr val="1F5244"/>
            </a:solidFill>
            <a:prstDash val="solid"/>
          </a:ln>
        </p:spPr>
      </p:sp>
      <p:sp>
        <p:nvSpPr>
          <p:cNvPr id="12" name="Text 9"/>
          <p:cNvSpPr/>
          <p:nvPr/>
        </p:nvSpPr>
        <p:spPr>
          <a:xfrm>
            <a:off x="1066800" y="3963035"/>
            <a:ext cx="15537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F8F5"/>
                </a:solidFill>
                <a:latin typeface="Arial" pitchFamily="34" charset="0"/>
                <a:ea typeface="Arial" pitchFamily="34" charset="-122"/>
                <a:cs typeface="Arial" pitchFamily="34" charset="-120"/>
              </a:rPr>
              <a:t>Ajay Agnihotri</a:t>
            </a:r>
            <a:endParaRPr lang="en-US" sz="1500" dirty="0"/>
          </a:p>
        </p:txBody>
      </p:sp>
      <p:sp>
        <p:nvSpPr>
          <p:cNvPr id="13" name="Text 10"/>
          <p:cNvSpPr/>
          <p:nvPr/>
        </p:nvSpPr>
        <p:spPr>
          <a:xfrm>
            <a:off x="4505928" y="3980815"/>
            <a:ext cx="1545622" cy="25654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FD6A0"/>
                </a:solidFill>
                <a:latin typeface="Courier New" pitchFamily="49" charset="0"/>
                <a:ea typeface="Courier New" pitchFamily="49" charset="-122"/>
                <a:cs typeface="Courier New" pitchFamily="49" charset="-120"/>
              </a:rPr>
              <a:t>2303031240181</a:t>
            </a:r>
            <a:endParaRPr lang="en-US" sz="1300" dirty="0"/>
          </a:p>
        </p:txBody>
      </p:sp>
      <p:sp>
        <p:nvSpPr>
          <p:cNvPr id="14" name="Shape 11"/>
          <p:cNvSpPr/>
          <p:nvPr/>
        </p:nvSpPr>
        <p:spPr>
          <a:xfrm>
            <a:off x="6359842" y="4308475"/>
            <a:ext cx="5019358" cy="0"/>
          </a:xfrm>
          <a:prstGeom prst="line">
            <a:avLst/>
          </a:prstGeom>
          <a:noFill/>
          <a:ln w="6350">
            <a:solidFill>
              <a:srgbClr val="1F5244"/>
            </a:solidFill>
            <a:prstDash val="solid"/>
          </a:ln>
        </p:spPr>
      </p:sp>
      <p:sp>
        <p:nvSpPr>
          <p:cNvPr id="15" name="Text 12"/>
          <p:cNvSpPr/>
          <p:nvPr/>
        </p:nvSpPr>
        <p:spPr>
          <a:xfrm>
            <a:off x="6359842" y="3963035"/>
            <a:ext cx="247707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F8F5"/>
                </a:solidFill>
                <a:latin typeface="Arial" pitchFamily="34" charset="0"/>
                <a:ea typeface="Arial" pitchFamily="34" charset="-122"/>
                <a:cs typeface="Arial" pitchFamily="34" charset="-120"/>
              </a:rPr>
              <a:t>Animesh Singh Rajwar</a:t>
            </a:r>
            <a:endParaRPr lang="en-US" sz="1500" dirty="0"/>
          </a:p>
        </p:txBody>
      </p:sp>
      <p:sp>
        <p:nvSpPr>
          <p:cNvPr id="16" name="Text 13"/>
          <p:cNvSpPr/>
          <p:nvPr/>
        </p:nvSpPr>
        <p:spPr>
          <a:xfrm>
            <a:off x="9833578" y="3980815"/>
            <a:ext cx="1545622" cy="25654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FD6A0"/>
                </a:solidFill>
                <a:latin typeface="Courier New" pitchFamily="49" charset="0"/>
                <a:ea typeface="Courier New" pitchFamily="49" charset="-122"/>
                <a:cs typeface="Courier New" pitchFamily="49" charset="-120"/>
              </a:rPr>
              <a:t>2303031240205</a:t>
            </a:r>
            <a:endParaRPr lang="en-US" sz="1300" dirty="0"/>
          </a:p>
        </p:txBody>
      </p:sp>
      <p:sp>
        <p:nvSpPr>
          <p:cNvPr id="17" name="Shape 14"/>
          <p:cNvSpPr/>
          <p:nvPr/>
        </p:nvSpPr>
        <p:spPr>
          <a:xfrm>
            <a:off x="1066800" y="4733925"/>
            <a:ext cx="4933950" cy="0"/>
          </a:xfrm>
          <a:prstGeom prst="line">
            <a:avLst/>
          </a:prstGeom>
          <a:noFill/>
          <a:ln w="6350">
            <a:solidFill>
              <a:srgbClr val="1F5244"/>
            </a:solidFill>
            <a:prstDash val="solid"/>
          </a:ln>
        </p:spPr>
      </p:sp>
      <p:sp>
        <p:nvSpPr>
          <p:cNvPr id="18" name="Text 15"/>
          <p:cNvSpPr/>
          <p:nvPr/>
        </p:nvSpPr>
        <p:spPr>
          <a:xfrm>
            <a:off x="1066800" y="4388485"/>
            <a:ext cx="17534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F8F5"/>
                </a:solidFill>
                <a:latin typeface="Arial" pitchFamily="34" charset="0"/>
                <a:ea typeface="Arial" pitchFamily="34" charset="-122"/>
                <a:cs typeface="Arial" pitchFamily="34" charset="-120"/>
              </a:rPr>
              <a:t>Nilesh Saraswat</a:t>
            </a:r>
            <a:endParaRPr lang="en-US" sz="1500" dirty="0"/>
          </a:p>
        </p:txBody>
      </p:sp>
      <p:sp>
        <p:nvSpPr>
          <p:cNvPr id="19" name="Text 16"/>
          <p:cNvSpPr/>
          <p:nvPr/>
        </p:nvSpPr>
        <p:spPr>
          <a:xfrm>
            <a:off x="4455128" y="4406265"/>
            <a:ext cx="1545622" cy="25654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FD6A0"/>
                </a:solidFill>
                <a:latin typeface="Courier New" pitchFamily="49" charset="0"/>
                <a:ea typeface="Courier New" pitchFamily="49" charset="-122"/>
                <a:cs typeface="Courier New" pitchFamily="49" charset="-120"/>
              </a:rPr>
              <a:t>2303031240715</a:t>
            </a:r>
            <a:endParaRPr lang="en-US" sz="1300" dirty="0"/>
          </a:p>
        </p:txBody>
      </p:sp>
      <p:sp>
        <p:nvSpPr>
          <p:cNvPr id="20" name="Shape 17"/>
          <p:cNvSpPr/>
          <p:nvPr/>
        </p:nvSpPr>
        <p:spPr>
          <a:xfrm>
            <a:off x="6359842" y="4733925"/>
            <a:ext cx="5019358" cy="0"/>
          </a:xfrm>
          <a:prstGeom prst="line">
            <a:avLst/>
          </a:prstGeom>
          <a:noFill/>
          <a:ln w="6350">
            <a:solidFill>
              <a:srgbClr val="1F5244"/>
            </a:solidFill>
            <a:prstDash val="solid"/>
          </a:ln>
        </p:spPr>
      </p:sp>
      <p:sp>
        <p:nvSpPr>
          <p:cNvPr id="21" name="Text 18"/>
          <p:cNvSpPr/>
          <p:nvPr/>
        </p:nvSpPr>
        <p:spPr>
          <a:xfrm>
            <a:off x="6359842" y="4388485"/>
            <a:ext cx="158810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3F8F5"/>
                </a:solidFill>
                <a:latin typeface="Arial" pitchFamily="34" charset="0"/>
                <a:ea typeface="Arial" pitchFamily="34" charset="-122"/>
                <a:cs typeface="Arial" pitchFamily="34" charset="-120"/>
              </a:rPr>
              <a:t>Vedant Mahale</a:t>
            </a:r>
            <a:endParaRPr lang="en-US" sz="1500" dirty="0"/>
          </a:p>
        </p:txBody>
      </p:sp>
      <p:sp>
        <p:nvSpPr>
          <p:cNvPr id="22" name="Text 19"/>
          <p:cNvSpPr/>
          <p:nvPr/>
        </p:nvSpPr>
        <p:spPr>
          <a:xfrm>
            <a:off x="9833578" y="4406265"/>
            <a:ext cx="1545622" cy="25654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FD6A0"/>
                </a:solidFill>
                <a:latin typeface="Courier New" pitchFamily="49" charset="0"/>
                <a:ea typeface="Courier New" pitchFamily="49" charset="-122"/>
                <a:cs typeface="Courier New" pitchFamily="49" charset="-120"/>
              </a:rPr>
              <a:t>2303031241475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TEAM · PIET NON ASMP – 04</a:t>
            </a:r>
            <a:endParaRPr lang="en-US" sz="1200" dirty="0"/>
          </a:p>
        </p:txBody>
      </p:sp>
      <p:sp>
        <p:nvSpPr>
          <p:cNvPr id="3" name="Text 1"/>
          <p:cNvSpPr>
            <a:spLocks noGrp="1"/>
          </p:cNvSpPr>
          <p:nvPr>
            <p:ph type="title"/>
          </p:nvPr>
        </p:nvSpPr>
        <p:spPr>
          <a:xfrm>
            <a:off x="812800" y="873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Project Team and Academic Details</a:t>
            </a:r>
            <a:endParaRPr lang="en-US" sz="3200" dirty="0"/>
          </a:p>
        </p:txBody>
      </p:sp>
      <p:sp>
        <p:nvSpPr>
          <p:cNvPr id="4" name="Shape 2"/>
          <p:cNvSpPr/>
          <p:nvPr/>
        </p:nvSpPr>
        <p:spPr>
          <a:xfrm>
            <a:off x="819150" y="1530350"/>
            <a:ext cx="2476500" cy="1861820"/>
          </a:xfrm>
          <a:prstGeom prst="roundRect">
            <a:avLst>
              <a:gd name="adj" fmla="val 5116"/>
            </a:avLst>
          </a:prstGeom>
          <a:solidFill>
            <a:srgbClr val="FBFCFE"/>
          </a:solidFill>
          <a:ln w="12700">
            <a:solidFill>
              <a:srgbClr val="C7D8CE"/>
            </a:solidFill>
            <a:prstDash val="solid"/>
          </a:ln>
        </p:spPr>
      </p:sp>
      <p:sp>
        <p:nvSpPr>
          <p:cNvPr id="5" name="Text 3"/>
          <p:cNvSpPr/>
          <p:nvPr/>
        </p:nvSpPr>
        <p:spPr>
          <a:xfrm>
            <a:off x="1000760" y="168656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Member 1</a:t>
            </a:r>
            <a:endParaRPr lang="en-US" sz="1200" dirty="0"/>
          </a:p>
        </p:txBody>
      </p:sp>
      <p:sp>
        <p:nvSpPr>
          <p:cNvPr id="6" name="Text 4"/>
          <p:cNvSpPr/>
          <p:nvPr/>
        </p:nvSpPr>
        <p:spPr>
          <a:xfrm>
            <a:off x="1000760" y="1988820"/>
            <a:ext cx="217667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7201A"/>
                </a:solidFill>
                <a:latin typeface="Arial" pitchFamily="34" charset="0"/>
                <a:ea typeface="Arial" pitchFamily="34" charset="-122"/>
                <a:cs typeface="Arial" pitchFamily="34" charset="-120"/>
              </a:rPr>
              <a:t>Ajay Agnihotri</a:t>
            </a:r>
            <a:endParaRPr lang="en-US" sz="1700" dirty="0"/>
          </a:p>
        </p:txBody>
      </p:sp>
      <p:sp>
        <p:nvSpPr>
          <p:cNvPr id="7" name="Text 5"/>
          <p:cNvSpPr/>
          <p:nvPr/>
        </p:nvSpPr>
        <p:spPr>
          <a:xfrm>
            <a:off x="1000760" y="2684780"/>
            <a:ext cx="21766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Enrollment No.</a:t>
            </a:r>
            <a:endParaRPr lang="en-US" sz="1200" dirty="0"/>
          </a:p>
        </p:txBody>
      </p:sp>
      <p:sp>
        <p:nvSpPr>
          <p:cNvPr id="8" name="Text 6"/>
          <p:cNvSpPr/>
          <p:nvPr/>
        </p:nvSpPr>
        <p:spPr>
          <a:xfrm>
            <a:off x="1000760" y="2987040"/>
            <a:ext cx="2176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2303031240181</a:t>
            </a:r>
            <a:endParaRPr lang="en-US" sz="1400" dirty="0"/>
          </a:p>
        </p:txBody>
      </p:sp>
      <p:sp>
        <p:nvSpPr>
          <p:cNvPr id="9" name="Shape 7"/>
          <p:cNvSpPr/>
          <p:nvPr/>
        </p:nvSpPr>
        <p:spPr>
          <a:xfrm>
            <a:off x="3511550" y="1530350"/>
            <a:ext cx="2476500" cy="1861820"/>
          </a:xfrm>
          <a:prstGeom prst="roundRect">
            <a:avLst>
              <a:gd name="adj" fmla="val 5116"/>
            </a:avLst>
          </a:prstGeom>
          <a:solidFill>
            <a:srgbClr val="FBFCFE"/>
          </a:solidFill>
          <a:ln w="12700">
            <a:solidFill>
              <a:srgbClr val="C7D8CE"/>
            </a:solidFill>
            <a:prstDash val="solid"/>
          </a:ln>
        </p:spPr>
      </p:sp>
      <p:sp>
        <p:nvSpPr>
          <p:cNvPr id="10" name="Text 8"/>
          <p:cNvSpPr/>
          <p:nvPr/>
        </p:nvSpPr>
        <p:spPr>
          <a:xfrm>
            <a:off x="3693160" y="168656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Member 2</a:t>
            </a:r>
            <a:endParaRPr lang="en-US" sz="1200" dirty="0"/>
          </a:p>
        </p:txBody>
      </p:sp>
      <p:sp>
        <p:nvSpPr>
          <p:cNvPr id="11" name="Text 9"/>
          <p:cNvSpPr/>
          <p:nvPr/>
        </p:nvSpPr>
        <p:spPr>
          <a:xfrm>
            <a:off x="3693160" y="1988820"/>
            <a:ext cx="2176679"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7201A"/>
                </a:solidFill>
                <a:latin typeface="Arial" pitchFamily="34" charset="0"/>
                <a:ea typeface="Arial" pitchFamily="34" charset="-122"/>
                <a:cs typeface="Arial" pitchFamily="34" charset="-120"/>
              </a:rPr>
              <a:t>Animesh Singh Rajwar</a:t>
            </a:r>
            <a:endParaRPr lang="en-US" sz="1700" dirty="0"/>
          </a:p>
        </p:txBody>
      </p:sp>
      <p:sp>
        <p:nvSpPr>
          <p:cNvPr id="12" name="Text 10"/>
          <p:cNvSpPr/>
          <p:nvPr/>
        </p:nvSpPr>
        <p:spPr>
          <a:xfrm>
            <a:off x="3693160" y="2684780"/>
            <a:ext cx="21766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Enrollment No.</a:t>
            </a:r>
            <a:endParaRPr lang="en-US" sz="1200" dirty="0"/>
          </a:p>
        </p:txBody>
      </p:sp>
      <p:sp>
        <p:nvSpPr>
          <p:cNvPr id="13" name="Text 11"/>
          <p:cNvSpPr/>
          <p:nvPr/>
        </p:nvSpPr>
        <p:spPr>
          <a:xfrm>
            <a:off x="3693160" y="2987040"/>
            <a:ext cx="2176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2303031240205</a:t>
            </a:r>
            <a:endParaRPr lang="en-US" sz="1400" dirty="0"/>
          </a:p>
        </p:txBody>
      </p:sp>
      <p:sp>
        <p:nvSpPr>
          <p:cNvPr id="14" name="Shape 12"/>
          <p:cNvSpPr/>
          <p:nvPr/>
        </p:nvSpPr>
        <p:spPr>
          <a:xfrm>
            <a:off x="6203950" y="1530350"/>
            <a:ext cx="2476500" cy="1861820"/>
          </a:xfrm>
          <a:prstGeom prst="roundRect">
            <a:avLst>
              <a:gd name="adj" fmla="val 5116"/>
            </a:avLst>
          </a:prstGeom>
          <a:solidFill>
            <a:srgbClr val="FBFCFE"/>
          </a:solidFill>
          <a:ln w="12700">
            <a:solidFill>
              <a:srgbClr val="C7D8CE"/>
            </a:solidFill>
            <a:prstDash val="solid"/>
          </a:ln>
        </p:spPr>
      </p:sp>
      <p:sp>
        <p:nvSpPr>
          <p:cNvPr id="15" name="Text 13"/>
          <p:cNvSpPr/>
          <p:nvPr/>
        </p:nvSpPr>
        <p:spPr>
          <a:xfrm>
            <a:off x="6385560" y="168656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Member 3</a:t>
            </a:r>
            <a:endParaRPr lang="en-US" sz="1200" dirty="0"/>
          </a:p>
        </p:txBody>
      </p:sp>
      <p:sp>
        <p:nvSpPr>
          <p:cNvPr id="16" name="Text 14"/>
          <p:cNvSpPr/>
          <p:nvPr/>
        </p:nvSpPr>
        <p:spPr>
          <a:xfrm>
            <a:off x="6385560" y="1988820"/>
            <a:ext cx="217667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7201A"/>
                </a:solidFill>
                <a:latin typeface="Arial" pitchFamily="34" charset="0"/>
                <a:ea typeface="Arial" pitchFamily="34" charset="-122"/>
                <a:cs typeface="Arial" pitchFamily="34" charset="-120"/>
              </a:rPr>
              <a:t>Nilesh Saraswat</a:t>
            </a:r>
            <a:endParaRPr lang="en-US" sz="1700" dirty="0"/>
          </a:p>
        </p:txBody>
      </p:sp>
      <p:sp>
        <p:nvSpPr>
          <p:cNvPr id="17" name="Text 15"/>
          <p:cNvSpPr/>
          <p:nvPr/>
        </p:nvSpPr>
        <p:spPr>
          <a:xfrm>
            <a:off x="6385560" y="2684780"/>
            <a:ext cx="21766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Enrollment No.</a:t>
            </a:r>
            <a:endParaRPr lang="en-US" sz="1200" dirty="0"/>
          </a:p>
        </p:txBody>
      </p:sp>
      <p:sp>
        <p:nvSpPr>
          <p:cNvPr id="18" name="Text 16"/>
          <p:cNvSpPr/>
          <p:nvPr/>
        </p:nvSpPr>
        <p:spPr>
          <a:xfrm>
            <a:off x="6385560" y="2987040"/>
            <a:ext cx="2176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2303031240715</a:t>
            </a:r>
            <a:endParaRPr lang="en-US" sz="1400" dirty="0"/>
          </a:p>
        </p:txBody>
      </p:sp>
      <p:sp>
        <p:nvSpPr>
          <p:cNvPr id="19" name="Shape 17"/>
          <p:cNvSpPr/>
          <p:nvPr/>
        </p:nvSpPr>
        <p:spPr>
          <a:xfrm>
            <a:off x="8896350" y="1530350"/>
            <a:ext cx="2476500" cy="1861820"/>
          </a:xfrm>
          <a:prstGeom prst="roundRect">
            <a:avLst>
              <a:gd name="adj" fmla="val 5116"/>
            </a:avLst>
          </a:prstGeom>
          <a:solidFill>
            <a:srgbClr val="FBFCFE"/>
          </a:solidFill>
          <a:ln w="12700">
            <a:solidFill>
              <a:srgbClr val="C7D8CE"/>
            </a:solidFill>
            <a:prstDash val="solid"/>
          </a:ln>
        </p:spPr>
      </p:sp>
      <p:sp>
        <p:nvSpPr>
          <p:cNvPr id="20" name="Text 18"/>
          <p:cNvSpPr/>
          <p:nvPr/>
        </p:nvSpPr>
        <p:spPr>
          <a:xfrm>
            <a:off x="9077960" y="168656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Member 4</a:t>
            </a:r>
            <a:endParaRPr lang="en-US" sz="1200" dirty="0"/>
          </a:p>
        </p:txBody>
      </p:sp>
      <p:sp>
        <p:nvSpPr>
          <p:cNvPr id="21" name="Text 19"/>
          <p:cNvSpPr/>
          <p:nvPr/>
        </p:nvSpPr>
        <p:spPr>
          <a:xfrm>
            <a:off x="9077960" y="1988820"/>
            <a:ext cx="217667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7201A"/>
                </a:solidFill>
                <a:latin typeface="Arial" pitchFamily="34" charset="0"/>
                <a:ea typeface="Arial" pitchFamily="34" charset="-122"/>
                <a:cs typeface="Arial" pitchFamily="34" charset="-120"/>
              </a:rPr>
              <a:t>Vedant Mahale</a:t>
            </a:r>
            <a:endParaRPr lang="en-US" sz="1700" dirty="0"/>
          </a:p>
        </p:txBody>
      </p:sp>
      <p:sp>
        <p:nvSpPr>
          <p:cNvPr id="22" name="Text 20"/>
          <p:cNvSpPr/>
          <p:nvPr/>
        </p:nvSpPr>
        <p:spPr>
          <a:xfrm>
            <a:off x="9077960" y="2684780"/>
            <a:ext cx="217667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Enrollment No.</a:t>
            </a:r>
            <a:endParaRPr lang="en-US" sz="1200" dirty="0"/>
          </a:p>
        </p:txBody>
      </p:sp>
      <p:sp>
        <p:nvSpPr>
          <p:cNvPr id="23" name="Text 21"/>
          <p:cNvSpPr/>
          <p:nvPr/>
        </p:nvSpPr>
        <p:spPr>
          <a:xfrm>
            <a:off x="9077960" y="2987040"/>
            <a:ext cx="21766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2303031241475</a:t>
            </a:r>
            <a:endParaRPr lang="en-US" sz="1400" dirty="0"/>
          </a:p>
        </p:txBody>
      </p:sp>
      <p:sp>
        <p:nvSpPr>
          <p:cNvPr id="24" name="Shape 22"/>
          <p:cNvSpPr/>
          <p:nvPr/>
        </p:nvSpPr>
        <p:spPr>
          <a:xfrm>
            <a:off x="819150" y="3608070"/>
            <a:ext cx="10553700" cy="1537970"/>
          </a:xfrm>
          <a:prstGeom prst="roundRect">
            <a:avLst>
              <a:gd name="adj" fmla="val 6193"/>
            </a:avLst>
          </a:prstGeom>
          <a:solidFill>
            <a:srgbClr val="E0F2EA"/>
          </a:solidFill>
          <a:ln w="12700">
            <a:solidFill>
              <a:srgbClr val="A8D6C2"/>
            </a:solidFill>
            <a:prstDash val="solid"/>
          </a:ln>
        </p:spPr>
      </p:sp>
      <p:sp>
        <p:nvSpPr>
          <p:cNvPr id="25" name="Text 23"/>
          <p:cNvSpPr/>
          <p:nvPr/>
        </p:nvSpPr>
        <p:spPr>
          <a:xfrm>
            <a:off x="1000760" y="376428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Team / Group:</a:t>
            </a:r>
            <a:r>
              <a:rPr lang="en-US" sz="1300" dirty="0">
                <a:solidFill>
                  <a:srgbClr val="07201A"/>
                </a:solidFill>
                <a:latin typeface="Arial" pitchFamily="34" charset="0"/>
                <a:ea typeface="Arial" pitchFamily="34" charset="-122"/>
                <a:cs typeface="Arial" pitchFamily="34" charset="-120"/>
              </a:rPr>
              <a:t> PIET NON ASMP – 04</a:t>
            </a:r>
            <a:endParaRPr lang="en-US" sz="1300" dirty="0"/>
          </a:p>
        </p:txBody>
      </p:sp>
      <p:sp>
        <p:nvSpPr>
          <p:cNvPr id="26" name="Text 24"/>
          <p:cNvSpPr/>
          <p:nvPr/>
        </p:nvSpPr>
        <p:spPr>
          <a:xfrm>
            <a:off x="1000760" y="402971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College:</a:t>
            </a:r>
            <a:r>
              <a:rPr lang="en-US" sz="1300" dirty="0">
                <a:solidFill>
                  <a:srgbClr val="07201A"/>
                </a:solidFill>
                <a:latin typeface="Arial" pitchFamily="34" charset="0"/>
                <a:ea typeface="Arial" pitchFamily="34" charset="-122"/>
                <a:cs typeface="Arial" pitchFamily="34" charset="-120"/>
              </a:rPr>
              <a:t> Parul Institute of Engineering and Technology (PIET)</a:t>
            </a:r>
            <a:endParaRPr lang="en-US" sz="1300" dirty="0"/>
          </a:p>
        </p:txBody>
      </p:sp>
      <p:sp>
        <p:nvSpPr>
          <p:cNvPr id="27" name="Text 25"/>
          <p:cNvSpPr/>
          <p:nvPr/>
        </p:nvSpPr>
        <p:spPr>
          <a:xfrm>
            <a:off x="1000760" y="429514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University:</a:t>
            </a:r>
            <a:r>
              <a:rPr lang="en-US" sz="1300" dirty="0">
                <a:solidFill>
                  <a:srgbClr val="07201A"/>
                </a:solidFill>
                <a:latin typeface="Arial" pitchFamily="34" charset="0"/>
                <a:ea typeface="Arial" pitchFamily="34" charset="-122"/>
                <a:cs typeface="Arial" pitchFamily="34" charset="-120"/>
              </a:rPr>
              <a:t> Parul University, Vadodara, Gujarat, India</a:t>
            </a:r>
            <a:endParaRPr lang="en-US" sz="1300" dirty="0"/>
          </a:p>
        </p:txBody>
      </p:sp>
      <p:sp>
        <p:nvSpPr>
          <p:cNvPr id="28" name="Text 26"/>
          <p:cNvSpPr/>
          <p:nvPr/>
        </p:nvSpPr>
        <p:spPr>
          <a:xfrm>
            <a:off x="1000760" y="456057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Project Guide:</a:t>
            </a:r>
            <a:r>
              <a:rPr lang="en-US" sz="1300" dirty="0">
                <a:solidFill>
                  <a:srgbClr val="07201A"/>
                </a:solidFill>
                <a:latin typeface="Arial" pitchFamily="34" charset="0"/>
                <a:ea typeface="Arial" pitchFamily="34" charset="-122"/>
                <a:cs typeface="Arial" pitchFamily="34" charset="-120"/>
              </a:rPr>
              <a:t> Prof. Rahul Moud, Assistant Professor</a:t>
            </a:r>
            <a:endParaRPr lang="en-US" sz="1300" dirty="0"/>
          </a:p>
        </p:txBody>
      </p:sp>
      <p:sp>
        <p:nvSpPr>
          <p:cNvPr id="29" name="Text 27"/>
          <p:cNvSpPr/>
          <p:nvPr/>
        </p:nvSpPr>
        <p:spPr>
          <a:xfrm>
            <a:off x="6248400" y="3764280"/>
            <a:ext cx="5091125"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Department:</a:t>
            </a:r>
            <a:r>
              <a:rPr lang="en-US" sz="1300" dirty="0">
                <a:solidFill>
                  <a:srgbClr val="07201A"/>
                </a:solidFill>
                <a:latin typeface="Arial" pitchFamily="34" charset="0"/>
                <a:ea typeface="Arial" pitchFamily="34" charset="-122"/>
                <a:cs typeface="Arial" pitchFamily="34" charset="-120"/>
              </a:rPr>
              <a:t> Computer Science and Engineering (Specialization in Artificial Intelligence)</a:t>
            </a:r>
            <a:endParaRPr lang="en-US" sz="1300" dirty="0"/>
          </a:p>
        </p:txBody>
      </p:sp>
      <p:sp>
        <p:nvSpPr>
          <p:cNvPr id="30" name="Text 28"/>
          <p:cNvSpPr/>
          <p:nvPr/>
        </p:nvSpPr>
        <p:spPr>
          <a:xfrm>
            <a:off x="6248400" y="424434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Degree:</a:t>
            </a:r>
            <a:r>
              <a:rPr lang="en-US" sz="1300" dirty="0">
                <a:solidFill>
                  <a:srgbClr val="07201A"/>
                </a:solidFill>
                <a:latin typeface="Arial" pitchFamily="34" charset="0"/>
                <a:ea typeface="Arial" pitchFamily="34" charset="-122"/>
                <a:cs typeface="Arial" pitchFamily="34" charset="-120"/>
              </a:rPr>
              <a:t> Bachelor of Technology (B.Tech.)</a:t>
            </a:r>
            <a:endParaRPr lang="en-US" sz="1300" dirty="0"/>
          </a:p>
        </p:txBody>
      </p:sp>
      <p:sp>
        <p:nvSpPr>
          <p:cNvPr id="31" name="Text 29"/>
          <p:cNvSpPr/>
          <p:nvPr/>
        </p:nvSpPr>
        <p:spPr>
          <a:xfrm>
            <a:off x="6248400" y="450977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Academic Semester:</a:t>
            </a:r>
            <a:r>
              <a:rPr lang="en-US" sz="1300" dirty="0">
                <a:solidFill>
                  <a:srgbClr val="07201A"/>
                </a:solidFill>
                <a:latin typeface="Arial" pitchFamily="34" charset="0"/>
                <a:ea typeface="Arial" pitchFamily="34" charset="-122"/>
                <a:cs typeface="Arial" pitchFamily="34" charset="-120"/>
              </a:rPr>
              <a:t> 7th Semester</a:t>
            </a:r>
            <a:endParaRPr lang="en-US" sz="1300" dirty="0"/>
          </a:p>
        </p:txBody>
      </p:sp>
      <p:sp>
        <p:nvSpPr>
          <p:cNvPr id="32" name="Text 30"/>
          <p:cNvSpPr/>
          <p:nvPr/>
        </p:nvSpPr>
        <p:spPr>
          <a:xfrm>
            <a:off x="6248400" y="4775200"/>
            <a:ext cx="5091125"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7201A"/>
                </a:solidFill>
                <a:latin typeface="Arial" pitchFamily="34" charset="0"/>
                <a:ea typeface="Arial" pitchFamily="34" charset="-122"/>
                <a:cs typeface="Arial" pitchFamily="34" charset="-120"/>
              </a:rPr>
              <a:t>Academic Year:</a:t>
            </a:r>
            <a:r>
              <a:rPr lang="en-US" sz="1300" dirty="0">
                <a:solidFill>
                  <a:srgbClr val="07201A"/>
                </a:solidFill>
                <a:latin typeface="Arial" pitchFamily="34" charset="0"/>
                <a:ea typeface="Arial" pitchFamily="34" charset="-122"/>
                <a:cs typeface="Arial" pitchFamily="34" charset="-120"/>
              </a:rPr>
              <a:t> 2026–2027</a:t>
            </a:r>
            <a:endParaRPr lang="en-US" sz="1300" dirty="0"/>
          </a:p>
        </p:txBody>
      </p:sp>
      <p:pic>
        <p:nvPicPr>
          <p:cNvPr id="33"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34" name="Text 31"/>
          <p:cNvSpPr/>
          <p:nvPr/>
        </p:nvSpPr>
        <p:spPr>
          <a:xfrm>
            <a:off x="1193800" y="6238241"/>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5" name="Text 32"/>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A · INTRODUCTION AND OVERVIEW</a:t>
            </a:r>
            <a:endParaRPr lang="en-US" sz="1200" dirty="0"/>
          </a:p>
        </p:txBody>
      </p:sp>
      <p:sp>
        <p:nvSpPr>
          <p:cNvPr id="3" name="Text 1"/>
          <p:cNvSpPr>
            <a:spLocks noGrp="1"/>
          </p:cNvSpPr>
          <p:nvPr>
            <p:ph type="title"/>
          </p:nvPr>
        </p:nvSpPr>
        <p:spPr>
          <a:xfrm>
            <a:off x="812800" y="873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Agenda</a:t>
            </a:r>
            <a:endParaRPr lang="en-US" sz="3200" dirty="0"/>
          </a:p>
        </p:txBody>
      </p:sp>
      <p:sp>
        <p:nvSpPr>
          <p:cNvPr id="4" name="Shape 2"/>
          <p:cNvSpPr/>
          <p:nvPr/>
        </p:nvSpPr>
        <p:spPr>
          <a:xfrm>
            <a:off x="819150" y="1530350"/>
            <a:ext cx="5270500" cy="810260"/>
          </a:xfrm>
          <a:prstGeom prst="roundRect">
            <a:avLst>
              <a:gd name="adj" fmla="val 11755"/>
            </a:avLst>
          </a:prstGeom>
          <a:solidFill>
            <a:srgbClr val="FBFCFE"/>
          </a:solidFill>
          <a:ln w="12700">
            <a:solidFill>
              <a:srgbClr val="C7D8CE"/>
            </a:solidFill>
            <a:prstDash val="solid"/>
          </a:ln>
        </p:spPr>
      </p:sp>
      <p:sp>
        <p:nvSpPr>
          <p:cNvPr id="5" name="Text 3"/>
          <p:cNvSpPr/>
          <p:nvPr/>
        </p:nvSpPr>
        <p:spPr>
          <a:xfrm>
            <a:off x="1000760" y="1757680"/>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01</a:t>
            </a:r>
            <a:endParaRPr lang="en-US" sz="2000" dirty="0"/>
          </a:p>
        </p:txBody>
      </p:sp>
      <p:sp>
        <p:nvSpPr>
          <p:cNvPr id="6" name="Text 4"/>
          <p:cNvSpPr/>
          <p:nvPr/>
        </p:nvSpPr>
        <p:spPr>
          <a:xfrm>
            <a:off x="1458039" y="1673861"/>
            <a:ext cx="3549205"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Introduction to version control</a:t>
            </a:r>
            <a:endParaRPr lang="en-US" sz="1600" dirty="0"/>
          </a:p>
        </p:txBody>
      </p:sp>
      <p:sp>
        <p:nvSpPr>
          <p:cNvPr id="7" name="Text 5"/>
          <p:cNvSpPr/>
          <p:nvPr/>
        </p:nvSpPr>
        <p:spPr>
          <a:xfrm>
            <a:off x="1458039" y="1983741"/>
            <a:ext cx="30464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 4</a:t>
            </a:r>
            <a:endParaRPr lang="en-US" sz="1200" dirty="0"/>
          </a:p>
        </p:txBody>
      </p:sp>
      <p:sp>
        <p:nvSpPr>
          <p:cNvPr id="8" name="Shape 6"/>
          <p:cNvSpPr/>
          <p:nvPr/>
        </p:nvSpPr>
        <p:spPr>
          <a:xfrm>
            <a:off x="6102350" y="1530350"/>
            <a:ext cx="5270500" cy="810260"/>
          </a:xfrm>
          <a:prstGeom prst="roundRect">
            <a:avLst>
              <a:gd name="adj" fmla="val 11755"/>
            </a:avLst>
          </a:prstGeom>
          <a:solidFill>
            <a:srgbClr val="FBFCFE"/>
          </a:solidFill>
          <a:ln w="12700">
            <a:solidFill>
              <a:srgbClr val="C7D8CE"/>
            </a:solidFill>
            <a:prstDash val="solid"/>
          </a:ln>
        </p:spPr>
      </p:sp>
      <p:sp>
        <p:nvSpPr>
          <p:cNvPr id="9" name="Text 7"/>
          <p:cNvSpPr/>
          <p:nvPr/>
        </p:nvSpPr>
        <p:spPr>
          <a:xfrm>
            <a:off x="6283960" y="1757680"/>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02</a:t>
            </a:r>
            <a:endParaRPr lang="en-US" sz="2000" dirty="0"/>
          </a:p>
        </p:txBody>
      </p:sp>
      <p:sp>
        <p:nvSpPr>
          <p:cNvPr id="10" name="Text 8"/>
          <p:cNvSpPr/>
          <p:nvPr/>
        </p:nvSpPr>
        <p:spPr>
          <a:xfrm>
            <a:off x="6741240" y="1673861"/>
            <a:ext cx="3509867"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Loki overview and capabilities</a:t>
            </a:r>
            <a:endParaRPr lang="en-US" sz="1600" dirty="0"/>
          </a:p>
        </p:txBody>
      </p:sp>
      <p:sp>
        <p:nvSpPr>
          <p:cNvPr id="11" name="Text 9"/>
          <p:cNvSpPr/>
          <p:nvPr/>
        </p:nvSpPr>
        <p:spPr>
          <a:xfrm>
            <a:off x="6741240" y="1983741"/>
            <a:ext cx="30126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5–7</a:t>
            </a:r>
            <a:endParaRPr lang="en-US" sz="1200" dirty="0"/>
          </a:p>
        </p:txBody>
      </p:sp>
      <p:sp>
        <p:nvSpPr>
          <p:cNvPr id="12" name="Shape 10"/>
          <p:cNvSpPr/>
          <p:nvPr/>
        </p:nvSpPr>
        <p:spPr>
          <a:xfrm>
            <a:off x="819150" y="2353311"/>
            <a:ext cx="5270500" cy="810260"/>
          </a:xfrm>
          <a:prstGeom prst="roundRect">
            <a:avLst>
              <a:gd name="adj" fmla="val 11755"/>
            </a:avLst>
          </a:prstGeom>
          <a:solidFill>
            <a:srgbClr val="FBFCFE"/>
          </a:solidFill>
          <a:ln w="12700">
            <a:solidFill>
              <a:srgbClr val="C7D8CE"/>
            </a:solidFill>
            <a:prstDash val="solid"/>
          </a:ln>
        </p:spPr>
      </p:sp>
      <p:sp>
        <p:nvSpPr>
          <p:cNvPr id="13" name="Text 11"/>
          <p:cNvSpPr/>
          <p:nvPr/>
        </p:nvSpPr>
        <p:spPr>
          <a:xfrm>
            <a:off x="1000760" y="2580641"/>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03</a:t>
            </a:r>
            <a:endParaRPr lang="en-US" sz="2000" dirty="0"/>
          </a:p>
        </p:txBody>
      </p:sp>
      <p:sp>
        <p:nvSpPr>
          <p:cNvPr id="14" name="Text 12"/>
          <p:cNvSpPr/>
          <p:nvPr/>
        </p:nvSpPr>
        <p:spPr>
          <a:xfrm>
            <a:off x="1458039" y="2496820"/>
            <a:ext cx="2331149"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System architecture</a:t>
            </a:r>
            <a:endParaRPr lang="en-US" sz="1600" dirty="0"/>
          </a:p>
        </p:txBody>
      </p:sp>
      <p:sp>
        <p:nvSpPr>
          <p:cNvPr id="15" name="Text 13"/>
          <p:cNvSpPr/>
          <p:nvPr/>
        </p:nvSpPr>
        <p:spPr>
          <a:xfrm>
            <a:off x="1458039" y="2806700"/>
            <a:ext cx="2000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8–13</a:t>
            </a:r>
            <a:endParaRPr lang="en-US" sz="1200" dirty="0"/>
          </a:p>
        </p:txBody>
      </p:sp>
      <p:sp>
        <p:nvSpPr>
          <p:cNvPr id="16" name="Shape 14"/>
          <p:cNvSpPr/>
          <p:nvPr/>
        </p:nvSpPr>
        <p:spPr>
          <a:xfrm>
            <a:off x="6102350" y="2353311"/>
            <a:ext cx="5270500" cy="810260"/>
          </a:xfrm>
          <a:prstGeom prst="roundRect">
            <a:avLst>
              <a:gd name="adj" fmla="val 11755"/>
            </a:avLst>
          </a:prstGeom>
          <a:solidFill>
            <a:srgbClr val="FBFCFE"/>
          </a:solidFill>
          <a:ln w="12700">
            <a:solidFill>
              <a:srgbClr val="C7D8CE"/>
            </a:solidFill>
            <a:prstDash val="solid"/>
          </a:ln>
        </p:spPr>
      </p:sp>
      <p:sp>
        <p:nvSpPr>
          <p:cNvPr id="17" name="Text 15"/>
          <p:cNvSpPr/>
          <p:nvPr/>
        </p:nvSpPr>
        <p:spPr>
          <a:xfrm>
            <a:off x="6283960" y="2580641"/>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04</a:t>
            </a:r>
            <a:endParaRPr lang="en-US" sz="2000" dirty="0"/>
          </a:p>
        </p:txBody>
      </p:sp>
      <p:sp>
        <p:nvSpPr>
          <p:cNvPr id="18" name="Text 16"/>
          <p:cNvSpPr/>
          <p:nvPr/>
        </p:nvSpPr>
        <p:spPr>
          <a:xfrm>
            <a:off x="6741240" y="2496820"/>
            <a:ext cx="299447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Object model and storage</a:t>
            </a:r>
            <a:endParaRPr lang="en-US" sz="1600" dirty="0"/>
          </a:p>
        </p:txBody>
      </p:sp>
      <p:sp>
        <p:nvSpPr>
          <p:cNvPr id="19" name="Text 17"/>
          <p:cNvSpPr/>
          <p:nvPr/>
        </p:nvSpPr>
        <p:spPr>
          <a:xfrm>
            <a:off x="6741240" y="2806700"/>
            <a:ext cx="25702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14–24</a:t>
            </a:r>
            <a:endParaRPr lang="en-US" sz="1200" dirty="0"/>
          </a:p>
        </p:txBody>
      </p:sp>
      <p:sp>
        <p:nvSpPr>
          <p:cNvPr id="20" name="Shape 18"/>
          <p:cNvSpPr/>
          <p:nvPr/>
        </p:nvSpPr>
        <p:spPr>
          <a:xfrm>
            <a:off x="819150" y="3176270"/>
            <a:ext cx="5270500" cy="810260"/>
          </a:xfrm>
          <a:prstGeom prst="roundRect">
            <a:avLst>
              <a:gd name="adj" fmla="val 11755"/>
            </a:avLst>
          </a:prstGeom>
          <a:solidFill>
            <a:srgbClr val="FBFCFE"/>
          </a:solidFill>
          <a:ln w="12700">
            <a:solidFill>
              <a:srgbClr val="C7D8CE"/>
            </a:solidFill>
            <a:prstDash val="solid"/>
          </a:ln>
        </p:spPr>
      </p:sp>
      <p:sp>
        <p:nvSpPr>
          <p:cNvPr id="21" name="Text 19"/>
          <p:cNvSpPr/>
          <p:nvPr/>
        </p:nvSpPr>
        <p:spPr>
          <a:xfrm>
            <a:off x="1000760" y="3403600"/>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05</a:t>
            </a:r>
            <a:endParaRPr lang="en-US" sz="2000" dirty="0"/>
          </a:p>
        </p:txBody>
      </p:sp>
      <p:sp>
        <p:nvSpPr>
          <p:cNvPr id="22" name="Text 20"/>
          <p:cNvSpPr/>
          <p:nvPr/>
        </p:nvSpPr>
        <p:spPr>
          <a:xfrm>
            <a:off x="1458039" y="3319780"/>
            <a:ext cx="2452211"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Command workflows</a:t>
            </a:r>
            <a:endParaRPr lang="en-US" sz="1600" dirty="0"/>
          </a:p>
        </p:txBody>
      </p:sp>
      <p:sp>
        <p:nvSpPr>
          <p:cNvPr id="23" name="Text 21"/>
          <p:cNvSpPr/>
          <p:nvPr/>
        </p:nvSpPr>
        <p:spPr>
          <a:xfrm>
            <a:off x="1458039" y="3629661"/>
            <a:ext cx="21048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25–28</a:t>
            </a:r>
            <a:endParaRPr lang="en-US" sz="1200" dirty="0"/>
          </a:p>
        </p:txBody>
      </p:sp>
      <p:sp>
        <p:nvSpPr>
          <p:cNvPr id="24" name="Shape 22"/>
          <p:cNvSpPr/>
          <p:nvPr/>
        </p:nvSpPr>
        <p:spPr>
          <a:xfrm>
            <a:off x="6102350" y="3176270"/>
            <a:ext cx="5270500" cy="810260"/>
          </a:xfrm>
          <a:prstGeom prst="roundRect">
            <a:avLst>
              <a:gd name="adj" fmla="val 11755"/>
            </a:avLst>
          </a:prstGeom>
          <a:solidFill>
            <a:srgbClr val="FBFCFE"/>
          </a:solidFill>
          <a:ln w="12700">
            <a:solidFill>
              <a:srgbClr val="C7D8CE"/>
            </a:solidFill>
            <a:prstDash val="solid"/>
          </a:ln>
        </p:spPr>
      </p:sp>
      <p:sp>
        <p:nvSpPr>
          <p:cNvPr id="25" name="Text 23"/>
          <p:cNvSpPr/>
          <p:nvPr/>
        </p:nvSpPr>
        <p:spPr>
          <a:xfrm>
            <a:off x="6283960" y="3403600"/>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06</a:t>
            </a:r>
            <a:endParaRPr lang="en-US" sz="2000" dirty="0"/>
          </a:p>
        </p:txBody>
      </p:sp>
      <p:sp>
        <p:nvSpPr>
          <p:cNvPr id="26" name="Text 24"/>
          <p:cNvSpPr/>
          <p:nvPr/>
        </p:nvSpPr>
        <p:spPr>
          <a:xfrm>
            <a:off x="6741240" y="3319780"/>
            <a:ext cx="273672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Branching and merging</a:t>
            </a:r>
            <a:endParaRPr lang="en-US" sz="1600" dirty="0"/>
          </a:p>
        </p:txBody>
      </p:sp>
      <p:sp>
        <p:nvSpPr>
          <p:cNvPr id="27" name="Text 25"/>
          <p:cNvSpPr/>
          <p:nvPr/>
        </p:nvSpPr>
        <p:spPr>
          <a:xfrm>
            <a:off x="6741240" y="3629661"/>
            <a:ext cx="234902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29–34</a:t>
            </a:r>
            <a:endParaRPr lang="en-US" sz="1200" dirty="0"/>
          </a:p>
        </p:txBody>
      </p:sp>
      <p:sp>
        <p:nvSpPr>
          <p:cNvPr id="28" name="Shape 26"/>
          <p:cNvSpPr/>
          <p:nvPr/>
        </p:nvSpPr>
        <p:spPr>
          <a:xfrm>
            <a:off x="819150" y="3999230"/>
            <a:ext cx="5270500" cy="810260"/>
          </a:xfrm>
          <a:prstGeom prst="roundRect">
            <a:avLst>
              <a:gd name="adj" fmla="val 11755"/>
            </a:avLst>
          </a:prstGeom>
          <a:solidFill>
            <a:srgbClr val="FBFCFE"/>
          </a:solidFill>
          <a:ln w="12700">
            <a:solidFill>
              <a:srgbClr val="C7D8CE"/>
            </a:solidFill>
            <a:prstDash val="solid"/>
          </a:ln>
        </p:spPr>
      </p:sp>
      <p:sp>
        <p:nvSpPr>
          <p:cNvPr id="29" name="Text 27"/>
          <p:cNvSpPr/>
          <p:nvPr/>
        </p:nvSpPr>
        <p:spPr>
          <a:xfrm>
            <a:off x="1000760" y="4226561"/>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07</a:t>
            </a:r>
            <a:endParaRPr lang="en-US" sz="2000" dirty="0"/>
          </a:p>
        </p:txBody>
      </p:sp>
      <p:sp>
        <p:nvSpPr>
          <p:cNvPr id="30" name="Text 28"/>
          <p:cNvSpPr/>
          <p:nvPr/>
        </p:nvSpPr>
        <p:spPr>
          <a:xfrm>
            <a:off x="1458039" y="4142741"/>
            <a:ext cx="443045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Configuration, release and installation</a:t>
            </a:r>
            <a:endParaRPr lang="en-US" sz="1600" dirty="0"/>
          </a:p>
        </p:txBody>
      </p:sp>
      <p:sp>
        <p:nvSpPr>
          <p:cNvPr id="31" name="Text 29"/>
          <p:cNvSpPr/>
          <p:nvPr/>
        </p:nvSpPr>
        <p:spPr>
          <a:xfrm>
            <a:off x="1458039" y="4452620"/>
            <a:ext cx="38028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35–38</a:t>
            </a:r>
            <a:endParaRPr lang="en-US" sz="1200" dirty="0"/>
          </a:p>
        </p:txBody>
      </p:sp>
      <p:sp>
        <p:nvSpPr>
          <p:cNvPr id="32" name="Shape 30"/>
          <p:cNvSpPr/>
          <p:nvPr/>
        </p:nvSpPr>
        <p:spPr>
          <a:xfrm>
            <a:off x="6102350" y="3999230"/>
            <a:ext cx="5270500" cy="810260"/>
          </a:xfrm>
          <a:prstGeom prst="roundRect">
            <a:avLst>
              <a:gd name="adj" fmla="val 11755"/>
            </a:avLst>
          </a:prstGeom>
          <a:solidFill>
            <a:srgbClr val="FBFCFE"/>
          </a:solidFill>
          <a:ln w="12700">
            <a:solidFill>
              <a:srgbClr val="C7D8CE"/>
            </a:solidFill>
            <a:prstDash val="solid"/>
          </a:ln>
        </p:spPr>
      </p:sp>
      <p:sp>
        <p:nvSpPr>
          <p:cNvPr id="33" name="Text 31"/>
          <p:cNvSpPr/>
          <p:nvPr/>
        </p:nvSpPr>
        <p:spPr>
          <a:xfrm>
            <a:off x="6283960" y="4226561"/>
            <a:ext cx="365855"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B54"/>
                </a:solidFill>
                <a:latin typeface="Courier New" pitchFamily="49" charset="0"/>
                <a:ea typeface="Courier New" pitchFamily="49" charset="-122"/>
                <a:cs typeface="Courier New" pitchFamily="49" charset="-120"/>
              </a:rPr>
              <a:t>08</a:t>
            </a:r>
            <a:endParaRPr lang="en-US" sz="2000" dirty="0"/>
          </a:p>
        </p:txBody>
      </p:sp>
      <p:sp>
        <p:nvSpPr>
          <p:cNvPr id="34" name="Text 32"/>
          <p:cNvSpPr/>
          <p:nvPr/>
        </p:nvSpPr>
        <p:spPr>
          <a:xfrm>
            <a:off x="6741240" y="4142741"/>
            <a:ext cx="333279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Limitations and future scope</a:t>
            </a:r>
            <a:endParaRPr lang="en-US" sz="1600" dirty="0"/>
          </a:p>
        </p:txBody>
      </p:sp>
      <p:sp>
        <p:nvSpPr>
          <p:cNvPr id="35" name="Text 33"/>
          <p:cNvSpPr/>
          <p:nvPr/>
        </p:nvSpPr>
        <p:spPr>
          <a:xfrm>
            <a:off x="6741240" y="4452620"/>
            <a:ext cx="2860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Slides 39–40</a:t>
            </a:r>
            <a:endParaRPr lang="en-US" sz="1200" dirty="0"/>
          </a:p>
        </p:txBody>
      </p:sp>
      <p:pic>
        <p:nvPicPr>
          <p:cNvPr id="36"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37" name="Text 34"/>
          <p:cNvSpPr/>
          <p:nvPr/>
        </p:nvSpPr>
        <p:spPr>
          <a:xfrm>
            <a:off x="1193800" y="6238241"/>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8" name="Text 35"/>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A · INTRODUCTION AND OVERVIEW</a:t>
            </a:r>
            <a:endParaRPr lang="en-US" sz="1200" dirty="0"/>
          </a:p>
        </p:txBody>
      </p:sp>
      <p:sp>
        <p:nvSpPr>
          <p:cNvPr id="3" name="Text 1"/>
          <p:cNvSpPr>
            <a:spLocks noGrp="1"/>
          </p:cNvSpPr>
          <p:nvPr>
            <p:ph type="title"/>
          </p:nvPr>
        </p:nvSpPr>
        <p:spPr>
          <a:xfrm>
            <a:off x="812800" y="873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What Is Version Control?</a:t>
            </a:r>
            <a:endParaRPr lang="en-US" sz="3200" dirty="0"/>
          </a:p>
        </p:txBody>
      </p:sp>
      <p:sp>
        <p:nvSpPr>
          <p:cNvPr id="4" name="Shape 2"/>
          <p:cNvSpPr/>
          <p:nvPr/>
        </p:nvSpPr>
        <p:spPr>
          <a:xfrm>
            <a:off x="819150" y="1530350"/>
            <a:ext cx="4051300" cy="1005840"/>
          </a:xfrm>
          <a:prstGeom prst="roundRect">
            <a:avLst>
              <a:gd name="adj" fmla="val 9470"/>
            </a:avLst>
          </a:prstGeom>
          <a:solidFill>
            <a:srgbClr val="FBFCFE"/>
          </a:solidFill>
          <a:ln w="12700">
            <a:solidFill>
              <a:srgbClr val="C7D8CE"/>
            </a:solidFill>
            <a:prstDash val="solid"/>
          </a:ln>
        </p:spPr>
      </p:sp>
      <p:sp>
        <p:nvSpPr>
          <p:cNvPr id="5" name="Text 3"/>
          <p:cNvSpPr/>
          <p:nvPr/>
        </p:nvSpPr>
        <p:spPr>
          <a:xfrm>
            <a:off x="975360" y="1661161"/>
            <a:ext cx="38510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Commit</a:t>
            </a:r>
            <a:endParaRPr lang="en-US" sz="1600" dirty="0"/>
          </a:p>
        </p:txBody>
      </p:sp>
      <p:sp>
        <p:nvSpPr>
          <p:cNvPr id="6" name="Text 4"/>
          <p:cNvSpPr/>
          <p:nvPr/>
        </p:nvSpPr>
        <p:spPr>
          <a:xfrm>
            <a:off x="975360" y="1943100"/>
            <a:ext cx="385104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A saved snapshot of the project, with a message.</a:t>
            </a:r>
            <a:endParaRPr lang="en-US" sz="1400" dirty="0"/>
          </a:p>
        </p:txBody>
      </p:sp>
      <p:sp>
        <p:nvSpPr>
          <p:cNvPr id="7" name="Shape 5"/>
          <p:cNvSpPr/>
          <p:nvPr/>
        </p:nvSpPr>
        <p:spPr>
          <a:xfrm>
            <a:off x="819150" y="2650491"/>
            <a:ext cx="4051300" cy="1005840"/>
          </a:xfrm>
          <a:prstGeom prst="roundRect">
            <a:avLst>
              <a:gd name="adj" fmla="val 9470"/>
            </a:avLst>
          </a:prstGeom>
          <a:solidFill>
            <a:srgbClr val="FBFCFE"/>
          </a:solidFill>
          <a:ln w="12700">
            <a:solidFill>
              <a:srgbClr val="C7D8CE"/>
            </a:solidFill>
            <a:prstDash val="solid"/>
          </a:ln>
        </p:spPr>
      </p:sp>
      <p:sp>
        <p:nvSpPr>
          <p:cNvPr id="8" name="Text 6"/>
          <p:cNvSpPr/>
          <p:nvPr/>
        </p:nvSpPr>
        <p:spPr>
          <a:xfrm>
            <a:off x="975360" y="2781300"/>
            <a:ext cx="38510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History</a:t>
            </a:r>
            <a:endParaRPr lang="en-US" sz="1600" dirty="0"/>
          </a:p>
        </p:txBody>
      </p:sp>
      <p:sp>
        <p:nvSpPr>
          <p:cNvPr id="9" name="Text 7"/>
          <p:cNvSpPr/>
          <p:nvPr/>
        </p:nvSpPr>
        <p:spPr>
          <a:xfrm>
            <a:off x="975360" y="3063241"/>
            <a:ext cx="385104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The ordered record of those snapshots over time.</a:t>
            </a:r>
            <a:endParaRPr lang="en-US" sz="1400" dirty="0"/>
          </a:p>
        </p:txBody>
      </p:sp>
      <p:sp>
        <p:nvSpPr>
          <p:cNvPr id="10" name="Shape 8"/>
          <p:cNvSpPr/>
          <p:nvPr/>
        </p:nvSpPr>
        <p:spPr>
          <a:xfrm>
            <a:off x="819150" y="3770630"/>
            <a:ext cx="4051300" cy="1005840"/>
          </a:xfrm>
          <a:prstGeom prst="roundRect">
            <a:avLst>
              <a:gd name="adj" fmla="val 9470"/>
            </a:avLst>
          </a:prstGeom>
          <a:solidFill>
            <a:srgbClr val="FBFCFE"/>
          </a:solidFill>
          <a:ln w="12700">
            <a:solidFill>
              <a:srgbClr val="C7D8CE"/>
            </a:solidFill>
            <a:prstDash val="solid"/>
          </a:ln>
        </p:spPr>
      </p:sp>
      <p:sp>
        <p:nvSpPr>
          <p:cNvPr id="11" name="Text 9"/>
          <p:cNvSpPr/>
          <p:nvPr/>
        </p:nvSpPr>
        <p:spPr>
          <a:xfrm>
            <a:off x="975360" y="3901441"/>
            <a:ext cx="38510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Branch</a:t>
            </a:r>
            <a:endParaRPr lang="en-US" sz="1600" dirty="0"/>
          </a:p>
        </p:txBody>
      </p:sp>
      <p:sp>
        <p:nvSpPr>
          <p:cNvPr id="12" name="Text 10"/>
          <p:cNvSpPr/>
          <p:nvPr/>
        </p:nvSpPr>
        <p:spPr>
          <a:xfrm>
            <a:off x="975360" y="4183380"/>
            <a:ext cx="385104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A parallel line of work that can be merged back later.</a:t>
            </a:r>
            <a:endParaRPr lang="en-US" sz="1400" dirty="0"/>
          </a:p>
        </p:txBody>
      </p:sp>
      <p:sp>
        <p:nvSpPr>
          <p:cNvPr id="13" name="Shape 11"/>
          <p:cNvSpPr/>
          <p:nvPr/>
        </p:nvSpPr>
        <p:spPr>
          <a:xfrm>
            <a:off x="5086350" y="1530350"/>
            <a:ext cx="6286500" cy="3246120"/>
          </a:xfrm>
          <a:prstGeom prst="roundRect">
            <a:avLst>
              <a:gd name="adj" fmla="val 2934"/>
            </a:avLst>
          </a:prstGeom>
          <a:solidFill>
            <a:srgbClr val="E0F2EA"/>
          </a:solidFill>
          <a:ln w="12700">
            <a:solidFill>
              <a:srgbClr val="A8D6C2"/>
            </a:solidFill>
            <a:prstDash val="solid"/>
          </a:ln>
        </p:spPr>
      </p:sp>
      <p:sp>
        <p:nvSpPr>
          <p:cNvPr id="14" name="Text 12"/>
          <p:cNvSpPr/>
          <p:nvPr/>
        </p:nvSpPr>
        <p:spPr>
          <a:xfrm>
            <a:off x="5267960" y="1686561"/>
            <a:ext cx="61009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Illustrative example: a small website project</a:t>
            </a:r>
            <a:endParaRPr lang="en-US" sz="1600" dirty="0"/>
          </a:p>
        </p:txBody>
      </p:sp>
      <p:sp>
        <p:nvSpPr>
          <p:cNvPr id="15" name="Text 13"/>
          <p:cNvSpPr/>
          <p:nvPr/>
        </p:nvSpPr>
        <p:spPr>
          <a:xfrm>
            <a:off x="5267960" y="2019300"/>
            <a:ext cx="610097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Courier New" pitchFamily="49" charset="0"/>
                <a:ea typeface="Courier New" pitchFamily="49" charset="-122"/>
                <a:cs typeface="Courier New" pitchFamily="49" charset="-120"/>
              </a:rPr>
              <a:t>main</a:t>
            </a:r>
            <a:endParaRPr lang="en-US" sz="1200" dirty="0"/>
          </a:p>
        </p:txBody>
      </p:sp>
      <p:sp>
        <p:nvSpPr>
          <p:cNvPr id="16" name="Shape 14"/>
          <p:cNvSpPr/>
          <p:nvPr/>
        </p:nvSpPr>
        <p:spPr>
          <a:xfrm>
            <a:off x="5274310" y="2327911"/>
            <a:ext cx="1673860" cy="655955"/>
          </a:xfrm>
          <a:prstGeom prst="roundRect">
            <a:avLst>
              <a:gd name="adj" fmla="val 10649"/>
            </a:avLst>
          </a:prstGeom>
          <a:solidFill>
            <a:srgbClr val="FBFCFE"/>
          </a:solidFill>
          <a:ln w="12700">
            <a:solidFill>
              <a:srgbClr val="8CCBB0"/>
            </a:solidFill>
            <a:prstDash val="solid"/>
          </a:ln>
        </p:spPr>
      </p:sp>
      <p:sp>
        <p:nvSpPr>
          <p:cNvPr id="17" name="Text 15"/>
          <p:cNvSpPr/>
          <p:nvPr/>
        </p:nvSpPr>
        <p:spPr>
          <a:xfrm>
            <a:off x="5379720" y="2433320"/>
            <a:ext cx="15138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v1</a:t>
            </a:r>
            <a:endParaRPr lang="en-US" sz="1200" dirty="0"/>
          </a:p>
        </p:txBody>
      </p:sp>
      <p:sp>
        <p:nvSpPr>
          <p:cNvPr id="18" name="Text 16"/>
          <p:cNvSpPr/>
          <p:nvPr/>
        </p:nvSpPr>
        <p:spPr>
          <a:xfrm>
            <a:off x="5379720" y="2672080"/>
            <a:ext cx="151384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07201A"/>
                </a:solidFill>
                <a:latin typeface="Arial" pitchFamily="34" charset="0"/>
                <a:ea typeface="Arial" pitchFamily="34" charset="-122"/>
                <a:cs typeface="Arial" pitchFamily="34" charset="-120"/>
              </a:rPr>
              <a:t>Create index.html</a:t>
            </a:r>
            <a:endParaRPr lang="en-US" sz="1300" dirty="0"/>
          </a:p>
        </p:txBody>
      </p:sp>
      <p:pic>
        <p:nvPicPr>
          <p:cNvPr id="19" name="Image 0" descr="arrow-right"/>
          <p:cNvPicPr>
            <a:picLocks noChangeAspect="1"/>
          </p:cNvPicPr>
          <p:nvPr/>
        </p:nvPicPr>
        <p:blipFill>
          <a:blip r:embed="rId3"/>
          <a:srcRect/>
          <a:stretch/>
        </p:blipFill>
        <p:spPr>
          <a:xfrm>
            <a:off x="7030720" y="2573338"/>
            <a:ext cx="279400" cy="165100"/>
          </a:xfrm>
          <a:prstGeom prst="rect">
            <a:avLst/>
          </a:prstGeom>
        </p:spPr>
      </p:pic>
      <p:sp>
        <p:nvSpPr>
          <p:cNvPr id="20" name="Shape 17"/>
          <p:cNvSpPr/>
          <p:nvPr/>
        </p:nvSpPr>
        <p:spPr>
          <a:xfrm>
            <a:off x="7392670" y="2327911"/>
            <a:ext cx="1673860" cy="655955"/>
          </a:xfrm>
          <a:prstGeom prst="roundRect">
            <a:avLst>
              <a:gd name="adj" fmla="val 10649"/>
            </a:avLst>
          </a:prstGeom>
          <a:solidFill>
            <a:srgbClr val="FBFCFE"/>
          </a:solidFill>
          <a:ln w="12700">
            <a:solidFill>
              <a:srgbClr val="8CCBB0"/>
            </a:solidFill>
            <a:prstDash val="solid"/>
          </a:ln>
        </p:spPr>
      </p:sp>
      <p:sp>
        <p:nvSpPr>
          <p:cNvPr id="21" name="Text 18"/>
          <p:cNvSpPr/>
          <p:nvPr/>
        </p:nvSpPr>
        <p:spPr>
          <a:xfrm>
            <a:off x="7498080" y="2433320"/>
            <a:ext cx="15138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v2</a:t>
            </a:r>
            <a:endParaRPr lang="en-US" sz="1200" dirty="0"/>
          </a:p>
        </p:txBody>
      </p:sp>
      <p:sp>
        <p:nvSpPr>
          <p:cNvPr id="22" name="Text 19"/>
          <p:cNvSpPr/>
          <p:nvPr/>
        </p:nvSpPr>
        <p:spPr>
          <a:xfrm>
            <a:off x="7498080" y="2672080"/>
            <a:ext cx="151384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07201A"/>
                </a:solidFill>
                <a:latin typeface="Arial" pitchFamily="34" charset="0"/>
                <a:ea typeface="Arial" pitchFamily="34" charset="-122"/>
                <a:cs typeface="Arial" pitchFamily="34" charset="-120"/>
              </a:rPr>
              <a:t>Add login page</a:t>
            </a:r>
            <a:endParaRPr lang="en-US" sz="1300" dirty="0"/>
          </a:p>
        </p:txBody>
      </p:sp>
      <p:pic>
        <p:nvPicPr>
          <p:cNvPr id="23" name="Image 1" descr="arrow-right"/>
          <p:cNvPicPr>
            <a:picLocks noChangeAspect="1"/>
          </p:cNvPicPr>
          <p:nvPr/>
        </p:nvPicPr>
        <p:blipFill>
          <a:blip r:embed="rId3"/>
          <a:srcRect/>
          <a:stretch/>
        </p:blipFill>
        <p:spPr>
          <a:xfrm>
            <a:off x="9149080" y="2573338"/>
            <a:ext cx="279400" cy="165100"/>
          </a:xfrm>
          <a:prstGeom prst="rect">
            <a:avLst/>
          </a:prstGeom>
        </p:spPr>
      </p:pic>
      <p:sp>
        <p:nvSpPr>
          <p:cNvPr id="24" name="Shape 20"/>
          <p:cNvSpPr/>
          <p:nvPr/>
        </p:nvSpPr>
        <p:spPr>
          <a:xfrm>
            <a:off x="9511030" y="2327911"/>
            <a:ext cx="1673860" cy="655955"/>
          </a:xfrm>
          <a:prstGeom prst="roundRect">
            <a:avLst>
              <a:gd name="adj" fmla="val 10649"/>
            </a:avLst>
          </a:prstGeom>
          <a:solidFill>
            <a:srgbClr val="FBFCFE"/>
          </a:solidFill>
          <a:ln w="12700">
            <a:solidFill>
              <a:srgbClr val="8CCBB0"/>
            </a:solidFill>
            <a:prstDash val="solid"/>
          </a:ln>
        </p:spPr>
      </p:sp>
      <p:sp>
        <p:nvSpPr>
          <p:cNvPr id="25" name="Text 21"/>
          <p:cNvSpPr/>
          <p:nvPr/>
        </p:nvSpPr>
        <p:spPr>
          <a:xfrm>
            <a:off x="9616440" y="2433320"/>
            <a:ext cx="15138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v3</a:t>
            </a:r>
            <a:endParaRPr lang="en-US" sz="1200" dirty="0"/>
          </a:p>
        </p:txBody>
      </p:sp>
      <p:sp>
        <p:nvSpPr>
          <p:cNvPr id="26" name="Text 22"/>
          <p:cNvSpPr/>
          <p:nvPr/>
        </p:nvSpPr>
        <p:spPr>
          <a:xfrm>
            <a:off x="9616440" y="2672080"/>
            <a:ext cx="1513840"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07201A"/>
                </a:solidFill>
                <a:latin typeface="Arial" pitchFamily="34" charset="0"/>
                <a:ea typeface="Arial" pitchFamily="34" charset="-122"/>
                <a:cs typeface="Arial" pitchFamily="34" charset="-120"/>
              </a:rPr>
              <a:t>Fix a typo</a:t>
            </a:r>
            <a:endParaRPr lang="en-US" sz="1300" dirty="0"/>
          </a:p>
        </p:txBody>
      </p:sp>
      <p:sp>
        <p:nvSpPr>
          <p:cNvPr id="27" name="Text 23"/>
          <p:cNvSpPr/>
          <p:nvPr/>
        </p:nvSpPr>
        <p:spPr>
          <a:xfrm>
            <a:off x="5267960" y="3079116"/>
            <a:ext cx="610097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9"/>
                </a:solidFill>
                <a:latin typeface="Courier New" pitchFamily="49" charset="0"/>
                <a:ea typeface="Courier New" pitchFamily="49" charset="-122"/>
                <a:cs typeface="Courier New" pitchFamily="49" charset="-120"/>
              </a:rPr>
              <a:t>feature branch (starts from v2)</a:t>
            </a:r>
            <a:endParaRPr lang="en-US" sz="1200" dirty="0"/>
          </a:p>
        </p:txBody>
      </p:sp>
      <p:sp>
        <p:nvSpPr>
          <p:cNvPr id="28" name="Shape 24"/>
          <p:cNvSpPr/>
          <p:nvPr/>
        </p:nvSpPr>
        <p:spPr>
          <a:xfrm>
            <a:off x="5274310" y="3387725"/>
            <a:ext cx="1574800" cy="862330"/>
          </a:xfrm>
          <a:prstGeom prst="roundRect">
            <a:avLst>
              <a:gd name="adj" fmla="val 8100"/>
            </a:avLst>
          </a:prstGeom>
          <a:solidFill>
            <a:srgbClr val="FDF0E1"/>
          </a:solidFill>
          <a:ln w="12700">
            <a:solidFill>
              <a:srgbClr val="E8B27A"/>
            </a:solidFill>
            <a:prstDash val="solid"/>
          </a:ln>
        </p:spPr>
      </p:sp>
      <p:sp>
        <p:nvSpPr>
          <p:cNvPr id="29" name="Text 25"/>
          <p:cNvSpPr/>
          <p:nvPr/>
        </p:nvSpPr>
        <p:spPr>
          <a:xfrm>
            <a:off x="5379720" y="3493136"/>
            <a:ext cx="14147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9"/>
                </a:solidFill>
                <a:latin typeface="Arial" pitchFamily="34" charset="0"/>
                <a:ea typeface="Arial" pitchFamily="34" charset="-122"/>
                <a:cs typeface="Arial" pitchFamily="34" charset="-120"/>
              </a:rPr>
              <a:t>v2b</a:t>
            </a:r>
            <a:endParaRPr lang="en-US" sz="1200" dirty="0"/>
          </a:p>
        </p:txBody>
      </p:sp>
      <p:sp>
        <p:nvSpPr>
          <p:cNvPr id="30" name="Text 26"/>
          <p:cNvSpPr/>
          <p:nvPr/>
        </p:nvSpPr>
        <p:spPr>
          <a:xfrm>
            <a:off x="5379720" y="3731895"/>
            <a:ext cx="1414780"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07201A"/>
                </a:solidFill>
                <a:latin typeface="Arial" pitchFamily="34" charset="0"/>
                <a:ea typeface="Arial" pitchFamily="34" charset="-122"/>
                <a:cs typeface="Arial" pitchFamily="34" charset="-120"/>
              </a:rPr>
              <a:t>Dark-mode experiment</a:t>
            </a:r>
            <a:endParaRPr lang="en-US" sz="1300" dirty="0"/>
          </a:p>
        </p:txBody>
      </p:sp>
      <p:sp>
        <p:nvSpPr>
          <p:cNvPr id="31" name="Text 27"/>
          <p:cNvSpPr/>
          <p:nvPr/>
        </p:nvSpPr>
        <p:spPr>
          <a:xfrm>
            <a:off x="812800" y="498602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General version-control concepts only. Loki-specific behavior starts on the next slide.</a:t>
            </a:r>
            <a:endParaRPr lang="en-US" sz="1200" dirty="0"/>
          </a:p>
        </p:txBody>
      </p:sp>
      <p:pic>
        <p:nvPicPr>
          <p:cNvPr id="32"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33" name="Text 28"/>
          <p:cNvSpPr/>
          <p:nvPr/>
        </p:nvSpPr>
        <p:spPr>
          <a:xfrm>
            <a:off x="1193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4" name="Text 29"/>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7B54"/>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F2EA"/>
                </a:solidFill>
                <a:latin typeface="Arial" pitchFamily="34" charset="0"/>
                <a:ea typeface="Arial" pitchFamily="34" charset="-122"/>
                <a:cs typeface="Arial" pitchFamily="34" charset="-120"/>
              </a:rPr>
              <a:t>A · INTRODUCTION AND OVERVIEW</a:t>
            </a:r>
            <a:endParaRPr lang="en-US" sz="1200" dirty="0"/>
          </a:p>
        </p:txBody>
      </p:sp>
      <p:sp>
        <p:nvSpPr>
          <p:cNvPr id="3" name="Text 1"/>
          <p:cNvSpPr>
            <a:spLocks noGrp="1"/>
          </p:cNvSpPr>
          <p:nvPr>
            <p:ph type="title"/>
          </p:nvPr>
        </p:nvSpPr>
        <p:spPr>
          <a:xfrm>
            <a:off x="812800" y="873761"/>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F8F5"/>
                </a:solidFill>
                <a:latin typeface="Arial" pitchFamily="34" charset="0"/>
                <a:ea typeface="Arial" pitchFamily="34" charset="-122"/>
                <a:cs typeface="Arial" pitchFamily="34" charset="-120"/>
              </a:rPr>
              <a:t>Loki is an educational, local, Git-style version control system written in Go.</a:t>
            </a:r>
            <a:endParaRPr lang="en-US" sz="3200" dirty="0"/>
          </a:p>
        </p:txBody>
      </p:sp>
      <p:sp>
        <p:nvSpPr>
          <p:cNvPr id="4" name="Text 2"/>
          <p:cNvSpPr/>
          <p:nvPr/>
        </p:nvSpPr>
        <p:spPr>
          <a:xfrm>
            <a:off x="812800" y="1971039"/>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0F2EA"/>
                </a:solidFill>
                <a:latin typeface="Arial" pitchFamily="34" charset="0"/>
                <a:ea typeface="Arial" pitchFamily="34" charset="-122"/>
                <a:cs typeface="Arial" pitchFamily="34" charset="-120"/>
              </a:rPr>
              <a:t>It demonstrates core version-control concepts: object storage, staging, commits, branches, tags, diffs, merging and reverting.</a:t>
            </a:r>
            <a:endParaRPr lang="en-US" sz="1600" dirty="0"/>
          </a:p>
        </p:txBody>
      </p:sp>
      <p:sp>
        <p:nvSpPr>
          <p:cNvPr id="5" name="Shape 3"/>
          <p:cNvSpPr/>
          <p:nvPr/>
        </p:nvSpPr>
        <p:spPr>
          <a:xfrm>
            <a:off x="812800" y="2743200"/>
            <a:ext cx="2527300" cy="1076960"/>
          </a:xfrm>
          <a:prstGeom prst="roundRect">
            <a:avLst>
              <a:gd name="adj" fmla="val 9434"/>
            </a:avLst>
          </a:prstGeom>
          <a:solidFill>
            <a:srgbClr val="F3F8F5"/>
          </a:solidFill>
          <a:ln/>
        </p:spPr>
      </p:sp>
      <p:sp>
        <p:nvSpPr>
          <p:cNvPr id="6" name="Text 4"/>
          <p:cNvSpPr/>
          <p:nvPr/>
        </p:nvSpPr>
        <p:spPr>
          <a:xfrm>
            <a:off x="990600" y="28956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LANGUAGE</a:t>
            </a:r>
            <a:endParaRPr lang="en-US" sz="1200" dirty="0"/>
          </a:p>
        </p:txBody>
      </p:sp>
      <p:sp>
        <p:nvSpPr>
          <p:cNvPr id="7" name="Text 5"/>
          <p:cNvSpPr/>
          <p:nvPr/>
        </p:nvSpPr>
        <p:spPr>
          <a:xfrm>
            <a:off x="990600" y="3159761"/>
            <a:ext cx="2236851"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7201A"/>
                </a:solidFill>
                <a:latin typeface="Arial" pitchFamily="34" charset="0"/>
                <a:ea typeface="Arial" pitchFamily="34" charset="-122"/>
                <a:cs typeface="Arial" pitchFamily="34" charset="-120"/>
              </a:rPr>
              <a:t>Go</a:t>
            </a:r>
            <a:endParaRPr lang="en-US" sz="1600" dirty="0"/>
          </a:p>
        </p:txBody>
      </p:sp>
      <p:sp>
        <p:nvSpPr>
          <p:cNvPr id="8" name="Shape 6"/>
          <p:cNvSpPr/>
          <p:nvPr/>
        </p:nvSpPr>
        <p:spPr>
          <a:xfrm>
            <a:off x="3492500" y="2743200"/>
            <a:ext cx="2527300" cy="1076960"/>
          </a:xfrm>
          <a:prstGeom prst="roundRect">
            <a:avLst>
              <a:gd name="adj" fmla="val 9434"/>
            </a:avLst>
          </a:prstGeom>
          <a:solidFill>
            <a:srgbClr val="F3F8F5"/>
          </a:solidFill>
          <a:ln/>
        </p:spPr>
      </p:sp>
      <p:sp>
        <p:nvSpPr>
          <p:cNvPr id="9" name="Text 7"/>
          <p:cNvSpPr/>
          <p:nvPr/>
        </p:nvSpPr>
        <p:spPr>
          <a:xfrm>
            <a:off x="3670300" y="28956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SCOPE</a:t>
            </a:r>
            <a:endParaRPr lang="en-US" sz="1200" dirty="0"/>
          </a:p>
        </p:txBody>
      </p:sp>
      <p:sp>
        <p:nvSpPr>
          <p:cNvPr id="10" name="Text 8"/>
          <p:cNvSpPr/>
          <p:nvPr/>
        </p:nvSpPr>
        <p:spPr>
          <a:xfrm>
            <a:off x="3670300" y="3159761"/>
            <a:ext cx="2236851"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7201A"/>
                </a:solidFill>
                <a:latin typeface="Arial" pitchFamily="34" charset="0"/>
                <a:ea typeface="Arial" pitchFamily="34" charset="-122"/>
                <a:cs typeface="Arial" pitchFamily="34" charset="-120"/>
              </a:rPr>
              <a:t>Local repositories only</a:t>
            </a:r>
            <a:endParaRPr lang="en-US" sz="1600" dirty="0"/>
          </a:p>
        </p:txBody>
      </p:sp>
      <p:sp>
        <p:nvSpPr>
          <p:cNvPr id="11" name="Shape 9"/>
          <p:cNvSpPr/>
          <p:nvPr/>
        </p:nvSpPr>
        <p:spPr>
          <a:xfrm>
            <a:off x="6172200" y="2743200"/>
            <a:ext cx="2527300" cy="1076960"/>
          </a:xfrm>
          <a:prstGeom prst="roundRect">
            <a:avLst>
              <a:gd name="adj" fmla="val 9434"/>
            </a:avLst>
          </a:prstGeom>
          <a:solidFill>
            <a:srgbClr val="F3F8F5"/>
          </a:solidFill>
          <a:ln/>
        </p:spPr>
      </p:sp>
      <p:sp>
        <p:nvSpPr>
          <p:cNvPr id="12" name="Text 10"/>
          <p:cNvSpPr/>
          <p:nvPr/>
        </p:nvSpPr>
        <p:spPr>
          <a:xfrm>
            <a:off x="6350000" y="28956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PURPOSE</a:t>
            </a:r>
            <a:endParaRPr lang="en-US" sz="1200" dirty="0"/>
          </a:p>
        </p:txBody>
      </p:sp>
      <p:sp>
        <p:nvSpPr>
          <p:cNvPr id="13" name="Text 11"/>
          <p:cNvSpPr/>
          <p:nvPr/>
        </p:nvSpPr>
        <p:spPr>
          <a:xfrm>
            <a:off x="6350000" y="3159761"/>
            <a:ext cx="2236851"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7201A"/>
                </a:solidFill>
                <a:latin typeface="Arial" pitchFamily="34" charset="0"/>
                <a:ea typeface="Arial" pitchFamily="34" charset="-122"/>
                <a:cs typeface="Arial" pitchFamily="34" charset="-120"/>
              </a:rPr>
              <a:t>Educational implementation</a:t>
            </a:r>
            <a:endParaRPr lang="en-US" sz="1600" dirty="0"/>
          </a:p>
        </p:txBody>
      </p:sp>
      <p:sp>
        <p:nvSpPr>
          <p:cNvPr id="14" name="Shape 12"/>
          <p:cNvSpPr/>
          <p:nvPr/>
        </p:nvSpPr>
        <p:spPr>
          <a:xfrm>
            <a:off x="8851900" y="2743200"/>
            <a:ext cx="2527300" cy="1076960"/>
          </a:xfrm>
          <a:prstGeom prst="roundRect">
            <a:avLst>
              <a:gd name="adj" fmla="val 9434"/>
            </a:avLst>
          </a:prstGeom>
          <a:solidFill>
            <a:srgbClr val="F3F8F5"/>
          </a:solidFill>
          <a:ln/>
        </p:spPr>
      </p:sp>
      <p:sp>
        <p:nvSpPr>
          <p:cNvPr id="15" name="Text 13"/>
          <p:cNvSpPr/>
          <p:nvPr/>
        </p:nvSpPr>
        <p:spPr>
          <a:xfrm>
            <a:off x="9029700" y="28956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COMPATIBILITY</a:t>
            </a:r>
            <a:endParaRPr lang="en-US" sz="1200" dirty="0"/>
          </a:p>
        </p:txBody>
      </p:sp>
      <p:sp>
        <p:nvSpPr>
          <p:cNvPr id="16" name="Text 14"/>
          <p:cNvSpPr/>
          <p:nvPr/>
        </p:nvSpPr>
        <p:spPr>
          <a:xfrm>
            <a:off x="9029700" y="3159761"/>
            <a:ext cx="2236851"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7201A"/>
                </a:solidFill>
                <a:latin typeface="Arial" pitchFamily="34" charset="0"/>
                <a:ea typeface="Arial" pitchFamily="34" charset="-122"/>
                <a:cs typeface="Arial" pitchFamily="34" charset="-120"/>
              </a:rPr>
              <a:t>Git-inspired, not fully Git-compatible</a:t>
            </a:r>
            <a:endParaRPr lang="en-US" sz="1600" dirty="0"/>
          </a:p>
        </p:txBody>
      </p:sp>
      <p:pic>
        <p:nvPicPr>
          <p:cNvPr id="17"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18" name="Text 15"/>
          <p:cNvSpPr/>
          <p:nvPr/>
        </p:nvSpPr>
        <p:spPr>
          <a:xfrm>
            <a:off x="1193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F2EA"/>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19" name="Text 16"/>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0F2EA"/>
                </a:solidFill>
                <a:latin typeface="Arial" pitchFamily="34" charset="0"/>
                <a:ea typeface="Arial" pitchFamily="34" charset="-122"/>
                <a:cs typeface="Arial" pitchFamily="34" charset="-120"/>
              </a:rPr>
              <a:t>Loki VCS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A · INTRODUCTION AND OVERVIEW</a:t>
            </a:r>
            <a:endParaRPr lang="en-US" sz="1200" dirty="0"/>
          </a:p>
        </p:txBody>
      </p:sp>
      <p:sp>
        <p:nvSpPr>
          <p:cNvPr id="3" name="Text 1"/>
          <p:cNvSpPr>
            <a:spLocks noGrp="1"/>
          </p:cNvSpPr>
          <p:nvPr>
            <p:ph type="title"/>
          </p:nvPr>
        </p:nvSpPr>
        <p:spPr>
          <a:xfrm>
            <a:off x="812800" y="873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Project Objectives</a:t>
            </a:r>
            <a:endParaRPr lang="en-US" sz="3200" dirty="0"/>
          </a:p>
        </p:txBody>
      </p:sp>
      <p:sp>
        <p:nvSpPr>
          <p:cNvPr id="4" name="Shape 2"/>
          <p:cNvSpPr/>
          <p:nvPr/>
        </p:nvSpPr>
        <p:spPr>
          <a:xfrm>
            <a:off x="819150" y="1530350"/>
            <a:ext cx="3424714" cy="1391920"/>
          </a:xfrm>
          <a:prstGeom prst="roundRect">
            <a:avLst>
              <a:gd name="adj" fmla="val 6843"/>
            </a:avLst>
          </a:prstGeom>
          <a:solidFill>
            <a:srgbClr val="FBFCFE"/>
          </a:solidFill>
          <a:ln w="12700">
            <a:solidFill>
              <a:srgbClr val="C7D8CE"/>
            </a:solidFill>
            <a:prstDash val="solid"/>
          </a:ln>
        </p:spPr>
      </p:sp>
      <p:pic>
        <p:nvPicPr>
          <p:cNvPr id="5" name="Image 0" descr="Home"/>
          <p:cNvPicPr>
            <a:picLocks noChangeAspect="1"/>
          </p:cNvPicPr>
          <p:nvPr/>
        </p:nvPicPr>
        <p:blipFill>
          <a:blip r:embed="rId3"/>
          <a:srcRect/>
          <a:stretch/>
        </p:blipFill>
        <p:spPr>
          <a:xfrm>
            <a:off x="1000760" y="1686561"/>
            <a:ext cx="279400" cy="279400"/>
          </a:xfrm>
          <a:prstGeom prst="rect">
            <a:avLst/>
          </a:prstGeom>
        </p:spPr>
      </p:pic>
      <p:sp>
        <p:nvSpPr>
          <p:cNvPr id="6" name="Text 3"/>
          <p:cNvSpPr/>
          <p:nvPr/>
        </p:nvSpPr>
        <p:spPr>
          <a:xfrm>
            <a:off x="1000760" y="2029461"/>
            <a:ext cx="315333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Repository initialization</a:t>
            </a:r>
            <a:endParaRPr lang="en-US" sz="1600" dirty="0"/>
          </a:p>
        </p:txBody>
      </p:sp>
      <p:sp>
        <p:nvSpPr>
          <p:cNvPr id="7" name="Text 4"/>
          <p:cNvSpPr/>
          <p:nvPr/>
        </p:nvSpPr>
        <p:spPr>
          <a:xfrm>
            <a:off x="1000760" y="2336800"/>
            <a:ext cx="3153339"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Create a local repository and its .loki metadata.</a:t>
            </a:r>
            <a:endParaRPr lang="en-US" sz="1300" dirty="0"/>
          </a:p>
        </p:txBody>
      </p:sp>
      <p:sp>
        <p:nvSpPr>
          <p:cNvPr id="8" name="Shape 5"/>
          <p:cNvSpPr/>
          <p:nvPr/>
        </p:nvSpPr>
        <p:spPr>
          <a:xfrm>
            <a:off x="4383564" y="1530350"/>
            <a:ext cx="3424793" cy="1391920"/>
          </a:xfrm>
          <a:prstGeom prst="roundRect">
            <a:avLst>
              <a:gd name="adj" fmla="val 6843"/>
            </a:avLst>
          </a:prstGeom>
          <a:solidFill>
            <a:srgbClr val="FBFCFE"/>
          </a:solidFill>
          <a:ln w="12700">
            <a:solidFill>
              <a:srgbClr val="C7D8CE"/>
            </a:solidFill>
            <a:prstDash val="solid"/>
          </a:ln>
        </p:spPr>
      </p:sp>
      <p:pic>
        <p:nvPicPr>
          <p:cNvPr id="9" name="Image 1" descr="Check"/>
          <p:cNvPicPr>
            <a:picLocks noChangeAspect="1"/>
          </p:cNvPicPr>
          <p:nvPr/>
        </p:nvPicPr>
        <p:blipFill>
          <a:blip r:embed="rId4"/>
          <a:srcRect/>
          <a:stretch/>
        </p:blipFill>
        <p:spPr>
          <a:xfrm>
            <a:off x="4565174" y="1686561"/>
            <a:ext cx="279400" cy="279400"/>
          </a:xfrm>
          <a:prstGeom prst="rect">
            <a:avLst/>
          </a:prstGeom>
        </p:spPr>
      </p:pic>
      <p:sp>
        <p:nvSpPr>
          <p:cNvPr id="10" name="Text 6"/>
          <p:cNvSpPr/>
          <p:nvPr/>
        </p:nvSpPr>
        <p:spPr>
          <a:xfrm>
            <a:off x="4565174" y="2029461"/>
            <a:ext cx="31534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Staging</a:t>
            </a:r>
            <a:endParaRPr lang="en-US" sz="1600" dirty="0"/>
          </a:p>
        </p:txBody>
      </p:sp>
      <p:sp>
        <p:nvSpPr>
          <p:cNvPr id="11" name="Text 7"/>
          <p:cNvSpPr/>
          <p:nvPr/>
        </p:nvSpPr>
        <p:spPr>
          <a:xfrm>
            <a:off x="4565174" y="2336800"/>
            <a:ext cx="315342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Snapshot files as blobs and record them in an index.</a:t>
            </a:r>
            <a:endParaRPr lang="en-US" sz="1300" dirty="0"/>
          </a:p>
        </p:txBody>
      </p:sp>
      <p:sp>
        <p:nvSpPr>
          <p:cNvPr id="12" name="Shape 8"/>
          <p:cNvSpPr/>
          <p:nvPr/>
        </p:nvSpPr>
        <p:spPr>
          <a:xfrm>
            <a:off x="7948057" y="1530350"/>
            <a:ext cx="3424793" cy="1391920"/>
          </a:xfrm>
          <a:prstGeom prst="roundRect">
            <a:avLst>
              <a:gd name="adj" fmla="val 6843"/>
            </a:avLst>
          </a:prstGeom>
          <a:solidFill>
            <a:srgbClr val="FBFCFE"/>
          </a:solidFill>
          <a:ln w="12700">
            <a:solidFill>
              <a:srgbClr val="C7D8CE"/>
            </a:solidFill>
            <a:prstDash val="solid"/>
          </a:ln>
        </p:spPr>
      </p:sp>
      <p:pic>
        <p:nvPicPr>
          <p:cNvPr id="13" name="Image 2" descr="CheckCircle"/>
          <p:cNvPicPr>
            <a:picLocks noChangeAspect="1"/>
          </p:cNvPicPr>
          <p:nvPr/>
        </p:nvPicPr>
        <p:blipFill>
          <a:blip r:embed="rId5"/>
          <a:srcRect/>
          <a:stretch/>
        </p:blipFill>
        <p:spPr>
          <a:xfrm>
            <a:off x="8129667" y="1686561"/>
            <a:ext cx="279400" cy="279400"/>
          </a:xfrm>
          <a:prstGeom prst="rect">
            <a:avLst/>
          </a:prstGeom>
        </p:spPr>
      </p:pic>
      <p:sp>
        <p:nvSpPr>
          <p:cNvPr id="14" name="Text 9"/>
          <p:cNvSpPr/>
          <p:nvPr/>
        </p:nvSpPr>
        <p:spPr>
          <a:xfrm>
            <a:off x="8129667" y="2029461"/>
            <a:ext cx="31534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Commits</a:t>
            </a:r>
            <a:endParaRPr lang="en-US" sz="1600" dirty="0"/>
          </a:p>
        </p:txBody>
      </p:sp>
      <p:sp>
        <p:nvSpPr>
          <p:cNvPr id="15" name="Text 10"/>
          <p:cNvSpPr/>
          <p:nvPr/>
        </p:nvSpPr>
        <p:spPr>
          <a:xfrm>
            <a:off x="8129667" y="2336800"/>
            <a:ext cx="315342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Turn staged content into commit and tree objects.</a:t>
            </a:r>
            <a:endParaRPr lang="en-US" sz="1300" dirty="0"/>
          </a:p>
        </p:txBody>
      </p:sp>
      <p:sp>
        <p:nvSpPr>
          <p:cNvPr id="16" name="Shape 11"/>
          <p:cNvSpPr/>
          <p:nvPr/>
        </p:nvSpPr>
        <p:spPr>
          <a:xfrm>
            <a:off x="819150" y="3061971"/>
            <a:ext cx="3424714" cy="1391920"/>
          </a:xfrm>
          <a:prstGeom prst="roundRect">
            <a:avLst>
              <a:gd name="adj" fmla="val 6843"/>
            </a:avLst>
          </a:prstGeom>
          <a:solidFill>
            <a:srgbClr val="FBFCFE"/>
          </a:solidFill>
          <a:ln w="12700">
            <a:solidFill>
              <a:srgbClr val="C7D8CE"/>
            </a:solidFill>
            <a:prstDash val="solid"/>
          </a:ln>
        </p:spPr>
      </p:sp>
      <p:pic>
        <p:nvPicPr>
          <p:cNvPr id="17" name="Image 3" descr="Database"/>
          <p:cNvPicPr>
            <a:picLocks noChangeAspect="1"/>
          </p:cNvPicPr>
          <p:nvPr/>
        </p:nvPicPr>
        <p:blipFill>
          <a:blip r:embed="rId6"/>
          <a:srcRect/>
          <a:stretch/>
        </p:blipFill>
        <p:spPr>
          <a:xfrm>
            <a:off x="1000760" y="3218182"/>
            <a:ext cx="279400" cy="279400"/>
          </a:xfrm>
          <a:prstGeom prst="rect">
            <a:avLst/>
          </a:prstGeom>
        </p:spPr>
      </p:pic>
      <p:sp>
        <p:nvSpPr>
          <p:cNvPr id="18" name="Text 12"/>
          <p:cNvSpPr/>
          <p:nvPr/>
        </p:nvSpPr>
        <p:spPr>
          <a:xfrm>
            <a:off x="1000760" y="3561082"/>
            <a:ext cx="315333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Object storage</a:t>
            </a:r>
            <a:endParaRPr lang="en-US" sz="1600" dirty="0"/>
          </a:p>
        </p:txBody>
      </p:sp>
      <p:sp>
        <p:nvSpPr>
          <p:cNvPr id="19" name="Text 13"/>
          <p:cNvSpPr/>
          <p:nvPr/>
        </p:nvSpPr>
        <p:spPr>
          <a:xfrm>
            <a:off x="1000760" y="3868421"/>
            <a:ext cx="3153339"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Store objects by SHA-1 identifier, compressed with zlib.</a:t>
            </a:r>
            <a:endParaRPr lang="en-US" sz="1300" dirty="0"/>
          </a:p>
        </p:txBody>
      </p:sp>
      <p:sp>
        <p:nvSpPr>
          <p:cNvPr id="20" name="Shape 14"/>
          <p:cNvSpPr/>
          <p:nvPr/>
        </p:nvSpPr>
        <p:spPr>
          <a:xfrm>
            <a:off x="4383564" y="3061971"/>
            <a:ext cx="3424793" cy="1391920"/>
          </a:xfrm>
          <a:prstGeom prst="roundRect">
            <a:avLst>
              <a:gd name="adj" fmla="val 6843"/>
            </a:avLst>
          </a:prstGeom>
          <a:solidFill>
            <a:srgbClr val="FBFCFE"/>
          </a:solidFill>
          <a:ln w="12700">
            <a:solidFill>
              <a:srgbClr val="C7D8CE"/>
            </a:solidFill>
            <a:prstDash val="solid"/>
          </a:ln>
        </p:spPr>
      </p:sp>
      <p:pic>
        <p:nvPicPr>
          <p:cNvPr id="21" name="Image 4" descr="Book"/>
          <p:cNvPicPr>
            <a:picLocks noChangeAspect="1"/>
          </p:cNvPicPr>
          <p:nvPr/>
        </p:nvPicPr>
        <p:blipFill>
          <a:blip r:embed="rId7"/>
          <a:srcRect/>
          <a:stretch/>
        </p:blipFill>
        <p:spPr>
          <a:xfrm>
            <a:off x="4565174" y="3218182"/>
            <a:ext cx="279400" cy="279400"/>
          </a:xfrm>
          <a:prstGeom prst="rect">
            <a:avLst/>
          </a:prstGeom>
        </p:spPr>
      </p:pic>
      <p:sp>
        <p:nvSpPr>
          <p:cNvPr id="22" name="Text 15"/>
          <p:cNvSpPr/>
          <p:nvPr/>
        </p:nvSpPr>
        <p:spPr>
          <a:xfrm>
            <a:off x="4565174" y="3561082"/>
            <a:ext cx="31534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History and references</a:t>
            </a:r>
            <a:endParaRPr lang="en-US" sz="1600" dirty="0"/>
          </a:p>
        </p:txBody>
      </p:sp>
      <p:sp>
        <p:nvSpPr>
          <p:cNvPr id="23" name="Text 16"/>
          <p:cNvSpPr/>
          <p:nvPr/>
        </p:nvSpPr>
        <p:spPr>
          <a:xfrm>
            <a:off x="4565174" y="3868421"/>
            <a:ext cx="3236833"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Branches, tags and the HEAD reference.</a:t>
            </a:r>
            <a:endParaRPr lang="en-US" sz="1300" dirty="0"/>
          </a:p>
        </p:txBody>
      </p:sp>
      <p:sp>
        <p:nvSpPr>
          <p:cNvPr id="24" name="Shape 17"/>
          <p:cNvSpPr/>
          <p:nvPr/>
        </p:nvSpPr>
        <p:spPr>
          <a:xfrm>
            <a:off x="7948057" y="3061971"/>
            <a:ext cx="3424793" cy="1391920"/>
          </a:xfrm>
          <a:prstGeom prst="roundRect">
            <a:avLst>
              <a:gd name="adj" fmla="val 6843"/>
            </a:avLst>
          </a:prstGeom>
          <a:solidFill>
            <a:srgbClr val="FBFCFE"/>
          </a:solidFill>
          <a:ln w="12700">
            <a:solidFill>
              <a:srgbClr val="C7D8CE"/>
            </a:solidFill>
            <a:prstDash val="solid"/>
          </a:ln>
        </p:spPr>
      </p:sp>
      <p:pic>
        <p:nvPicPr>
          <p:cNvPr id="25" name="Image 5" descr="Tool"/>
          <p:cNvPicPr>
            <a:picLocks noChangeAspect="1"/>
          </p:cNvPicPr>
          <p:nvPr/>
        </p:nvPicPr>
        <p:blipFill>
          <a:blip r:embed="rId8"/>
          <a:srcRect/>
          <a:stretch/>
        </p:blipFill>
        <p:spPr>
          <a:xfrm>
            <a:off x="8129667" y="3218182"/>
            <a:ext cx="279400" cy="279400"/>
          </a:xfrm>
          <a:prstGeom prst="rect">
            <a:avLst/>
          </a:prstGeom>
        </p:spPr>
      </p:pic>
      <p:sp>
        <p:nvSpPr>
          <p:cNvPr id="26" name="Text 18"/>
          <p:cNvSpPr/>
          <p:nvPr/>
        </p:nvSpPr>
        <p:spPr>
          <a:xfrm>
            <a:off x="8129667" y="3561082"/>
            <a:ext cx="31534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Diff, merge and revert</a:t>
            </a:r>
            <a:endParaRPr lang="en-US" sz="1600" dirty="0"/>
          </a:p>
        </p:txBody>
      </p:sp>
      <p:sp>
        <p:nvSpPr>
          <p:cNvPr id="27" name="Text 19"/>
          <p:cNvSpPr/>
          <p:nvPr/>
        </p:nvSpPr>
        <p:spPr>
          <a:xfrm>
            <a:off x="8129667" y="3868421"/>
            <a:ext cx="3153420"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Compare, combine and undo changes within one local repository.</a:t>
            </a:r>
            <a:endParaRPr lang="en-US" sz="1300" dirty="0"/>
          </a:p>
        </p:txBody>
      </p:sp>
      <p:sp>
        <p:nvSpPr>
          <p:cNvPr id="28" name="Text 20"/>
          <p:cNvSpPr/>
          <p:nvPr/>
        </p:nvSpPr>
        <p:spPr>
          <a:xfrm>
            <a:off x="812800" y="46634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Summarized from the architecture documentation; the written project report may phrase the objectives differently.</a:t>
            </a:r>
            <a:endParaRPr lang="en-US" sz="1200" dirty="0"/>
          </a:p>
        </p:txBody>
      </p:sp>
      <p:pic>
        <p:nvPicPr>
          <p:cNvPr id="29" name="Image 6" descr="Loki logo"/>
          <p:cNvPicPr>
            <a:picLocks noChangeAspect="1"/>
          </p:cNvPicPr>
          <p:nvPr/>
        </p:nvPicPr>
        <p:blipFill>
          <a:blip r:embed="rId9"/>
          <a:srcRect t="88" b="88"/>
          <a:stretch/>
        </p:blipFill>
        <p:spPr>
          <a:xfrm>
            <a:off x="812800" y="6159500"/>
            <a:ext cx="279400" cy="368300"/>
          </a:xfrm>
          <a:prstGeom prst="roundRect">
            <a:avLst>
              <a:gd name="adj" fmla="val 18182"/>
            </a:avLst>
          </a:prstGeom>
        </p:spPr>
      </p:pic>
      <p:sp>
        <p:nvSpPr>
          <p:cNvPr id="30" name="Text 21"/>
          <p:cNvSpPr/>
          <p:nvPr/>
        </p:nvSpPr>
        <p:spPr>
          <a:xfrm>
            <a:off x="1193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1" name="Text 22"/>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A · INTRODUCTION AND OVERVIEW</a:t>
            </a:r>
            <a:endParaRPr lang="en-US" sz="1200" dirty="0"/>
          </a:p>
        </p:txBody>
      </p:sp>
      <p:sp>
        <p:nvSpPr>
          <p:cNvPr id="3" name="Text 1"/>
          <p:cNvSpPr>
            <a:spLocks noGrp="1"/>
          </p:cNvSpPr>
          <p:nvPr>
            <p:ph type="title"/>
          </p:nvPr>
        </p:nvSpPr>
        <p:spPr>
          <a:xfrm>
            <a:off x="812800" y="873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Key Features: Implemented Commands</a:t>
            </a:r>
            <a:endParaRPr lang="en-US" sz="3200" dirty="0"/>
          </a:p>
        </p:txBody>
      </p:sp>
      <p:sp>
        <p:nvSpPr>
          <p:cNvPr id="4" name="Shape 2"/>
          <p:cNvSpPr/>
          <p:nvPr/>
        </p:nvSpPr>
        <p:spPr>
          <a:xfrm>
            <a:off x="819150" y="1530350"/>
            <a:ext cx="2019300" cy="1013460"/>
          </a:xfrm>
          <a:prstGeom prst="roundRect">
            <a:avLst>
              <a:gd name="adj" fmla="val 8145"/>
            </a:avLst>
          </a:prstGeom>
          <a:solidFill>
            <a:srgbClr val="FBFCFE"/>
          </a:solidFill>
          <a:ln w="12700">
            <a:solidFill>
              <a:srgbClr val="C7D8CE"/>
            </a:solidFill>
            <a:prstDash val="solid"/>
          </a:ln>
        </p:spPr>
      </p:sp>
      <p:sp>
        <p:nvSpPr>
          <p:cNvPr id="5" name="Text 3"/>
          <p:cNvSpPr/>
          <p:nvPr/>
        </p:nvSpPr>
        <p:spPr>
          <a:xfrm>
            <a:off x="937260" y="162306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init</a:t>
            </a:r>
            <a:endParaRPr lang="en-US" sz="1300" dirty="0"/>
          </a:p>
        </p:txBody>
      </p:sp>
      <p:sp>
        <p:nvSpPr>
          <p:cNvPr id="6" name="Text 4"/>
          <p:cNvSpPr/>
          <p:nvPr/>
        </p:nvSpPr>
        <p:spPr>
          <a:xfrm>
            <a:off x="937260" y="1879600"/>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Initialize a repository in the current directory</a:t>
            </a:r>
            <a:endParaRPr lang="en-US" sz="1200" dirty="0"/>
          </a:p>
        </p:txBody>
      </p:sp>
      <p:sp>
        <p:nvSpPr>
          <p:cNvPr id="7" name="Shape 5"/>
          <p:cNvSpPr/>
          <p:nvPr/>
        </p:nvSpPr>
        <p:spPr>
          <a:xfrm>
            <a:off x="2952750" y="1530350"/>
            <a:ext cx="2019300" cy="1013460"/>
          </a:xfrm>
          <a:prstGeom prst="roundRect">
            <a:avLst>
              <a:gd name="adj" fmla="val 8145"/>
            </a:avLst>
          </a:prstGeom>
          <a:solidFill>
            <a:srgbClr val="FBFCFE"/>
          </a:solidFill>
          <a:ln w="12700">
            <a:solidFill>
              <a:srgbClr val="C7D8CE"/>
            </a:solidFill>
            <a:prstDash val="solid"/>
          </a:ln>
        </p:spPr>
      </p:sp>
      <p:sp>
        <p:nvSpPr>
          <p:cNvPr id="8" name="Text 6"/>
          <p:cNvSpPr/>
          <p:nvPr/>
        </p:nvSpPr>
        <p:spPr>
          <a:xfrm>
            <a:off x="3070860" y="162306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add</a:t>
            </a:r>
            <a:endParaRPr lang="en-US" sz="1300" dirty="0"/>
          </a:p>
        </p:txBody>
      </p:sp>
      <p:sp>
        <p:nvSpPr>
          <p:cNvPr id="9" name="Text 7"/>
          <p:cNvSpPr/>
          <p:nvPr/>
        </p:nvSpPr>
        <p:spPr>
          <a:xfrm>
            <a:off x="3070860" y="1879600"/>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Stage one or more files for commit</a:t>
            </a:r>
            <a:endParaRPr lang="en-US" sz="1200" dirty="0"/>
          </a:p>
        </p:txBody>
      </p:sp>
      <p:sp>
        <p:nvSpPr>
          <p:cNvPr id="10" name="Shape 8"/>
          <p:cNvSpPr/>
          <p:nvPr/>
        </p:nvSpPr>
        <p:spPr>
          <a:xfrm>
            <a:off x="5086350" y="1530350"/>
            <a:ext cx="2019300" cy="1013460"/>
          </a:xfrm>
          <a:prstGeom prst="roundRect">
            <a:avLst>
              <a:gd name="adj" fmla="val 8145"/>
            </a:avLst>
          </a:prstGeom>
          <a:solidFill>
            <a:srgbClr val="FBFCFE"/>
          </a:solidFill>
          <a:ln w="12700">
            <a:solidFill>
              <a:srgbClr val="C7D8CE"/>
            </a:solidFill>
            <a:prstDash val="solid"/>
          </a:ln>
        </p:spPr>
      </p:sp>
      <p:sp>
        <p:nvSpPr>
          <p:cNvPr id="11" name="Text 9"/>
          <p:cNvSpPr/>
          <p:nvPr/>
        </p:nvSpPr>
        <p:spPr>
          <a:xfrm>
            <a:off x="5204460" y="162306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status</a:t>
            </a:r>
            <a:endParaRPr lang="en-US" sz="1300" dirty="0"/>
          </a:p>
        </p:txBody>
      </p:sp>
      <p:sp>
        <p:nvSpPr>
          <p:cNvPr id="12" name="Text 10"/>
          <p:cNvSpPr/>
          <p:nvPr/>
        </p:nvSpPr>
        <p:spPr>
          <a:xfrm>
            <a:off x="5204460" y="1879600"/>
            <a:ext cx="1836573"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Show tracked, staged, modified, deleted and untracked files</a:t>
            </a:r>
            <a:endParaRPr lang="en-US" sz="1200" dirty="0"/>
          </a:p>
        </p:txBody>
      </p:sp>
      <p:sp>
        <p:nvSpPr>
          <p:cNvPr id="13" name="Shape 11"/>
          <p:cNvSpPr/>
          <p:nvPr/>
        </p:nvSpPr>
        <p:spPr>
          <a:xfrm>
            <a:off x="7219950" y="1530350"/>
            <a:ext cx="2019300" cy="1013460"/>
          </a:xfrm>
          <a:prstGeom prst="roundRect">
            <a:avLst>
              <a:gd name="adj" fmla="val 8145"/>
            </a:avLst>
          </a:prstGeom>
          <a:solidFill>
            <a:srgbClr val="FBFCFE"/>
          </a:solidFill>
          <a:ln w="12700">
            <a:solidFill>
              <a:srgbClr val="C7D8CE"/>
            </a:solidFill>
            <a:prstDash val="solid"/>
          </a:ln>
        </p:spPr>
      </p:sp>
      <p:sp>
        <p:nvSpPr>
          <p:cNvPr id="14" name="Text 12"/>
          <p:cNvSpPr/>
          <p:nvPr/>
        </p:nvSpPr>
        <p:spPr>
          <a:xfrm>
            <a:off x="7338060" y="162306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diff</a:t>
            </a:r>
            <a:endParaRPr lang="en-US" sz="1300" dirty="0"/>
          </a:p>
        </p:txBody>
      </p:sp>
      <p:sp>
        <p:nvSpPr>
          <p:cNvPr id="15" name="Text 13"/>
          <p:cNvSpPr/>
          <p:nvPr/>
        </p:nvSpPr>
        <p:spPr>
          <a:xfrm>
            <a:off x="7338060" y="1879600"/>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Working tree vs index; --staged: index vs HEAD</a:t>
            </a:r>
            <a:endParaRPr lang="en-US" sz="1200" dirty="0"/>
          </a:p>
        </p:txBody>
      </p:sp>
      <p:sp>
        <p:nvSpPr>
          <p:cNvPr id="16" name="Shape 14"/>
          <p:cNvSpPr/>
          <p:nvPr/>
        </p:nvSpPr>
        <p:spPr>
          <a:xfrm>
            <a:off x="9353550" y="1530350"/>
            <a:ext cx="2019300" cy="1013460"/>
          </a:xfrm>
          <a:prstGeom prst="roundRect">
            <a:avLst>
              <a:gd name="adj" fmla="val 8145"/>
            </a:avLst>
          </a:prstGeom>
          <a:solidFill>
            <a:srgbClr val="FBFCFE"/>
          </a:solidFill>
          <a:ln w="12700">
            <a:solidFill>
              <a:srgbClr val="C7D8CE"/>
            </a:solidFill>
            <a:prstDash val="solid"/>
          </a:ln>
        </p:spPr>
      </p:sp>
      <p:sp>
        <p:nvSpPr>
          <p:cNvPr id="17" name="Text 15"/>
          <p:cNvSpPr/>
          <p:nvPr/>
        </p:nvSpPr>
        <p:spPr>
          <a:xfrm>
            <a:off x="9471660" y="162306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commit</a:t>
            </a:r>
            <a:endParaRPr lang="en-US" sz="1300" dirty="0"/>
          </a:p>
        </p:txBody>
      </p:sp>
      <p:sp>
        <p:nvSpPr>
          <p:cNvPr id="18" name="Text 16"/>
          <p:cNvSpPr/>
          <p:nvPr/>
        </p:nvSpPr>
        <p:spPr>
          <a:xfrm>
            <a:off x="9471660" y="1879600"/>
            <a:ext cx="1836573"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Commit the staged snapshot with author metadata (-m)</a:t>
            </a:r>
            <a:endParaRPr lang="en-US" sz="1200" dirty="0"/>
          </a:p>
        </p:txBody>
      </p:sp>
      <p:sp>
        <p:nvSpPr>
          <p:cNvPr id="19" name="Shape 17"/>
          <p:cNvSpPr/>
          <p:nvPr/>
        </p:nvSpPr>
        <p:spPr>
          <a:xfrm>
            <a:off x="819150" y="2658111"/>
            <a:ext cx="2019300" cy="822960"/>
          </a:xfrm>
          <a:prstGeom prst="roundRect">
            <a:avLst>
              <a:gd name="adj" fmla="val 10031"/>
            </a:avLst>
          </a:prstGeom>
          <a:solidFill>
            <a:srgbClr val="FBFCFE"/>
          </a:solidFill>
          <a:ln w="12700">
            <a:solidFill>
              <a:srgbClr val="C7D8CE"/>
            </a:solidFill>
            <a:prstDash val="solid"/>
          </a:ln>
        </p:spPr>
      </p:sp>
      <p:sp>
        <p:nvSpPr>
          <p:cNvPr id="20" name="Text 18"/>
          <p:cNvSpPr/>
          <p:nvPr/>
        </p:nvSpPr>
        <p:spPr>
          <a:xfrm>
            <a:off x="937260" y="275082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log</a:t>
            </a:r>
            <a:endParaRPr lang="en-US" sz="1300" dirty="0"/>
          </a:p>
        </p:txBody>
      </p:sp>
      <p:sp>
        <p:nvSpPr>
          <p:cNvPr id="21" name="Text 19"/>
          <p:cNvSpPr/>
          <p:nvPr/>
        </p:nvSpPr>
        <p:spPr>
          <a:xfrm>
            <a:off x="937260" y="300736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Show the commit history stored in the repository</a:t>
            </a:r>
            <a:endParaRPr lang="en-US" sz="1200" dirty="0"/>
          </a:p>
        </p:txBody>
      </p:sp>
      <p:sp>
        <p:nvSpPr>
          <p:cNvPr id="22" name="Shape 20"/>
          <p:cNvSpPr/>
          <p:nvPr/>
        </p:nvSpPr>
        <p:spPr>
          <a:xfrm>
            <a:off x="2952750" y="2658111"/>
            <a:ext cx="2019300" cy="822960"/>
          </a:xfrm>
          <a:prstGeom prst="roundRect">
            <a:avLst>
              <a:gd name="adj" fmla="val 10031"/>
            </a:avLst>
          </a:prstGeom>
          <a:solidFill>
            <a:srgbClr val="FBFCFE"/>
          </a:solidFill>
          <a:ln w="12700">
            <a:solidFill>
              <a:srgbClr val="C7D8CE"/>
            </a:solidFill>
            <a:prstDash val="solid"/>
          </a:ln>
        </p:spPr>
      </p:sp>
      <p:sp>
        <p:nvSpPr>
          <p:cNvPr id="23" name="Text 21"/>
          <p:cNvSpPr/>
          <p:nvPr/>
        </p:nvSpPr>
        <p:spPr>
          <a:xfrm>
            <a:off x="3070860" y="275082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branch</a:t>
            </a:r>
            <a:endParaRPr lang="en-US" sz="1300" dirty="0"/>
          </a:p>
        </p:txBody>
      </p:sp>
      <p:sp>
        <p:nvSpPr>
          <p:cNvPr id="24" name="Text 22"/>
          <p:cNvSpPr/>
          <p:nvPr/>
        </p:nvSpPr>
        <p:spPr>
          <a:xfrm>
            <a:off x="3070860" y="3007361"/>
            <a:ext cx="183657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Create or list branches</a:t>
            </a:r>
            <a:endParaRPr lang="en-US" sz="1200" dirty="0"/>
          </a:p>
        </p:txBody>
      </p:sp>
      <p:sp>
        <p:nvSpPr>
          <p:cNvPr id="25" name="Shape 23"/>
          <p:cNvSpPr/>
          <p:nvPr/>
        </p:nvSpPr>
        <p:spPr>
          <a:xfrm>
            <a:off x="5086350" y="2658111"/>
            <a:ext cx="2019300" cy="822960"/>
          </a:xfrm>
          <a:prstGeom prst="roundRect">
            <a:avLst>
              <a:gd name="adj" fmla="val 10031"/>
            </a:avLst>
          </a:prstGeom>
          <a:solidFill>
            <a:srgbClr val="FBFCFE"/>
          </a:solidFill>
          <a:ln w="12700">
            <a:solidFill>
              <a:srgbClr val="C7D8CE"/>
            </a:solidFill>
            <a:prstDash val="solid"/>
          </a:ln>
        </p:spPr>
      </p:sp>
      <p:sp>
        <p:nvSpPr>
          <p:cNvPr id="26" name="Text 24"/>
          <p:cNvSpPr/>
          <p:nvPr/>
        </p:nvSpPr>
        <p:spPr>
          <a:xfrm>
            <a:off x="5204460" y="275082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checkout</a:t>
            </a:r>
            <a:endParaRPr lang="en-US" sz="1300" dirty="0"/>
          </a:p>
        </p:txBody>
      </p:sp>
      <p:sp>
        <p:nvSpPr>
          <p:cNvPr id="27" name="Text 25"/>
          <p:cNvSpPr/>
          <p:nvPr/>
        </p:nvSpPr>
        <p:spPr>
          <a:xfrm>
            <a:off x="5204460" y="300736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Switch to a branch, tag or commit reference</a:t>
            </a:r>
            <a:endParaRPr lang="en-US" sz="1200" dirty="0"/>
          </a:p>
        </p:txBody>
      </p:sp>
      <p:sp>
        <p:nvSpPr>
          <p:cNvPr id="28" name="Shape 26"/>
          <p:cNvSpPr/>
          <p:nvPr/>
        </p:nvSpPr>
        <p:spPr>
          <a:xfrm>
            <a:off x="7219950" y="2658111"/>
            <a:ext cx="2019300" cy="822960"/>
          </a:xfrm>
          <a:prstGeom prst="roundRect">
            <a:avLst>
              <a:gd name="adj" fmla="val 10031"/>
            </a:avLst>
          </a:prstGeom>
          <a:solidFill>
            <a:srgbClr val="FBFCFE"/>
          </a:solidFill>
          <a:ln w="12700">
            <a:solidFill>
              <a:srgbClr val="C7D8CE"/>
            </a:solidFill>
            <a:prstDash val="solid"/>
          </a:ln>
        </p:spPr>
      </p:sp>
      <p:sp>
        <p:nvSpPr>
          <p:cNvPr id="29" name="Text 27"/>
          <p:cNvSpPr/>
          <p:nvPr/>
        </p:nvSpPr>
        <p:spPr>
          <a:xfrm>
            <a:off x="7338060" y="275082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merge</a:t>
            </a:r>
            <a:endParaRPr lang="en-US" sz="1300" dirty="0"/>
          </a:p>
        </p:txBody>
      </p:sp>
      <p:sp>
        <p:nvSpPr>
          <p:cNvPr id="30" name="Text 28"/>
          <p:cNvSpPr/>
          <p:nvPr/>
        </p:nvSpPr>
        <p:spPr>
          <a:xfrm>
            <a:off x="7338060" y="300736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Merge a branch: fast-forward and 3-way flows</a:t>
            </a:r>
            <a:endParaRPr lang="en-US" sz="1200" dirty="0"/>
          </a:p>
        </p:txBody>
      </p:sp>
      <p:sp>
        <p:nvSpPr>
          <p:cNvPr id="31" name="Shape 29"/>
          <p:cNvSpPr/>
          <p:nvPr/>
        </p:nvSpPr>
        <p:spPr>
          <a:xfrm>
            <a:off x="9353550" y="2658111"/>
            <a:ext cx="2019300" cy="822960"/>
          </a:xfrm>
          <a:prstGeom prst="roundRect">
            <a:avLst>
              <a:gd name="adj" fmla="val 10031"/>
            </a:avLst>
          </a:prstGeom>
          <a:solidFill>
            <a:srgbClr val="FBFCFE"/>
          </a:solidFill>
          <a:ln w="12700">
            <a:solidFill>
              <a:srgbClr val="C7D8CE"/>
            </a:solidFill>
            <a:prstDash val="solid"/>
          </a:ln>
        </p:spPr>
      </p:sp>
      <p:sp>
        <p:nvSpPr>
          <p:cNvPr id="32" name="Text 30"/>
          <p:cNvSpPr/>
          <p:nvPr/>
        </p:nvSpPr>
        <p:spPr>
          <a:xfrm>
            <a:off x="9471660" y="2750821"/>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reset</a:t>
            </a:r>
            <a:endParaRPr lang="en-US" sz="1300" dirty="0"/>
          </a:p>
        </p:txBody>
      </p:sp>
      <p:sp>
        <p:nvSpPr>
          <p:cNvPr id="33" name="Text 31"/>
          <p:cNvSpPr/>
          <p:nvPr/>
        </p:nvSpPr>
        <p:spPr>
          <a:xfrm>
            <a:off x="9471660" y="300736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Reset HEAD, index or working tree to a target</a:t>
            </a:r>
            <a:endParaRPr lang="en-US" sz="1200" dirty="0"/>
          </a:p>
        </p:txBody>
      </p:sp>
      <p:sp>
        <p:nvSpPr>
          <p:cNvPr id="34" name="Shape 32"/>
          <p:cNvSpPr/>
          <p:nvPr/>
        </p:nvSpPr>
        <p:spPr>
          <a:xfrm>
            <a:off x="819150" y="3595371"/>
            <a:ext cx="2019300" cy="822960"/>
          </a:xfrm>
          <a:prstGeom prst="roundRect">
            <a:avLst>
              <a:gd name="adj" fmla="val 10031"/>
            </a:avLst>
          </a:prstGeom>
          <a:solidFill>
            <a:srgbClr val="FBFCFE"/>
          </a:solidFill>
          <a:ln w="12700">
            <a:solidFill>
              <a:srgbClr val="C7D8CE"/>
            </a:solidFill>
            <a:prstDash val="solid"/>
          </a:ln>
        </p:spPr>
      </p:sp>
      <p:sp>
        <p:nvSpPr>
          <p:cNvPr id="35" name="Text 33"/>
          <p:cNvSpPr/>
          <p:nvPr/>
        </p:nvSpPr>
        <p:spPr>
          <a:xfrm>
            <a:off x="937260" y="3688082"/>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rm</a:t>
            </a:r>
            <a:endParaRPr lang="en-US" sz="1300" dirty="0"/>
          </a:p>
        </p:txBody>
      </p:sp>
      <p:sp>
        <p:nvSpPr>
          <p:cNvPr id="36" name="Text 34"/>
          <p:cNvSpPr/>
          <p:nvPr/>
        </p:nvSpPr>
        <p:spPr>
          <a:xfrm>
            <a:off x="937260" y="394462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Remove files from the index and working tree</a:t>
            </a:r>
            <a:endParaRPr lang="en-US" sz="1200" dirty="0"/>
          </a:p>
        </p:txBody>
      </p:sp>
      <p:sp>
        <p:nvSpPr>
          <p:cNvPr id="37" name="Shape 35"/>
          <p:cNvSpPr/>
          <p:nvPr/>
        </p:nvSpPr>
        <p:spPr>
          <a:xfrm>
            <a:off x="2952750" y="3595371"/>
            <a:ext cx="2019300" cy="822960"/>
          </a:xfrm>
          <a:prstGeom prst="roundRect">
            <a:avLst>
              <a:gd name="adj" fmla="val 10031"/>
            </a:avLst>
          </a:prstGeom>
          <a:solidFill>
            <a:srgbClr val="FBFCFE"/>
          </a:solidFill>
          <a:ln w="12700">
            <a:solidFill>
              <a:srgbClr val="C7D8CE"/>
            </a:solidFill>
            <a:prstDash val="solid"/>
          </a:ln>
        </p:spPr>
      </p:sp>
      <p:sp>
        <p:nvSpPr>
          <p:cNvPr id="38" name="Text 36"/>
          <p:cNvSpPr/>
          <p:nvPr/>
        </p:nvSpPr>
        <p:spPr>
          <a:xfrm>
            <a:off x="3070860" y="3688082"/>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revert</a:t>
            </a:r>
            <a:endParaRPr lang="en-US" sz="1300" dirty="0"/>
          </a:p>
        </p:txBody>
      </p:sp>
      <p:sp>
        <p:nvSpPr>
          <p:cNvPr id="39" name="Text 37"/>
          <p:cNvSpPr/>
          <p:nvPr/>
        </p:nvSpPr>
        <p:spPr>
          <a:xfrm>
            <a:off x="3070860" y="394462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New commit that reverses an earlier commit</a:t>
            </a:r>
            <a:endParaRPr lang="en-US" sz="1200" dirty="0"/>
          </a:p>
        </p:txBody>
      </p:sp>
      <p:sp>
        <p:nvSpPr>
          <p:cNvPr id="40" name="Shape 38"/>
          <p:cNvSpPr/>
          <p:nvPr/>
        </p:nvSpPr>
        <p:spPr>
          <a:xfrm>
            <a:off x="5086350" y="3595371"/>
            <a:ext cx="2019300" cy="822960"/>
          </a:xfrm>
          <a:prstGeom prst="roundRect">
            <a:avLst>
              <a:gd name="adj" fmla="val 10031"/>
            </a:avLst>
          </a:prstGeom>
          <a:solidFill>
            <a:srgbClr val="FBFCFE"/>
          </a:solidFill>
          <a:ln w="12700">
            <a:solidFill>
              <a:srgbClr val="C7D8CE"/>
            </a:solidFill>
            <a:prstDash val="solid"/>
          </a:ln>
        </p:spPr>
      </p:sp>
      <p:sp>
        <p:nvSpPr>
          <p:cNvPr id="41" name="Text 39"/>
          <p:cNvSpPr/>
          <p:nvPr/>
        </p:nvSpPr>
        <p:spPr>
          <a:xfrm>
            <a:off x="5204460" y="3688082"/>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tag</a:t>
            </a:r>
            <a:endParaRPr lang="en-US" sz="1300" dirty="0"/>
          </a:p>
        </p:txBody>
      </p:sp>
      <p:sp>
        <p:nvSpPr>
          <p:cNvPr id="42" name="Text 40"/>
          <p:cNvSpPr/>
          <p:nvPr/>
        </p:nvSpPr>
        <p:spPr>
          <a:xfrm>
            <a:off x="5204460" y="394462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Create, list, delete or annotate tags</a:t>
            </a:r>
            <a:endParaRPr lang="en-US" sz="1200" dirty="0"/>
          </a:p>
        </p:txBody>
      </p:sp>
      <p:sp>
        <p:nvSpPr>
          <p:cNvPr id="43" name="Shape 41"/>
          <p:cNvSpPr/>
          <p:nvPr/>
        </p:nvSpPr>
        <p:spPr>
          <a:xfrm>
            <a:off x="7219950" y="3595371"/>
            <a:ext cx="2019300" cy="822960"/>
          </a:xfrm>
          <a:prstGeom prst="roundRect">
            <a:avLst>
              <a:gd name="adj" fmla="val 10031"/>
            </a:avLst>
          </a:prstGeom>
          <a:solidFill>
            <a:srgbClr val="FBFCFE"/>
          </a:solidFill>
          <a:ln w="12700">
            <a:solidFill>
              <a:srgbClr val="C7D8CE"/>
            </a:solidFill>
            <a:prstDash val="solid"/>
          </a:ln>
        </p:spPr>
      </p:sp>
      <p:sp>
        <p:nvSpPr>
          <p:cNvPr id="44" name="Text 42"/>
          <p:cNvSpPr/>
          <p:nvPr/>
        </p:nvSpPr>
        <p:spPr>
          <a:xfrm>
            <a:off x="7338060" y="3688082"/>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config</a:t>
            </a:r>
            <a:endParaRPr lang="en-US" sz="1300" dirty="0"/>
          </a:p>
        </p:txBody>
      </p:sp>
      <p:sp>
        <p:nvSpPr>
          <p:cNvPr id="45" name="Text 43"/>
          <p:cNvSpPr/>
          <p:nvPr/>
        </p:nvSpPr>
        <p:spPr>
          <a:xfrm>
            <a:off x="7338060" y="394462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Read or write repository configuration values</a:t>
            </a:r>
            <a:endParaRPr lang="en-US" sz="1200" dirty="0"/>
          </a:p>
        </p:txBody>
      </p:sp>
      <p:sp>
        <p:nvSpPr>
          <p:cNvPr id="46" name="Shape 44"/>
          <p:cNvSpPr/>
          <p:nvPr/>
        </p:nvSpPr>
        <p:spPr>
          <a:xfrm>
            <a:off x="9353550" y="3595371"/>
            <a:ext cx="2019300" cy="822960"/>
          </a:xfrm>
          <a:prstGeom prst="roundRect">
            <a:avLst>
              <a:gd name="adj" fmla="val 10031"/>
            </a:avLst>
          </a:prstGeom>
          <a:solidFill>
            <a:srgbClr val="FBFCFE"/>
          </a:solidFill>
          <a:ln w="12700">
            <a:solidFill>
              <a:srgbClr val="C7D8CE"/>
            </a:solidFill>
            <a:prstDash val="solid"/>
          </a:ln>
        </p:spPr>
      </p:sp>
      <p:sp>
        <p:nvSpPr>
          <p:cNvPr id="47" name="Text 45"/>
          <p:cNvSpPr/>
          <p:nvPr/>
        </p:nvSpPr>
        <p:spPr>
          <a:xfrm>
            <a:off x="9471660" y="3688082"/>
            <a:ext cx="183657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B54"/>
                </a:solidFill>
                <a:latin typeface="Courier New" pitchFamily="49" charset="0"/>
                <a:ea typeface="Courier New" pitchFamily="49" charset="-122"/>
                <a:cs typeface="Courier New" pitchFamily="49" charset="-120"/>
              </a:rPr>
              <a:t>loki help</a:t>
            </a:r>
            <a:endParaRPr lang="en-US" sz="1300" dirty="0"/>
          </a:p>
        </p:txBody>
      </p:sp>
      <p:sp>
        <p:nvSpPr>
          <p:cNvPr id="48" name="Text 46"/>
          <p:cNvSpPr/>
          <p:nvPr/>
        </p:nvSpPr>
        <p:spPr>
          <a:xfrm>
            <a:off x="9471660" y="3944621"/>
            <a:ext cx="1836573"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Arial" pitchFamily="34" charset="0"/>
                <a:ea typeface="Arial" pitchFamily="34" charset="-122"/>
                <a:cs typeface="Arial" pitchFamily="34" charset="-120"/>
              </a:rPr>
              <a:t>Print usage for the CLI and its commands</a:t>
            </a:r>
            <a:endParaRPr lang="en-US" sz="1200" dirty="0"/>
          </a:p>
        </p:txBody>
      </p:sp>
      <p:sp>
        <p:nvSpPr>
          <p:cNvPr id="49" name="Text 47"/>
          <p:cNvSpPr/>
          <p:nvPr/>
        </p:nvSpPr>
        <p:spPr>
          <a:xfrm>
            <a:off x="812800" y="462788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9"/>
                </a:solidFill>
                <a:latin typeface="Arial" pitchFamily="34" charset="0"/>
                <a:ea typeface="Arial" pitchFamily="34" charset="-122"/>
                <a:cs typeface="Arial" pitchFamily="34" charset="-120"/>
              </a:rPr>
              <a:t>All 15 are marked implemented in Loki's documentation. Local only: no fetch, pull or push.</a:t>
            </a:r>
            <a:endParaRPr lang="en-US" sz="1200" dirty="0"/>
          </a:p>
        </p:txBody>
      </p:sp>
      <p:pic>
        <p:nvPicPr>
          <p:cNvPr id="50"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51" name="Text 48"/>
          <p:cNvSpPr/>
          <p:nvPr/>
        </p:nvSpPr>
        <p:spPr>
          <a:xfrm>
            <a:off x="1193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52" name="Text 49"/>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High-Level Architecture</a:t>
            </a:r>
            <a:endParaRPr lang="en-US" sz="3200" dirty="0"/>
          </a:p>
        </p:txBody>
      </p:sp>
      <p:sp>
        <p:nvSpPr>
          <p:cNvPr id="4" name="Shape 2"/>
          <p:cNvSpPr/>
          <p:nvPr/>
        </p:nvSpPr>
        <p:spPr>
          <a:xfrm>
            <a:off x="819150" y="1606550"/>
            <a:ext cx="2146300" cy="749300"/>
          </a:xfrm>
          <a:prstGeom prst="roundRect">
            <a:avLst>
              <a:gd name="adj" fmla="val 11017"/>
            </a:avLst>
          </a:prstGeom>
          <a:solidFill>
            <a:srgbClr val="FBFCFE"/>
          </a:solidFill>
          <a:ln w="12700">
            <a:solidFill>
              <a:srgbClr val="9DB5A9"/>
            </a:solidFill>
            <a:prstDash val="solid"/>
          </a:ln>
        </p:spPr>
      </p:sp>
      <p:sp>
        <p:nvSpPr>
          <p:cNvPr id="5" name="Text 3"/>
          <p:cNvSpPr/>
          <p:nvPr/>
        </p:nvSpPr>
        <p:spPr>
          <a:xfrm>
            <a:off x="1129443" y="1743711"/>
            <a:ext cx="1525715"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User / Terminal</a:t>
            </a:r>
            <a:endParaRPr lang="en-US" sz="1400" dirty="0"/>
          </a:p>
        </p:txBody>
      </p:sp>
      <p:sp>
        <p:nvSpPr>
          <p:cNvPr id="6" name="Text 4"/>
          <p:cNvSpPr/>
          <p:nvPr/>
        </p:nvSpPr>
        <p:spPr>
          <a:xfrm>
            <a:off x="1007912" y="2005332"/>
            <a:ext cx="176869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types a loki command</a:t>
            </a:r>
            <a:endParaRPr lang="en-US" sz="1200" dirty="0"/>
          </a:p>
        </p:txBody>
      </p:sp>
      <p:sp>
        <p:nvSpPr>
          <p:cNvPr id="7" name="Shape 5"/>
          <p:cNvSpPr/>
          <p:nvPr/>
        </p:nvSpPr>
        <p:spPr>
          <a:xfrm>
            <a:off x="3460750" y="1606550"/>
            <a:ext cx="2146300" cy="749300"/>
          </a:xfrm>
          <a:prstGeom prst="roundRect">
            <a:avLst>
              <a:gd name="adj" fmla="val 11017"/>
            </a:avLst>
          </a:prstGeom>
          <a:solidFill>
            <a:srgbClr val="E0F2EA"/>
          </a:solidFill>
          <a:ln w="12700">
            <a:solidFill>
              <a:srgbClr val="8CCBB0"/>
            </a:solidFill>
            <a:prstDash val="solid"/>
          </a:ln>
        </p:spPr>
      </p:sp>
      <p:sp>
        <p:nvSpPr>
          <p:cNvPr id="8" name="Text 6"/>
          <p:cNvSpPr/>
          <p:nvPr/>
        </p:nvSpPr>
        <p:spPr>
          <a:xfrm>
            <a:off x="3781235" y="1743711"/>
            <a:ext cx="1505331"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CLI entry point</a:t>
            </a:r>
            <a:endParaRPr lang="en-US" sz="1400" dirty="0"/>
          </a:p>
        </p:txBody>
      </p:sp>
      <p:sp>
        <p:nvSpPr>
          <p:cNvPr id="9" name="Text 7"/>
          <p:cNvSpPr/>
          <p:nvPr/>
        </p:nvSpPr>
        <p:spPr>
          <a:xfrm>
            <a:off x="3655894" y="2005332"/>
            <a:ext cx="175593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F7B54"/>
                </a:solidFill>
                <a:latin typeface="Courier New" pitchFamily="49" charset="0"/>
                <a:ea typeface="Courier New" pitchFamily="49" charset="-122"/>
                <a:cs typeface="Courier New" pitchFamily="49" charset="-120"/>
              </a:rPr>
              <a:t>cmd/loki/main.go</a:t>
            </a:r>
            <a:endParaRPr lang="en-US" sz="1200" dirty="0"/>
          </a:p>
        </p:txBody>
      </p:sp>
      <p:sp>
        <p:nvSpPr>
          <p:cNvPr id="10" name="Shape 8"/>
          <p:cNvSpPr/>
          <p:nvPr/>
        </p:nvSpPr>
        <p:spPr>
          <a:xfrm>
            <a:off x="6102350" y="1606550"/>
            <a:ext cx="2146300" cy="749300"/>
          </a:xfrm>
          <a:prstGeom prst="roundRect">
            <a:avLst>
              <a:gd name="adj" fmla="val 11017"/>
            </a:avLst>
          </a:prstGeom>
          <a:solidFill>
            <a:srgbClr val="E0F2EA"/>
          </a:solidFill>
          <a:ln w="12700">
            <a:solidFill>
              <a:srgbClr val="8CCBB0"/>
            </a:solidFill>
            <a:prstDash val="solid"/>
          </a:ln>
        </p:spPr>
      </p:sp>
      <p:sp>
        <p:nvSpPr>
          <p:cNvPr id="11" name="Text 9"/>
          <p:cNvSpPr/>
          <p:nvPr/>
        </p:nvSpPr>
        <p:spPr>
          <a:xfrm>
            <a:off x="6179574" y="1743711"/>
            <a:ext cx="1991773"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Command handlers</a:t>
            </a:r>
            <a:endParaRPr lang="en-US" sz="1400" dirty="0"/>
          </a:p>
        </p:txBody>
      </p:sp>
      <p:sp>
        <p:nvSpPr>
          <p:cNvPr id="12" name="Text 10"/>
          <p:cNvSpPr/>
          <p:nvPr/>
        </p:nvSpPr>
        <p:spPr>
          <a:xfrm>
            <a:off x="6187758" y="2005332"/>
            <a:ext cx="1975485"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F7B54"/>
                </a:solidFill>
                <a:latin typeface="Courier New" pitchFamily="49" charset="0"/>
                <a:ea typeface="Courier New" pitchFamily="49" charset="-122"/>
                <a:cs typeface="Courier New" pitchFamily="49" charset="-120"/>
              </a:rPr>
              <a:t>internal/commands/</a:t>
            </a:r>
            <a:endParaRPr lang="en-US" sz="1200" dirty="0"/>
          </a:p>
        </p:txBody>
      </p:sp>
      <p:sp>
        <p:nvSpPr>
          <p:cNvPr id="13" name="Shape 11"/>
          <p:cNvSpPr/>
          <p:nvPr/>
        </p:nvSpPr>
        <p:spPr>
          <a:xfrm>
            <a:off x="8743950" y="1606550"/>
            <a:ext cx="2146300" cy="749300"/>
          </a:xfrm>
          <a:prstGeom prst="roundRect">
            <a:avLst>
              <a:gd name="adj" fmla="val 11017"/>
            </a:avLst>
          </a:prstGeom>
          <a:solidFill>
            <a:srgbClr val="F6EFD6"/>
          </a:solidFill>
          <a:ln w="12700">
            <a:solidFill>
              <a:srgbClr val="D9BE6A"/>
            </a:solidFill>
            <a:prstDash val="solid"/>
          </a:ln>
        </p:spPr>
      </p:sp>
      <p:sp>
        <p:nvSpPr>
          <p:cNvPr id="14" name="Text 12"/>
          <p:cNvSpPr/>
          <p:nvPr/>
        </p:nvSpPr>
        <p:spPr>
          <a:xfrm>
            <a:off x="9117870" y="1743711"/>
            <a:ext cx="1398461"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Configuration</a:t>
            </a:r>
            <a:endParaRPr lang="en-US" sz="1400" dirty="0"/>
          </a:p>
        </p:txBody>
      </p:sp>
      <p:sp>
        <p:nvSpPr>
          <p:cNvPr id="15" name="Text 13"/>
          <p:cNvSpPr/>
          <p:nvPr/>
        </p:nvSpPr>
        <p:spPr>
          <a:xfrm>
            <a:off x="8939094" y="2005332"/>
            <a:ext cx="175593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7A5A0C"/>
                </a:solidFill>
                <a:latin typeface="Courier New" pitchFamily="49" charset="0"/>
                <a:ea typeface="Courier New" pitchFamily="49" charset="-122"/>
                <a:cs typeface="Courier New" pitchFamily="49" charset="-120"/>
              </a:rPr>
              <a:t>internal/config/</a:t>
            </a:r>
            <a:endParaRPr lang="en-US" sz="1200" dirty="0"/>
          </a:p>
        </p:txBody>
      </p:sp>
      <p:sp>
        <p:nvSpPr>
          <p:cNvPr id="16" name="Shape 14"/>
          <p:cNvSpPr/>
          <p:nvPr/>
        </p:nvSpPr>
        <p:spPr>
          <a:xfrm>
            <a:off x="812800" y="2984500"/>
            <a:ext cx="10566400" cy="698500"/>
          </a:xfrm>
          <a:prstGeom prst="roundRect">
            <a:avLst>
              <a:gd name="adj" fmla="val 12727"/>
            </a:avLst>
          </a:prstGeom>
          <a:solidFill>
            <a:srgbClr val="0F7B54"/>
          </a:solidFill>
          <a:ln/>
        </p:spPr>
      </p:sp>
      <p:sp>
        <p:nvSpPr>
          <p:cNvPr id="17" name="Text 15"/>
          <p:cNvSpPr/>
          <p:nvPr/>
        </p:nvSpPr>
        <p:spPr>
          <a:xfrm>
            <a:off x="5283803" y="3096261"/>
            <a:ext cx="1624394"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3F8F5"/>
                </a:solidFill>
                <a:latin typeface="Arial" pitchFamily="34" charset="0"/>
                <a:ea typeface="Arial" pitchFamily="34" charset="-122"/>
                <a:cs typeface="Arial" pitchFamily="34" charset="-120"/>
              </a:rPr>
              <a:t>Repository core</a:t>
            </a:r>
            <a:endParaRPr lang="en-US" sz="1400" dirty="0"/>
          </a:p>
        </p:txBody>
      </p:sp>
      <p:sp>
        <p:nvSpPr>
          <p:cNvPr id="18" name="Text 16"/>
          <p:cNvSpPr/>
          <p:nvPr/>
        </p:nvSpPr>
        <p:spPr>
          <a:xfrm>
            <a:off x="2238669" y="3357882"/>
            <a:ext cx="771458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E0F2EA"/>
                </a:solidFill>
                <a:latin typeface="Arial" pitchFamily="34" charset="0"/>
                <a:ea typeface="Arial" pitchFamily="34" charset="-122"/>
                <a:cs typeface="Arial" pitchFamily="34" charset="-120"/>
              </a:rPr>
              <a:t>internal/core/ · staging, status, commits, references, checkout, reset, merge, revert, tree access</a:t>
            </a:r>
            <a:endParaRPr lang="en-US" sz="1200" dirty="0"/>
          </a:p>
        </p:txBody>
      </p:sp>
      <p:sp>
        <p:nvSpPr>
          <p:cNvPr id="19" name="Shape 17"/>
          <p:cNvSpPr/>
          <p:nvPr/>
        </p:nvSpPr>
        <p:spPr>
          <a:xfrm>
            <a:off x="819150" y="4387850"/>
            <a:ext cx="1892300" cy="812800"/>
          </a:xfrm>
          <a:prstGeom prst="roundRect">
            <a:avLst>
              <a:gd name="adj" fmla="val 10156"/>
            </a:avLst>
          </a:prstGeom>
          <a:solidFill>
            <a:srgbClr val="FBFCFE"/>
          </a:solidFill>
          <a:ln w="12700">
            <a:solidFill>
              <a:srgbClr val="9DB5A9"/>
            </a:solidFill>
            <a:prstDash val="solid"/>
          </a:ln>
        </p:spPr>
      </p:sp>
      <p:sp>
        <p:nvSpPr>
          <p:cNvPr id="20" name="Text 18"/>
          <p:cNvSpPr/>
          <p:nvPr/>
        </p:nvSpPr>
        <p:spPr>
          <a:xfrm>
            <a:off x="1115219" y="4556764"/>
            <a:ext cx="1300163"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Working tree</a:t>
            </a:r>
            <a:endParaRPr lang="en-US" sz="1400" dirty="0"/>
          </a:p>
        </p:txBody>
      </p:sp>
      <p:sp>
        <p:nvSpPr>
          <p:cNvPr id="21" name="Text 19"/>
          <p:cNvSpPr/>
          <p:nvPr/>
        </p:nvSpPr>
        <p:spPr>
          <a:xfrm>
            <a:off x="1302774" y="4818379"/>
            <a:ext cx="924973"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project files</a:t>
            </a:r>
            <a:endParaRPr lang="en-US" sz="1200" dirty="0"/>
          </a:p>
        </p:txBody>
      </p:sp>
      <p:sp>
        <p:nvSpPr>
          <p:cNvPr id="22" name="Shape 20"/>
          <p:cNvSpPr/>
          <p:nvPr/>
        </p:nvSpPr>
        <p:spPr>
          <a:xfrm>
            <a:off x="2984500" y="4387850"/>
            <a:ext cx="1892300" cy="812800"/>
          </a:xfrm>
          <a:prstGeom prst="roundRect">
            <a:avLst>
              <a:gd name="adj" fmla="val 10156"/>
            </a:avLst>
          </a:prstGeom>
          <a:solidFill>
            <a:srgbClr val="F6EFD6"/>
          </a:solidFill>
          <a:ln w="12700">
            <a:solidFill>
              <a:srgbClr val="D9BE6A"/>
            </a:solidFill>
            <a:prstDash val="solid"/>
          </a:ln>
        </p:spPr>
      </p:sp>
      <p:sp>
        <p:nvSpPr>
          <p:cNvPr id="23" name="Text 21"/>
          <p:cNvSpPr/>
          <p:nvPr/>
        </p:nvSpPr>
        <p:spPr>
          <a:xfrm>
            <a:off x="3231229" y="4556764"/>
            <a:ext cx="1398841"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Staging index</a:t>
            </a:r>
            <a:endParaRPr lang="en-US" sz="1400" dirty="0"/>
          </a:p>
        </p:txBody>
      </p:sp>
      <p:sp>
        <p:nvSpPr>
          <p:cNvPr id="24" name="Text 22"/>
          <p:cNvSpPr/>
          <p:nvPr/>
        </p:nvSpPr>
        <p:spPr>
          <a:xfrm>
            <a:off x="2990850" y="4818379"/>
            <a:ext cx="187952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7A5A0C"/>
                </a:solidFill>
                <a:latin typeface="Arial" pitchFamily="34" charset="0"/>
                <a:ea typeface="Arial" pitchFamily="34" charset="-122"/>
                <a:cs typeface="Arial" pitchFamily="34" charset="-120"/>
              </a:rPr>
              <a:t>JSON path → blob hash</a:t>
            </a:r>
            <a:endParaRPr lang="en-US" sz="1200" dirty="0"/>
          </a:p>
        </p:txBody>
      </p:sp>
      <p:sp>
        <p:nvSpPr>
          <p:cNvPr id="25" name="Shape 23"/>
          <p:cNvSpPr/>
          <p:nvPr/>
        </p:nvSpPr>
        <p:spPr>
          <a:xfrm>
            <a:off x="5149850" y="4387850"/>
            <a:ext cx="1892300" cy="812800"/>
          </a:xfrm>
          <a:prstGeom prst="roundRect">
            <a:avLst>
              <a:gd name="adj" fmla="val 10156"/>
            </a:avLst>
          </a:prstGeom>
          <a:solidFill>
            <a:srgbClr val="F6EFD6"/>
          </a:solidFill>
          <a:ln w="12700">
            <a:solidFill>
              <a:srgbClr val="D9BE6A"/>
            </a:solidFill>
            <a:prstDash val="solid"/>
          </a:ln>
        </p:spPr>
      </p:sp>
      <p:sp>
        <p:nvSpPr>
          <p:cNvPr id="26" name="Text 24"/>
          <p:cNvSpPr/>
          <p:nvPr/>
        </p:nvSpPr>
        <p:spPr>
          <a:xfrm>
            <a:off x="5461635" y="4556764"/>
            <a:ext cx="126873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Data models</a:t>
            </a:r>
            <a:endParaRPr lang="en-US" sz="1400" dirty="0"/>
          </a:p>
        </p:txBody>
      </p:sp>
      <p:sp>
        <p:nvSpPr>
          <p:cNvPr id="27" name="Text 25"/>
          <p:cNvSpPr/>
          <p:nvPr/>
        </p:nvSpPr>
        <p:spPr>
          <a:xfrm>
            <a:off x="5217994" y="4818379"/>
            <a:ext cx="175593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7A5A0C"/>
                </a:solidFill>
                <a:latin typeface="Courier New" pitchFamily="49" charset="0"/>
                <a:ea typeface="Courier New" pitchFamily="49" charset="-122"/>
                <a:cs typeface="Courier New" pitchFamily="49" charset="-120"/>
              </a:rPr>
              <a:t>internal/models/</a:t>
            </a:r>
            <a:endParaRPr lang="en-US" sz="1200" dirty="0"/>
          </a:p>
        </p:txBody>
      </p:sp>
      <p:sp>
        <p:nvSpPr>
          <p:cNvPr id="28" name="Shape 26"/>
          <p:cNvSpPr/>
          <p:nvPr/>
        </p:nvSpPr>
        <p:spPr>
          <a:xfrm>
            <a:off x="7315200" y="4387850"/>
            <a:ext cx="1892300" cy="812800"/>
          </a:xfrm>
          <a:prstGeom prst="roundRect">
            <a:avLst>
              <a:gd name="adj" fmla="val 10156"/>
            </a:avLst>
          </a:prstGeom>
          <a:solidFill>
            <a:srgbClr val="F6EFD6"/>
          </a:solidFill>
          <a:ln w="12700">
            <a:solidFill>
              <a:srgbClr val="D9BE6A"/>
            </a:solidFill>
            <a:prstDash val="solid"/>
          </a:ln>
        </p:spPr>
      </p:sp>
      <p:sp>
        <p:nvSpPr>
          <p:cNvPr id="29" name="Text 27"/>
          <p:cNvSpPr/>
          <p:nvPr/>
        </p:nvSpPr>
        <p:spPr>
          <a:xfrm>
            <a:off x="7389812" y="4556764"/>
            <a:ext cx="1743075"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Storage interface</a:t>
            </a:r>
            <a:endParaRPr lang="en-US" sz="1400" dirty="0"/>
          </a:p>
        </p:txBody>
      </p:sp>
      <p:sp>
        <p:nvSpPr>
          <p:cNvPr id="30" name="Text 28"/>
          <p:cNvSpPr/>
          <p:nvPr/>
        </p:nvSpPr>
        <p:spPr>
          <a:xfrm>
            <a:off x="7328472" y="4818379"/>
            <a:ext cx="186575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7A5A0C"/>
                </a:solidFill>
                <a:latin typeface="Courier New" pitchFamily="49" charset="0"/>
                <a:ea typeface="Courier New" pitchFamily="49" charset="-122"/>
                <a:cs typeface="Courier New" pitchFamily="49" charset="-120"/>
              </a:rPr>
              <a:t>internal/storage/</a:t>
            </a:r>
            <a:endParaRPr lang="en-US" sz="1200" dirty="0"/>
          </a:p>
        </p:txBody>
      </p:sp>
      <p:sp>
        <p:nvSpPr>
          <p:cNvPr id="31" name="Shape 29"/>
          <p:cNvSpPr/>
          <p:nvPr/>
        </p:nvSpPr>
        <p:spPr>
          <a:xfrm>
            <a:off x="9480550" y="4387850"/>
            <a:ext cx="1892300" cy="812800"/>
          </a:xfrm>
          <a:prstGeom prst="roundRect">
            <a:avLst>
              <a:gd name="adj" fmla="val 10156"/>
            </a:avLst>
          </a:prstGeom>
          <a:solidFill>
            <a:srgbClr val="FBFCFE"/>
          </a:solidFill>
          <a:ln w="12700">
            <a:solidFill>
              <a:srgbClr val="9DB5A9"/>
            </a:solidFill>
            <a:prstDash val="dash"/>
          </a:ln>
        </p:spPr>
      </p:sp>
      <p:sp>
        <p:nvSpPr>
          <p:cNvPr id="32" name="Text 30"/>
          <p:cNvSpPr/>
          <p:nvPr/>
        </p:nvSpPr>
        <p:spPr>
          <a:xfrm>
            <a:off x="9845866" y="4443729"/>
            <a:ext cx="1161669"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Diff utilities</a:t>
            </a:r>
            <a:endParaRPr lang="en-US" sz="1400" dirty="0"/>
          </a:p>
        </p:txBody>
      </p:sp>
      <p:sp>
        <p:nvSpPr>
          <p:cNvPr id="33" name="Text 31"/>
          <p:cNvSpPr/>
          <p:nvPr/>
        </p:nvSpPr>
        <p:spPr>
          <a:xfrm>
            <a:off x="9603557" y="4705350"/>
            <a:ext cx="164620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Courier New" pitchFamily="49" charset="0"/>
                <a:ea typeface="Courier New" pitchFamily="49" charset="-122"/>
                <a:cs typeface="Courier New" pitchFamily="49" charset="-120"/>
              </a:rPr>
              <a:t>internal/utils/</a:t>
            </a:r>
            <a:endParaRPr lang="en-US" sz="1200" dirty="0"/>
          </a:p>
        </p:txBody>
      </p:sp>
      <p:sp>
        <p:nvSpPr>
          <p:cNvPr id="34" name="Text 32"/>
          <p:cNvSpPr/>
          <p:nvPr/>
        </p:nvSpPr>
        <p:spPr>
          <a:xfrm>
            <a:off x="9643841" y="4931414"/>
            <a:ext cx="156572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call path not shown</a:t>
            </a:r>
            <a:endParaRPr lang="en-US" sz="1200" dirty="0"/>
          </a:p>
        </p:txBody>
      </p:sp>
      <p:sp>
        <p:nvSpPr>
          <p:cNvPr id="35" name="Text 33"/>
          <p:cNvSpPr/>
          <p:nvPr/>
        </p:nvSpPr>
        <p:spPr>
          <a:xfrm>
            <a:off x="812800" y="5461000"/>
            <a:ext cx="10566400" cy="381000"/>
          </a:xfrm>
          <a:prstGeom prst="roundRect">
            <a:avLst>
              <a:gd name="adj" fmla="val 23333"/>
            </a:avLst>
          </a:prstGeom>
          <a:solidFill>
            <a:srgbClr val="07201A"/>
          </a:solidFill>
          <a:ln/>
        </p:spPr>
        <p:txBody>
          <a:bodyPr wrap="square" lIns="0" tIns="0" rIns="0" bIns="0" rtlCol="0" anchor="ctr">
            <a:normAutofit/>
          </a:bodyPr>
          <a:lstStyle/>
          <a:p>
            <a:pPr marL="0" indent="0" algn="ctr">
              <a:lnSpc>
                <a:spcPts val="1680"/>
              </a:lnSpc>
              <a:buNone/>
            </a:pPr>
            <a:r>
              <a:rPr lang="en-US" sz="1200" dirty="0">
                <a:solidFill>
                  <a:srgbClr val="E6F2EC"/>
                </a:solidFill>
                <a:latin typeface="Arial" pitchFamily="34" charset="0"/>
                <a:ea typeface="Arial" pitchFamily="34" charset="-122"/>
                <a:cs typeface="Arial" pitchFamily="34" charset="-120"/>
              </a:rPr>
              <a:t>.loki repository metadata: HEAD · config · index · commits.log · objects/ (SHA-1 + zlib) · refs/</a:t>
            </a:r>
            <a:endParaRPr lang="en-US" sz="1200" dirty="0"/>
          </a:p>
        </p:txBody>
      </p:sp>
      <p:pic>
        <p:nvPicPr>
          <p:cNvPr id="36" name="Image 0" descr="connector"/>
          <p:cNvPicPr>
            <a:picLocks noChangeAspect="1"/>
          </p:cNvPicPr>
          <p:nvPr/>
        </p:nvPicPr>
        <p:blipFill>
          <a:blip r:embed="rId3"/>
          <a:srcRect/>
          <a:stretch/>
        </p:blipFill>
        <p:spPr>
          <a:xfrm>
            <a:off x="2921000" y="1930400"/>
            <a:ext cx="584200" cy="101600"/>
          </a:xfrm>
          <a:prstGeom prst="rect">
            <a:avLst/>
          </a:prstGeom>
        </p:spPr>
      </p:pic>
      <p:pic>
        <p:nvPicPr>
          <p:cNvPr id="37" name="Image 1" descr="connector"/>
          <p:cNvPicPr>
            <a:picLocks noChangeAspect="1"/>
          </p:cNvPicPr>
          <p:nvPr/>
        </p:nvPicPr>
        <p:blipFill>
          <a:blip r:embed="rId3"/>
          <a:srcRect/>
          <a:stretch/>
        </p:blipFill>
        <p:spPr>
          <a:xfrm>
            <a:off x="5562600" y="1930400"/>
            <a:ext cx="584200" cy="101600"/>
          </a:xfrm>
          <a:prstGeom prst="rect">
            <a:avLst/>
          </a:prstGeom>
        </p:spPr>
      </p:pic>
      <p:pic>
        <p:nvPicPr>
          <p:cNvPr id="38" name="Image 2" descr="connector"/>
          <p:cNvPicPr>
            <a:picLocks noChangeAspect="1"/>
          </p:cNvPicPr>
          <p:nvPr/>
        </p:nvPicPr>
        <p:blipFill>
          <a:blip r:embed="rId3"/>
          <a:srcRect/>
          <a:stretch/>
        </p:blipFill>
        <p:spPr>
          <a:xfrm>
            <a:off x="8204200" y="1930400"/>
            <a:ext cx="584200" cy="101600"/>
          </a:xfrm>
          <a:prstGeom prst="rect">
            <a:avLst/>
          </a:prstGeom>
        </p:spPr>
      </p:pic>
      <p:pic>
        <p:nvPicPr>
          <p:cNvPr id="39" name="Image 3" descr="connector"/>
          <p:cNvPicPr>
            <a:picLocks noChangeAspect="1"/>
          </p:cNvPicPr>
          <p:nvPr/>
        </p:nvPicPr>
        <p:blipFill>
          <a:blip r:embed="rId4"/>
          <a:srcRect/>
          <a:stretch/>
        </p:blipFill>
        <p:spPr>
          <a:xfrm>
            <a:off x="7124700" y="2311400"/>
            <a:ext cx="101600" cy="723900"/>
          </a:xfrm>
          <a:prstGeom prst="rect">
            <a:avLst/>
          </a:prstGeom>
        </p:spPr>
      </p:pic>
      <p:pic>
        <p:nvPicPr>
          <p:cNvPr id="40" name="Image 4" descr="connector"/>
          <p:cNvPicPr>
            <a:picLocks noChangeAspect="1"/>
          </p:cNvPicPr>
          <p:nvPr/>
        </p:nvPicPr>
        <p:blipFill>
          <a:blip r:embed="rId5"/>
          <a:srcRect/>
          <a:stretch/>
        </p:blipFill>
        <p:spPr>
          <a:xfrm>
            <a:off x="1714500" y="3632200"/>
            <a:ext cx="101600" cy="800100"/>
          </a:xfrm>
          <a:prstGeom prst="rect">
            <a:avLst/>
          </a:prstGeom>
        </p:spPr>
      </p:pic>
      <p:pic>
        <p:nvPicPr>
          <p:cNvPr id="41" name="Image 5" descr="connector"/>
          <p:cNvPicPr>
            <a:picLocks noChangeAspect="1"/>
          </p:cNvPicPr>
          <p:nvPr/>
        </p:nvPicPr>
        <p:blipFill>
          <a:blip r:embed="rId5"/>
          <a:srcRect/>
          <a:stretch/>
        </p:blipFill>
        <p:spPr>
          <a:xfrm>
            <a:off x="3879850" y="3632200"/>
            <a:ext cx="101600" cy="800100"/>
          </a:xfrm>
          <a:prstGeom prst="rect">
            <a:avLst/>
          </a:prstGeom>
        </p:spPr>
      </p:pic>
      <p:pic>
        <p:nvPicPr>
          <p:cNvPr id="42" name="Image 6" descr="connector"/>
          <p:cNvPicPr>
            <a:picLocks noChangeAspect="1"/>
          </p:cNvPicPr>
          <p:nvPr/>
        </p:nvPicPr>
        <p:blipFill>
          <a:blip r:embed="rId5"/>
          <a:srcRect/>
          <a:stretch/>
        </p:blipFill>
        <p:spPr>
          <a:xfrm>
            <a:off x="6045200" y="3632200"/>
            <a:ext cx="101600" cy="800100"/>
          </a:xfrm>
          <a:prstGeom prst="rect">
            <a:avLst/>
          </a:prstGeom>
        </p:spPr>
      </p:pic>
      <p:pic>
        <p:nvPicPr>
          <p:cNvPr id="43" name="Image 7" descr="connector"/>
          <p:cNvPicPr>
            <a:picLocks noChangeAspect="1"/>
          </p:cNvPicPr>
          <p:nvPr/>
        </p:nvPicPr>
        <p:blipFill>
          <a:blip r:embed="rId5"/>
          <a:srcRect/>
          <a:stretch/>
        </p:blipFill>
        <p:spPr>
          <a:xfrm>
            <a:off x="8210550" y="3632200"/>
            <a:ext cx="101600" cy="800100"/>
          </a:xfrm>
          <a:prstGeom prst="rect">
            <a:avLst/>
          </a:prstGeom>
        </p:spPr>
      </p:pic>
      <p:pic>
        <p:nvPicPr>
          <p:cNvPr id="44" name="Image 8" descr="connector"/>
          <p:cNvPicPr>
            <a:picLocks noChangeAspect="1"/>
          </p:cNvPicPr>
          <p:nvPr/>
        </p:nvPicPr>
        <p:blipFill>
          <a:blip r:embed="rId6"/>
          <a:srcRect/>
          <a:stretch/>
        </p:blipFill>
        <p:spPr>
          <a:xfrm>
            <a:off x="3879850" y="5156200"/>
            <a:ext cx="101600" cy="355600"/>
          </a:xfrm>
          <a:prstGeom prst="rect">
            <a:avLst/>
          </a:prstGeom>
        </p:spPr>
      </p:pic>
      <p:pic>
        <p:nvPicPr>
          <p:cNvPr id="45" name="Image 9" descr="connector"/>
          <p:cNvPicPr>
            <a:picLocks noChangeAspect="1"/>
          </p:cNvPicPr>
          <p:nvPr/>
        </p:nvPicPr>
        <p:blipFill>
          <a:blip r:embed="rId6"/>
          <a:srcRect/>
          <a:stretch/>
        </p:blipFill>
        <p:spPr>
          <a:xfrm>
            <a:off x="8210550" y="5156200"/>
            <a:ext cx="101600" cy="355600"/>
          </a:xfrm>
          <a:prstGeom prst="rect">
            <a:avLst/>
          </a:prstGeom>
        </p:spPr>
      </p:pic>
      <p:pic>
        <p:nvPicPr>
          <p:cNvPr id="46" name="Image 10" descr="Loki logo"/>
          <p:cNvPicPr>
            <a:picLocks noChangeAspect="1"/>
          </p:cNvPicPr>
          <p:nvPr/>
        </p:nvPicPr>
        <p:blipFill>
          <a:blip r:embed="rId7"/>
          <a:srcRect t="88" b="88"/>
          <a:stretch/>
        </p:blipFill>
        <p:spPr>
          <a:xfrm>
            <a:off x="812800" y="6159500"/>
            <a:ext cx="279400" cy="368300"/>
          </a:xfrm>
          <a:prstGeom prst="roundRect">
            <a:avLst>
              <a:gd name="adj" fmla="val 18182"/>
            </a:avLst>
          </a:prstGeom>
        </p:spPr>
      </p:pic>
      <p:sp>
        <p:nvSpPr>
          <p:cNvPr id="47" name="Text 34"/>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48" name="Text 35"/>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Architectural Layers</a:t>
            </a:r>
            <a:endParaRPr lang="en-US" sz="3200" dirty="0"/>
          </a:p>
        </p:txBody>
      </p:sp>
      <p:sp>
        <p:nvSpPr>
          <p:cNvPr id="4" name="Shape 2"/>
          <p:cNvSpPr/>
          <p:nvPr/>
        </p:nvSpPr>
        <p:spPr>
          <a:xfrm>
            <a:off x="819150" y="1530350"/>
            <a:ext cx="10553700" cy="734060"/>
          </a:xfrm>
          <a:prstGeom prst="roundRect">
            <a:avLst>
              <a:gd name="adj" fmla="val 11246"/>
            </a:avLst>
          </a:prstGeom>
          <a:noFill/>
          <a:ln w="12700">
            <a:solidFill>
              <a:srgbClr val="C7D8CE"/>
            </a:solidFill>
            <a:prstDash val="solid"/>
          </a:ln>
        </p:spPr>
      </p:sp>
      <p:sp>
        <p:nvSpPr>
          <p:cNvPr id="5" name="Shape 3"/>
          <p:cNvSpPr/>
          <p:nvPr/>
        </p:nvSpPr>
        <p:spPr>
          <a:xfrm>
            <a:off x="822960" y="1534164"/>
            <a:ext cx="3302000" cy="726440"/>
          </a:xfrm>
          <a:custGeom>
            <a:avLst/>
            <a:gdLst/>
            <a:ahLst/>
            <a:cxnLst/>
            <a:rect l="l" t="t" r="r" b="b"/>
            <a:pathLst>
              <a:path w="3302000" h="726440">
                <a:moveTo>
                  <a:pt x="0" y="78740"/>
                </a:moveTo>
                <a:arcTo wR="78740" hR="78740" stAng="10800000" swAng="5400000"/>
                <a:lnTo>
                  <a:pt x="3302000" y="0"/>
                </a:lnTo>
                <a:lnTo>
                  <a:pt x="3302000" y="726440"/>
                </a:lnTo>
                <a:lnTo>
                  <a:pt x="78740" y="726440"/>
                </a:lnTo>
                <a:arcTo wR="78740" hR="78740" stAng="5400000" swAng="5400000"/>
                <a:close/>
              </a:path>
            </a:pathLst>
          </a:custGeom>
          <a:solidFill>
            <a:srgbClr val="0F7B54"/>
          </a:solidFill>
          <a:ln/>
        </p:spPr>
      </p:sp>
      <p:sp>
        <p:nvSpPr>
          <p:cNvPr id="6" name="Text 4"/>
          <p:cNvSpPr/>
          <p:nvPr/>
        </p:nvSpPr>
        <p:spPr>
          <a:xfrm>
            <a:off x="975360" y="1635764"/>
            <a:ext cx="30871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8F5"/>
                </a:solidFill>
                <a:latin typeface="Arial" pitchFamily="34" charset="0"/>
                <a:ea typeface="Arial" pitchFamily="34" charset="-122"/>
                <a:cs typeface="Arial" pitchFamily="34" charset="-120"/>
              </a:rPr>
              <a:t>CLI entry point</a:t>
            </a:r>
            <a:endParaRPr lang="en-US" sz="1600" dirty="0"/>
          </a:p>
        </p:txBody>
      </p:sp>
      <p:sp>
        <p:nvSpPr>
          <p:cNvPr id="7" name="Text 5"/>
          <p:cNvSpPr/>
          <p:nvPr/>
        </p:nvSpPr>
        <p:spPr>
          <a:xfrm>
            <a:off x="975360" y="1945642"/>
            <a:ext cx="3087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F2EA"/>
                </a:solidFill>
                <a:latin typeface="Courier New" pitchFamily="49" charset="0"/>
                <a:ea typeface="Courier New" pitchFamily="49" charset="-122"/>
                <a:cs typeface="Courier New" pitchFamily="49" charset="-120"/>
              </a:rPr>
              <a:t>cmd/loki/</a:t>
            </a:r>
            <a:endParaRPr lang="en-US" sz="1200" dirty="0"/>
          </a:p>
        </p:txBody>
      </p:sp>
      <p:sp>
        <p:nvSpPr>
          <p:cNvPr id="8" name="Text 6"/>
          <p:cNvSpPr/>
          <p:nvPr/>
        </p:nvSpPr>
        <p:spPr>
          <a:xfrm>
            <a:off x="4124960" y="1534164"/>
            <a:ext cx="7244080" cy="726440"/>
          </a:xfrm>
          <a:custGeom>
            <a:avLst/>
            <a:gdLst/>
            <a:ahLst/>
            <a:cxnLst/>
            <a:rect l="l" t="t" r="r" b="b"/>
            <a:pathLst>
              <a:path w="7244080" h="726440">
                <a:moveTo>
                  <a:pt x="7165340" y="0"/>
                </a:moveTo>
                <a:arcTo wR="78740" hR="78740" stAng="16200000" swAng="5400000"/>
                <a:lnTo>
                  <a:pt x="7244080" y="647700"/>
                </a:lnTo>
                <a:arcTo wR="78740" hR="78740" stAng="0" swAng="5400000"/>
                <a:lnTo>
                  <a:pt x="0" y="726440"/>
                </a:lnTo>
                <a:lnTo>
                  <a:pt x="0" y="0"/>
                </a:lnTo>
                <a:close/>
              </a:path>
            </a:pathLst>
          </a:custGeom>
          <a:solidFill>
            <a:srgbClr val="FBFCFE"/>
          </a:solidFill>
          <a:ln/>
        </p:spPr>
        <p:txBody>
          <a:bodyPr wrap="square" lIns="152400" tIns="101600" rIns="152400" bIns="101600" rtlCol="0" anchor="ctr">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Entry point of the program; dispatches each command to its handler.</a:t>
            </a:r>
            <a:endParaRPr lang="en-US" sz="1400" dirty="0"/>
          </a:p>
        </p:txBody>
      </p:sp>
      <p:sp>
        <p:nvSpPr>
          <p:cNvPr id="9" name="Shape 7"/>
          <p:cNvSpPr/>
          <p:nvPr/>
        </p:nvSpPr>
        <p:spPr>
          <a:xfrm>
            <a:off x="819150" y="2366014"/>
            <a:ext cx="10553700" cy="734060"/>
          </a:xfrm>
          <a:prstGeom prst="roundRect">
            <a:avLst>
              <a:gd name="adj" fmla="val 11246"/>
            </a:avLst>
          </a:prstGeom>
          <a:noFill/>
          <a:ln w="12700">
            <a:solidFill>
              <a:srgbClr val="C7D8CE"/>
            </a:solidFill>
            <a:prstDash val="solid"/>
          </a:ln>
        </p:spPr>
      </p:sp>
      <p:sp>
        <p:nvSpPr>
          <p:cNvPr id="10" name="Shape 8"/>
          <p:cNvSpPr/>
          <p:nvPr/>
        </p:nvSpPr>
        <p:spPr>
          <a:xfrm>
            <a:off x="822960" y="2369821"/>
            <a:ext cx="3302000" cy="726440"/>
          </a:xfrm>
          <a:custGeom>
            <a:avLst/>
            <a:gdLst/>
            <a:ahLst/>
            <a:cxnLst/>
            <a:rect l="l" t="t" r="r" b="b"/>
            <a:pathLst>
              <a:path w="3302000" h="726440">
                <a:moveTo>
                  <a:pt x="0" y="78740"/>
                </a:moveTo>
                <a:arcTo wR="78740" hR="78740" stAng="10800000" swAng="5400000"/>
                <a:lnTo>
                  <a:pt x="3302000" y="0"/>
                </a:lnTo>
                <a:lnTo>
                  <a:pt x="3302000" y="726440"/>
                </a:lnTo>
                <a:lnTo>
                  <a:pt x="78740" y="726440"/>
                </a:lnTo>
                <a:arcTo wR="78740" hR="78740" stAng="5400000" swAng="5400000"/>
                <a:close/>
              </a:path>
            </a:pathLst>
          </a:custGeom>
          <a:solidFill>
            <a:srgbClr val="0F7B54"/>
          </a:solidFill>
          <a:ln/>
        </p:spPr>
      </p:sp>
      <p:sp>
        <p:nvSpPr>
          <p:cNvPr id="11" name="Text 9"/>
          <p:cNvSpPr/>
          <p:nvPr/>
        </p:nvSpPr>
        <p:spPr>
          <a:xfrm>
            <a:off x="975360" y="2471421"/>
            <a:ext cx="30871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8F5"/>
                </a:solidFill>
                <a:latin typeface="Arial" pitchFamily="34" charset="0"/>
                <a:ea typeface="Arial" pitchFamily="34" charset="-122"/>
                <a:cs typeface="Arial" pitchFamily="34" charset="-120"/>
              </a:rPr>
              <a:t>Command handlers</a:t>
            </a:r>
            <a:endParaRPr lang="en-US" sz="1600" dirty="0"/>
          </a:p>
        </p:txBody>
      </p:sp>
      <p:sp>
        <p:nvSpPr>
          <p:cNvPr id="12" name="Text 10"/>
          <p:cNvSpPr/>
          <p:nvPr/>
        </p:nvSpPr>
        <p:spPr>
          <a:xfrm>
            <a:off x="975360" y="2781300"/>
            <a:ext cx="3087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F2EA"/>
                </a:solidFill>
                <a:latin typeface="Courier New" pitchFamily="49" charset="0"/>
                <a:ea typeface="Courier New" pitchFamily="49" charset="-122"/>
                <a:cs typeface="Courier New" pitchFamily="49" charset="-120"/>
              </a:rPr>
              <a:t>internal/commands/</a:t>
            </a:r>
            <a:endParaRPr lang="en-US" sz="1200" dirty="0"/>
          </a:p>
        </p:txBody>
      </p:sp>
      <p:sp>
        <p:nvSpPr>
          <p:cNvPr id="13" name="Text 11"/>
          <p:cNvSpPr/>
          <p:nvPr/>
        </p:nvSpPr>
        <p:spPr>
          <a:xfrm>
            <a:off x="4124960" y="2369821"/>
            <a:ext cx="7244080" cy="726440"/>
          </a:xfrm>
          <a:custGeom>
            <a:avLst/>
            <a:gdLst/>
            <a:ahLst/>
            <a:cxnLst/>
            <a:rect l="l" t="t" r="r" b="b"/>
            <a:pathLst>
              <a:path w="7244080" h="726440">
                <a:moveTo>
                  <a:pt x="7165340" y="0"/>
                </a:moveTo>
                <a:arcTo wR="78740" hR="78740" stAng="16200000" swAng="5400000"/>
                <a:lnTo>
                  <a:pt x="7244080" y="647700"/>
                </a:lnTo>
                <a:arcTo wR="78740" hR="78740" stAng="0" swAng="5400000"/>
                <a:lnTo>
                  <a:pt x="0" y="726440"/>
                </a:lnTo>
                <a:lnTo>
                  <a:pt x="0" y="0"/>
                </a:lnTo>
                <a:close/>
              </a:path>
            </a:pathLst>
          </a:custGeom>
          <a:solidFill>
            <a:srgbClr val="FBFCFE"/>
          </a:solidFill>
          <a:ln/>
        </p:spPr>
        <p:txBody>
          <a:bodyPr wrap="square" lIns="152400" tIns="101600" rIns="152400" bIns="101600" rtlCol="0" anchor="ctr">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Parse arguments and present command output.</a:t>
            </a:r>
            <a:endParaRPr lang="en-US" sz="1400" dirty="0"/>
          </a:p>
        </p:txBody>
      </p:sp>
      <p:sp>
        <p:nvSpPr>
          <p:cNvPr id="14" name="Shape 12"/>
          <p:cNvSpPr/>
          <p:nvPr/>
        </p:nvSpPr>
        <p:spPr>
          <a:xfrm>
            <a:off x="819150" y="3201671"/>
            <a:ext cx="10553700" cy="734060"/>
          </a:xfrm>
          <a:prstGeom prst="roundRect">
            <a:avLst>
              <a:gd name="adj" fmla="val 11246"/>
            </a:avLst>
          </a:prstGeom>
          <a:noFill/>
          <a:ln w="12700">
            <a:solidFill>
              <a:srgbClr val="C7D8CE"/>
            </a:solidFill>
            <a:prstDash val="solid"/>
          </a:ln>
        </p:spPr>
      </p:sp>
      <p:sp>
        <p:nvSpPr>
          <p:cNvPr id="15" name="Shape 13"/>
          <p:cNvSpPr/>
          <p:nvPr/>
        </p:nvSpPr>
        <p:spPr>
          <a:xfrm>
            <a:off x="822960" y="3205479"/>
            <a:ext cx="3302000" cy="726440"/>
          </a:xfrm>
          <a:custGeom>
            <a:avLst/>
            <a:gdLst/>
            <a:ahLst/>
            <a:cxnLst/>
            <a:rect l="l" t="t" r="r" b="b"/>
            <a:pathLst>
              <a:path w="3302000" h="726440">
                <a:moveTo>
                  <a:pt x="0" y="78740"/>
                </a:moveTo>
                <a:arcTo wR="78740" hR="78740" stAng="10800000" swAng="5400000"/>
                <a:lnTo>
                  <a:pt x="3302000" y="0"/>
                </a:lnTo>
                <a:lnTo>
                  <a:pt x="3302000" y="726440"/>
                </a:lnTo>
                <a:lnTo>
                  <a:pt x="78740" y="726440"/>
                </a:lnTo>
                <a:arcTo wR="78740" hR="78740" stAng="5400000" swAng="5400000"/>
                <a:close/>
              </a:path>
            </a:pathLst>
          </a:custGeom>
          <a:solidFill>
            <a:srgbClr val="07201A"/>
          </a:solidFill>
          <a:ln/>
        </p:spPr>
      </p:sp>
      <p:sp>
        <p:nvSpPr>
          <p:cNvPr id="16" name="Text 14"/>
          <p:cNvSpPr/>
          <p:nvPr/>
        </p:nvSpPr>
        <p:spPr>
          <a:xfrm>
            <a:off x="975360" y="3307079"/>
            <a:ext cx="30871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8F5"/>
                </a:solidFill>
                <a:latin typeface="Arial" pitchFamily="34" charset="0"/>
                <a:ea typeface="Arial" pitchFamily="34" charset="-122"/>
                <a:cs typeface="Arial" pitchFamily="34" charset="-120"/>
              </a:rPr>
              <a:t>Repository core</a:t>
            </a:r>
            <a:endParaRPr lang="en-US" sz="1600" dirty="0"/>
          </a:p>
        </p:txBody>
      </p:sp>
      <p:sp>
        <p:nvSpPr>
          <p:cNvPr id="17" name="Text 15"/>
          <p:cNvSpPr/>
          <p:nvPr/>
        </p:nvSpPr>
        <p:spPr>
          <a:xfrm>
            <a:off x="975360" y="3616964"/>
            <a:ext cx="3087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Courier New" pitchFamily="49" charset="0"/>
                <a:ea typeface="Courier New" pitchFamily="49" charset="-122"/>
                <a:cs typeface="Courier New" pitchFamily="49" charset="-120"/>
              </a:rPr>
              <a:t>internal/core/</a:t>
            </a:r>
            <a:endParaRPr lang="en-US" sz="1200" dirty="0"/>
          </a:p>
        </p:txBody>
      </p:sp>
      <p:sp>
        <p:nvSpPr>
          <p:cNvPr id="18" name="Text 16"/>
          <p:cNvSpPr/>
          <p:nvPr/>
        </p:nvSpPr>
        <p:spPr>
          <a:xfrm>
            <a:off x="4124960" y="3205479"/>
            <a:ext cx="7244080" cy="726440"/>
          </a:xfrm>
          <a:custGeom>
            <a:avLst/>
            <a:gdLst/>
            <a:ahLst/>
            <a:cxnLst/>
            <a:rect l="l" t="t" r="r" b="b"/>
            <a:pathLst>
              <a:path w="7244080" h="726440">
                <a:moveTo>
                  <a:pt x="7165340" y="0"/>
                </a:moveTo>
                <a:arcTo wR="78740" hR="78740" stAng="16200000" swAng="5400000"/>
                <a:lnTo>
                  <a:pt x="7244080" y="647700"/>
                </a:lnTo>
                <a:arcTo wR="78740" hR="78740" stAng="0" swAng="5400000"/>
                <a:lnTo>
                  <a:pt x="0" y="726440"/>
                </a:lnTo>
                <a:lnTo>
                  <a:pt x="0" y="0"/>
                </a:lnTo>
                <a:close/>
              </a:path>
            </a:pathLst>
          </a:custGeom>
          <a:solidFill>
            <a:srgbClr val="FBFCFE"/>
          </a:solidFill>
          <a:ln/>
        </p:spPr>
        <p:txBody>
          <a:bodyPr wrap="square" lIns="152400" tIns="101600" rIns="0" bIns="101600" rtlCol="0" anchor="ctr">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Coordinates staging, status, commits, references, checkout, reset, merge, revert and tree access.</a:t>
            </a:r>
            <a:endParaRPr lang="en-US" sz="1400" dirty="0"/>
          </a:p>
        </p:txBody>
      </p:sp>
      <p:sp>
        <p:nvSpPr>
          <p:cNvPr id="19" name="Shape 17"/>
          <p:cNvSpPr/>
          <p:nvPr/>
        </p:nvSpPr>
        <p:spPr>
          <a:xfrm>
            <a:off x="819150" y="4037329"/>
            <a:ext cx="10553700" cy="734060"/>
          </a:xfrm>
          <a:prstGeom prst="roundRect">
            <a:avLst>
              <a:gd name="adj" fmla="val 11246"/>
            </a:avLst>
          </a:prstGeom>
          <a:noFill/>
          <a:ln w="12700">
            <a:solidFill>
              <a:srgbClr val="C7D8CE"/>
            </a:solidFill>
            <a:prstDash val="solid"/>
          </a:ln>
        </p:spPr>
      </p:sp>
      <p:sp>
        <p:nvSpPr>
          <p:cNvPr id="20" name="Shape 18"/>
          <p:cNvSpPr/>
          <p:nvPr/>
        </p:nvSpPr>
        <p:spPr>
          <a:xfrm>
            <a:off x="822960" y="4041142"/>
            <a:ext cx="3302000" cy="726440"/>
          </a:xfrm>
          <a:custGeom>
            <a:avLst/>
            <a:gdLst/>
            <a:ahLst/>
            <a:cxnLst/>
            <a:rect l="l" t="t" r="r" b="b"/>
            <a:pathLst>
              <a:path w="3302000" h="726440">
                <a:moveTo>
                  <a:pt x="0" y="78740"/>
                </a:moveTo>
                <a:arcTo wR="78740" hR="78740" stAng="10800000" swAng="5400000"/>
                <a:lnTo>
                  <a:pt x="3302000" y="0"/>
                </a:lnTo>
                <a:lnTo>
                  <a:pt x="3302000" y="726440"/>
                </a:lnTo>
                <a:lnTo>
                  <a:pt x="78740" y="726440"/>
                </a:lnTo>
                <a:arcTo wR="78740" hR="78740" stAng="5400000" swAng="5400000"/>
                <a:close/>
              </a:path>
            </a:pathLst>
          </a:custGeom>
          <a:solidFill>
            <a:srgbClr val="7A5A0C"/>
          </a:solidFill>
          <a:ln/>
        </p:spPr>
      </p:sp>
      <p:sp>
        <p:nvSpPr>
          <p:cNvPr id="21" name="Text 19"/>
          <p:cNvSpPr/>
          <p:nvPr/>
        </p:nvSpPr>
        <p:spPr>
          <a:xfrm>
            <a:off x="975360" y="4142742"/>
            <a:ext cx="30871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8F5"/>
                </a:solidFill>
                <a:latin typeface="Arial" pitchFamily="34" charset="0"/>
                <a:ea typeface="Arial" pitchFamily="34" charset="-122"/>
                <a:cs typeface="Arial" pitchFamily="34" charset="-120"/>
              </a:rPr>
              <a:t>Data models</a:t>
            </a:r>
            <a:endParaRPr lang="en-US" sz="1600" dirty="0"/>
          </a:p>
        </p:txBody>
      </p:sp>
      <p:sp>
        <p:nvSpPr>
          <p:cNvPr id="22" name="Text 20"/>
          <p:cNvSpPr/>
          <p:nvPr/>
        </p:nvSpPr>
        <p:spPr>
          <a:xfrm>
            <a:off x="975360" y="4452621"/>
            <a:ext cx="3087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EFD6"/>
                </a:solidFill>
                <a:latin typeface="Courier New" pitchFamily="49" charset="0"/>
                <a:ea typeface="Courier New" pitchFamily="49" charset="-122"/>
                <a:cs typeface="Courier New" pitchFamily="49" charset="-120"/>
              </a:rPr>
              <a:t>internal/models/</a:t>
            </a:r>
            <a:endParaRPr lang="en-US" sz="1200" dirty="0"/>
          </a:p>
        </p:txBody>
      </p:sp>
      <p:sp>
        <p:nvSpPr>
          <p:cNvPr id="23" name="Text 21"/>
          <p:cNvSpPr/>
          <p:nvPr/>
        </p:nvSpPr>
        <p:spPr>
          <a:xfrm>
            <a:off x="4124960" y="4041142"/>
            <a:ext cx="7244080" cy="726440"/>
          </a:xfrm>
          <a:custGeom>
            <a:avLst/>
            <a:gdLst/>
            <a:ahLst/>
            <a:cxnLst/>
            <a:rect l="l" t="t" r="r" b="b"/>
            <a:pathLst>
              <a:path w="7244080" h="726440">
                <a:moveTo>
                  <a:pt x="7165340" y="0"/>
                </a:moveTo>
                <a:arcTo wR="78740" hR="78740" stAng="16200000" swAng="5400000"/>
                <a:lnTo>
                  <a:pt x="7244080" y="647700"/>
                </a:lnTo>
                <a:arcTo wR="78740" hR="78740" stAng="0" swAng="5400000"/>
                <a:lnTo>
                  <a:pt x="0" y="726440"/>
                </a:lnTo>
                <a:lnTo>
                  <a:pt x="0" y="0"/>
                </a:lnTo>
                <a:close/>
              </a:path>
            </a:pathLst>
          </a:custGeom>
          <a:solidFill>
            <a:srgbClr val="FBFCFE"/>
          </a:solidFill>
          <a:ln/>
        </p:spPr>
        <p:txBody>
          <a:bodyPr wrap="square" lIns="152400" tIns="101600" rIns="152400" bIns="101600" rtlCol="0" anchor="ctr">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Serialize and parse Blob, Tree, Commit and Tag objects.</a:t>
            </a:r>
            <a:endParaRPr lang="en-US" sz="1400" dirty="0"/>
          </a:p>
        </p:txBody>
      </p:sp>
      <p:sp>
        <p:nvSpPr>
          <p:cNvPr id="24" name="Shape 22"/>
          <p:cNvSpPr/>
          <p:nvPr/>
        </p:nvSpPr>
        <p:spPr>
          <a:xfrm>
            <a:off x="819150" y="4872992"/>
            <a:ext cx="10553700" cy="734060"/>
          </a:xfrm>
          <a:prstGeom prst="roundRect">
            <a:avLst>
              <a:gd name="adj" fmla="val 11246"/>
            </a:avLst>
          </a:prstGeom>
          <a:noFill/>
          <a:ln w="12700">
            <a:solidFill>
              <a:srgbClr val="C7D8CE"/>
            </a:solidFill>
            <a:prstDash val="solid"/>
          </a:ln>
        </p:spPr>
      </p:sp>
      <p:sp>
        <p:nvSpPr>
          <p:cNvPr id="25" name="Shape 23"/>
          <p:cNvSpPr/>
          <p:nvPr/>
        </p:nvSpPr>
        <p:spPr>
          <a:xfrm>
            <a:off x="822960" y="4876800"/>
            <a:ext cx="3302000" cy="726440"/>
          </a:xfrm>
          <a:custGeom>
            <a:avLst/>
            <a:gdLst/>
            <a:ahLst/>
            <a:cxnLst/>
            <a:rect l="l" t="t" r="r" b="b"/>
            <a:pathLst>
              <a:path w="3302000" h="726440">
                <a:moveTo>
                  <a:pt x="0" y="78740"/>
                </a:moveTo>
                <a:arcTo wR="78740" hR="78740" stAng="10800000" swAng="5400000"/>
                <a:lnTo>
                  <a:pt x="3302000" y="0"/>
                </a:lnTo>
                <a:lnTo>
                  <a:pt x="3302000" y="726440"/>
                </a:lnTo>
                <a:lnTo>
                  <a:pt x="78740" y="726440"/>
                </a:lnTo>
                <a:arcTo wR="78740" hR="78740" stAng="5400000" swAng="5400000"/>
                <a:close/>
              </a:path>
            </a:pathLst>
          </a:custGeom>
          <a:solidFill>
            <a:srgbClr val="7A5A0C"/>
          </a:solidFill>
          <a:ln/>
        </p:spPr>
      </p:sp>
      <p:sp>
        <p:nvSpPr>
          <p:cNvPr id="26" name="Text 24"/>
          <p:cNvSpPr/>
          <p:nvPr/>
        </p:nvSpPr>
        <p:spPr>
          <a:xfrm>
            <a:off x="975360" y="4978400"/>
            <a:ext cx="30871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8F5"/>
                </a:solidFill>
                <a:latin typeface="Arial" pitchFamily="34" charset="0"/>
                <a:ea typeface="Arial" pitchFamily="34" charset="-122"/>
                <a:cs typeface="Arial" pitchFamily="34" charset="-120"/>
              </a:rPr>
              <a:t>Storage, config, utilities</a:t>
            </a:r>
            <a:endParaRPr lang="en-US" sz="1600" dirty="0"/>
          </a:p>
        </p:txBody>
      </p:sp>
      <p:sp>
        <p:nvSpPr>
          <p:cNvPr id="27" name="Text 25"/>
          <p:cNvSpPr/>
          <p:nvPr/>
        </p:nvSpPr>
        <p:spPr>
          <a:xfrm>
            <a:off x="975360" y="5288279"/>
            <a:ext cx="3149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EFD6"/>
                </a:solidFill>
                <a:latin typeface="Courier New" pitchFamily="49" charset="0"/>
                <a:ea typeface="Courier New" pitchFamily="49" charset="-122"/>
                <a:cs typeface="Courier New" pitchFamily="49" charset="-120"/>
              </a:rPr>
              <a:t>internal/storage/ config/ utils/</a:t>
            </a:r>
            <a:endParaRPr lang="en-US" sz="1200" dirty="0"/>
          </a:p>
        </p:txBody>
      </p:sp>
      <p:sp>
        <p:nvSpPr>
          <p:cNvPr id="28" name="Text 26"/>
          <p:cNvSpPr/>
          <p:nvPr/>
        </p:nvSpPr>
        <p:spPr>
          <a:xfrm>
            <a:off x="4124960" y="4876800"/>
            <a:ext cx="7244080" cy="726440"/>
          </a:xfrm>
          <a:custGeom>
            <a:avLst/>
            <a:gdLst/>
            <a:ahLst/>
            <a:cxnLst/>
            <a:rect l="l" t="t" r="r" b="b"/>
            <a:pathLst>
              <a:path w="7244080" h="726440">
                <a:moveTo>
                  <a:pt x="7165340" y="0"/>
                </a:moveTo>
                <a:arcTo wR="78740" hR="78740" stAng="16200000" swAng="5400000"/>
                <a:lnTo>
                  <a:pt x="7244080" y="647700"/>
                </a:lnTo>
                <a:arcTo wR="78740" hR="78740" stAng="0" swAng="5400000"/>
                <a:lnTo>
                  <a:pt x="0" y="726440"/>
                </a:lnTo>
                <a:lnTo>
                  <a:pt x="0" y="0"/>
                </a:lnTo>
                <a:close/>
              </a:path>
            </a:pathLst>
          </a:custGeom>
          <a:solidFill>
            <a:srgbClr val="FBFCFE"/>
          </a:solidFill>
          <a:ln/>
        </p:spPr>
        <p:txBody>
          <a:bodyPr wrap="square" lIns="152400" tIns="101600" rIns="0" bIns="101600" rtlCol="0" anchor="ctr">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Store and read objects (SHA-1 + zlib); read and write configuration and find the repository root; generate text-line diffs.</a:t>
            </a:r>
            <a:endParaRPr lang="en-US" sz="1400" dirty="0"/>
          </a:p>
        </p:txBody>
      </p:sp>
      <p:pic>
        <p:nvPicPr>
          <p:cNvPr id="29"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30" name="Text 27"/>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1" name="Text 2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CLI Entry Point and Command Handlers</a:t>
            </a:r>
            <a:endParaRPr lang="en-US" sz="3200" dirty="0"/>
          </a:p>
        </p:txBody>
      </p:sp>
      <p:sp>
        <p:nvSpPr>
          <p:cNvPr id="4" name="Shape 2"/>
          <p:cNvSpPr/>
          <p:nvPr/>
        </p:nvSpPr>
        <p:spPr>
          <a:xfrm>
            <a:off x="812800" y="1524000"/>
            <a:ext cx="4064000" cy="3604260"/>
          </a:xfrm>
          <a:prstGeom prst="roundRect">
            <a:avLst>
              <a:gd name="adj" fmla="val 2819"/>
            </a:avLst>
          </a:prstGeom>
          <a:solidFill>
            <a:srgbClr val="07201A"/>
          </a:solidFill>
          <a:ln/>
        </p:spPr>
      </p:sp>
      <p:sp>
        <p:nvSpPr>
          <p:cNvPr id="5" name="Text 3"/>
          <p:cNvSpPr/>
          <p:nvPr/>
        </p:nvSpPr>
        <p:spPr>
          <a:xfrm>
            <a:off x="990600" y="1701800"/>
            <a:ext cx="381965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D6A0"/>
                </a:solidFill>
                <a:latin typeface="Courier New" pitchFamily="49" charset="0"/>
                <a:ea typeface="Courier New" pitchFamily="49" charset="-122"/>
                <a:cs typeface="Courier New" pitchFamily="49" charset="-120"/>
              </a:rPr>
              <a:t>$ loki status</a:t>
            </a:r>
            <a:endParaRPr lang="en-US" sz="1500" dirty="0"/>
          </a:p>
        </p:txBody>
      </p:sp>
      <p:sp>
        <p:nvSpPr>
          <p:cNvPr id="6" name="Text 4"/>
          <p:cNvSpPr/>
          <p:nvPr/>
        </p:nvSpPr>
        <p:spPr>
          <a:xfrm>
            <a:off x="990600" y="2070100"/>
            <a:ext cx="38196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A command enters the program:</a:t>
            </a:r>
            <a:endParaRPr lang="en-US" sz="1200" dirty="0"/>
          </a:p>
        </p:txBody>
      </p:sp>
      <p:sp>
        <p:nvSpPr>
          <p:cNvPr id="7" name="Text 5"/>
          <p:cNvSpPr/>
          <p:nvPr/>
        </p:nvSpPr>
        <p:spPr>
          <a:xfrm>
            <a:off x="996950" y="2391414"/>
            <a:ext cx="3695700" cy="373380"/>
          </a:xfrm>
          <a:prstGeom prst="roundRect">
            <a:avLst>
              <a:gd name="adj" fmla="val 15306"/>
            </a:avLst>
          </a:prstGeom>
          <a:solidFill>
            <a:srgbClr val="0F3329"/>
          </a:solidFill>
          <a:ln w="12700">
            <a:solidFill>
              <a:srgbClr val="1F5244"/>
            </a:solidFill>
            <a:prstDash val="solid"/>
          </a:ln>
        </p:spPr>
        <p:txBody>
          <a:bodyPr wrap="square" lIns="88671" tIns="63271" rIns="0" bIns="37871" rtlCol="0" anchor="t">
            <a:normAutofit/>
          </a:bodyPr>
          <a:lstStyle/>
          <a:p>
            <a:pPr marL="0" indent="0" algn="l">
              <a:lnSpc>
                <a:spcPts val="1680"/>
              </a:lnSpc>
              <a:buNone/>
            </a:pPr>
            <a:r>
              <a:rPr lang="en-US" sz="1200" dirty="0">
                <a:solidFill>
                  <a:srgbClr val="E6F2EC"/>
                </a:solidFill>
                <a:latin typeface="Courier New" pitchFamily="49" charset="0"/>
                <a:ea typeface="Courier New" pitchFamily="49" charset="-122"/>
                <a:cs typeface="Courier New" pitchFamily="49" charset="-120"/>
              </a:rPr>
              <a:t>cmd/loki/main.go</a:t>
            </a:r>
            <a:endParaRPr lang="en-US" sz="1200" dirty="0"/>
          </a:p>
        </p:txBody>
      </p:sp>
      <p:sp>
        <p:nvSpPr>
          <p:cNvPr id="8" name="Text 6"/>
          <p:cNvSpPr/>
          <p:nvPr/>
        </p:nvSpPr>
        <p:spPr>
          <a:xfrm>
            <a:off x="996950" y="2840992"/>
            <a:ext cx="3695700" cy="373380"/>
          </a:xfrm>
          <a:prstGeom prst="roundRect">
            <a:avLst>
              <a:gd name="adj" fmla="val 15306"/>
            </a:avLst>
          </a:prstGeom>
          <a:solidFill>
            <a:srgbClr val="0F3329"/>
          </a:solidFill>
          <a:ln w="12700">
            <a:solidFill>
              <a:srgbClr val="1F5244"/>
            </a:solidFill>
            <a:prstDash val="solid"/>
          </a:ln>
        </p:spPr>
        <p:txBody>
          <a:bodyPr wrap="square" lIns="88671" tIns="63271" rIns="0" bIns="37871" rtlCol="0" anchor="t">
            <a:normAutofit/>
          </a:bodyPr>
          <a:lstStyle/>
          <a:p>
            <a:pPr marL="0" indent="0" algn="l">
              <a:lnSpc>
                <a:spcPts val="1680"/>
              </a:lnSpc>
              <a:buNone/>
            </a:pPr>
            <a:r>
              <a:rPr lang="en-US" sz="1200" dirty="0">
                <a:solidFill>
                  <a:srgbClr val="E6F2EC"/>
                </a:solidFill>
                <a:latin typeface="Courier New" pitchFamily="49" charset="0"/>
                <a:ea typeface="Courier New" pitchFamily="49" charset="-122"/>
                <a:cs typeface="Courier New" pitchFamily="49" charset="-120"/>
              </a:rPr>
              <a:t>internal/commands/</a:t>
            </a:r>
            <a:endParaRPr lang="en-US" sz="1200" dirty="0"/>
          </a:p>
        </p:txBody>
      </p:sp>
      <p:sp>
        <p:nvSpPr>
          <p:cNvPr id="9" name="Text 7"/>
          <p:cNvSpPr/>
          <p:nvPr/>
        </p:nvSpPr>
        <p:spPr>
          <a:xfrm>
            <a:off x="996950" y="3290571"/>
            <a:ext cx="3695700" cy="373380"/>
          </a:xfrm>
          <a:prstGeom prst="roundRect">
            <a:avLst>
              <a:gd name="adj" fmla="val 15306"/>
            </a:avLst>
          </a:prstGeom>
          <a:solidFill>
            <a:srgbClr val="0F3329"/>
          </a:solidFill>
          <a:ln w="12700">
            <a:solidFill>
              <a:srgbClr val="1F5244"/>
            </a:solidFill>
            <a:prstDash val="solid"/>
          </a:ln>
        </p:spPr>
        <p:txBody>
          <a:bodyPr wrap="square" lIns="88671" tIns="63271" rIns="0" bIns="37871" rtlCol="0" anchor="t">
            <a:normAutofit/>
          </a:bodyPr>
          <a:lstStyle/>
          <a:p>
            <a:pPr marL="0" indent="0" algn="l">
              <a:lnSpc>
                <a:spcPts val="1680"/>
              </a:lnSpc>
              <a:buNone/>
            </a:pPr>
            <a:r>
              <a:rPr lang="en-US" sz="1200" dirty="0">
                <a:solidFill>
                  <a:srgbClr val="E6F2EC"/>
                </a:solidFill>
                <a:latin typeface="Courier New" pitchFamily="49" charset="0"/>
                <a:ea typeface="Courier New" pitchFamily="49" charset="-122"/>
                <a:cs typeface="Courier New" pitchFamily="49" charset="-120"/>
              </a:rPr>
              <a:t>internal/core/</a:t>
            </a:r>
            <a:endParaRPr lang="en-US" sz="1200" dirty="0"/>
          </a:p>
        </p:txBody>
      </p:sp>
      <p:sp>
        <p:nvSpPr>
          <p:cNvPr id="10" name="Text 8"/>
          <p:cNvSpPr/>
          <p:nvPr/>
        </p:nvSpPr>
        <p:spPr>
          <a:xfrm>
            <a:off x="990600" y="3771900"/>
            <a:ext cx="381965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Execution is traced only as far as the documentation goes.</a:t>
            </a:r>
            <a:endParaRPr lang="en-US" sz="1200" dirty="0"/>
          </a:p>
        </p:txBody>
      </p:sp>
      <p:sp>
        <p:nvSpPr>
          <p:cNvPr id="11" name="Shape 9"/>
          <p:cNvSpPr/>
          <p:nvPr/>
        </p:nvSpPr>
        <p:spPr>
          <a:xfrm>
            <a:off x="5086350" y="1530350"/>
            <a:ext cx="6286500" cy="1333500"/>
          </a:xfrm>
          <a:prstGeom prst="roundRect">
            <a:avLst>
              <a:gd name="adj" fmla="val 7143"/>
            </a:avLst>
          </a:prstGeom>
          <a:solidFill>
            <a:srgbClr val="FBFCFE"/>
          </a:solidFill>
          <a:ln w="12700">
            <a:solidFill>
              <a:srgbClr val="C7D8CE"/>
            </a:solidFill>
            <a:prstDash val="solid"/>
          </a:ln>
        </p:spPr>
      </p:sp>
      <p:sp>
        <p:nvSpPr>
          <p:cNvPr id="12" name="Text 10"/>
          <p:cNvSpPr/>
          <p:nvPr/>
        </p:nvSpPr>
        <p:spPr>
          <a:xfrm>
            <a:off x="5267960" y="1686564"/>
            <a:ext cx="61009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CLI entry point</a:t>
            </a:r>
            <a:endParaRPr lang="en-US" sz="1600" dirty="0"/>
          </a:p>
        </p:txBody>
      </p:sp>
      <p:sp>
        <p:nvSpPr>
          <p:cNvPr id="13" name="Text 11"/>
          <p:cNvSpPr/>
          <p:nvPr/>
        </p:nvSpPr>
        <p:spPr>
          <a:xfrm>
            <a:off x="5267960" y="1981200"/>
            <a:ext cx="61009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7B54"/>
                </a:solidFill>
                <a:latin typeface="Courier New" pitchFamily="49" charset="0"/>
                <a:ea typeface="Courier New" pitchFamily="49" charset="-122"/>
                <a:cs typeface="Courier New" pitchFamily="49" charset="-120"/>
              </a:rPr>
              <a:t>cmd/loki/main.go</a:t>
            </a:r>
            <a:endParaRPr lang="en-US" sz="1200" dirty="0"/>
          </a:p>
        </p:txBody>
      </p:sp>
      <p:sp>
        <p:nvSpPr>
          <p:cNvPr id="14" name="Text 12"/>
          <p:cNvSpPr/>
          <p:nvPr/>
        </p:nvSpPr>
        <p:spPr>
          <a:xfrm>
            <a:off x="5267960" y="2245364"/>
            <a:ext cx="6100978"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Where every command starts. It dispatches the command to the matching handler.</a:t>
            </a:r>
            <a:endParaRPr lang="en-US" sz="1400" dirty="0"/>
          </a:p>
        </p:txBody>
      </p:sp>
      <p:sp>
        <p:nvSpPr>
          <p:cNvPr id="15" name="Shape 13"/>
          <p:cNvSpPr/>
          <p:nvPr/>
        </p:nvSpPr>
        <p:spPr>
          <a:xfrm>
            <a:off x="5086350" y="3003550"/>
            <a:ext cx="6286500" cy="1564640"/>
          </a:xfrm>
          <a:prstGeom prst="roundRect">
            <a:avLst>
              <a:gd name="adj" fmla="val 6088"/>
            </a:avLst>
          </a:prstGeom>
          <a:solidFill>
            <a:srgbClr val="FBFCFE"/>
          </a:solidFill>
          <a:ln w="12700">
            <a:solidFill>
              <a:srgbClr val="C7D8CE"/>
            </a:solidFill>
            <a:prstDash val="solid"/>
          </a:ln>
        </p:spPr>
      </p:sp>
      <p:sp>
        <p:nvSpPr>
          <p:cNvPr id="16" name="Text 14"/>
          <p:cNvSpPr/>
          <p:nvPr/>
        </p:nvSpPr>
        <p:spPr>
          <a:xfrm>
            <a:off x="5267960" y="3159764"/>
            <a:ext cx="61009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Command handlers</a:t>
            </a:r>
            <a:endParaRPr lang="en-US" sz="1600" dirty="0"/>
          </a:p>
        </p:txBody>
      </p:sp>
      <p:sp>
        <p:nvSpPr>
          <p:cNvPr id="17" name="Text 15"/>
          <p:cNvSpPr/>
          <p:nvPr/>
        </p:nvSpPr>
        <p:spPr>
          <a:xfrm>
            <a:off x="5267960" y="3454400"/>
            <a:ext cx="61009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7B54"/>
                </a:solidFill>
                <a:latin typeface="Courier New" pitchFamily="49" charset="0"/>
                <a:ea typeface="Courier New" pitchFamily="49" charset="-122"/>
                <a:cs typeface="Courier New" pitchFamily="49" charset="-120"/>
              </a:rPr>
              <a:t>internal/commands/</a:t>
            </a:r>
            <a:endParaRPr lang="en-US" sz="1200" dirty="0"/>
          </a:p>
        </p:txBody>
      </p:sp>
      <p:sp>
        <p:nvSpPr>
          <p:cNvPr id="18" name="Text 16"/>
          <p:cNvSpPr/>
          <p:nvPr/>
        </p:nvSpPr>
        <p:spPr>
          <a:xfrm>
            <a:off x="5267960" y="3718564"/>
            <a:ext cx="6100978"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Parse arguments and present output for commands such as init, add, status, diff, commit, log, branch, checkout, merge, reset, rm, revert, tag, config and help.</a:t>
            </a:r>
            <a:endParaRPr lang="en-US" sz="1400" dirty="0"/>
          </a:p>
        </p:txBody>
      </p:sp>
      <p:sp>
        <p:nvSpPr>
          <p:cNvPr id="19" name="Text 17"/>
          <p:cNvSpPr/>
          <p:nvPr/>
        </p:nvSpPr>
        <p:spPr>
          <a:xfrm>
            <a:off x="5080000" y="4701542"/>
            <a:ext cx="64881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The source material does not show per-command execution paths, so the paths are not assumed to be identical.</a:t>
            </a:r>
            <a:endParaRPr lang="en-US" sz="1200" dirty="0"/>
          </a:p>
        </p:txBody>
      </p:sp>
      <p:pic>
        <p:nvPicPr>
          <p:cNvPr id="20"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21" name="Text 18"/>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2" name="Text 19"/>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Core Repository Logic</a:t>
            </a:r>
            <a:endParaRPr lang="en-US" sz="3200" dirty="0"/>
          </a:p>
        </p:txBody>
      </p:sp>
      <p:sp>
        <p:nvSpPr>
          <p:cNvPr id="4" name="Shape 2"/>
          <p:cNvSpPr/>
          <p:nvPr/>
        </p:nvSpPr>
        <p:spPr>
          <a:xfrm>
            <a:off x="812800" y="1524000"/>
            <a:ext cx="3302000" cy="2117090"/>
          </a:xfrm>
          <a:prstGeom prst="roundRect">
            <a:avLst>
              <a:gd name="adj" fmla="val 4799"/>
            </a:avLst>
          </a:prstGeom>
          <a:solidFill>
            <a:srgbClr val="0F7B54"/>
          </a:solidFill>
          <a:ln/>
        </p:spPr>
      </p:sp>
      <p:sp>
        <p:nvSpPr>
          <p:cNvPr id="5" name="Text 3"/>
          <p:cNvSpPr/>
          <p:nvPr/>
        </p:nvSpPr>
        <p:spPr>
          <a:xfrm>
            <a:off x="1016000" y="1727200"/>
            <a:ext cx="298246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3F8F5"/>
                </a:solidFill>
                <a:latin typeface="Arial" pitchFamily="34" charset="0"/>
                <a:ea typeface="Arial" pitchFamily="34" charset="-122"/>
                <a:cs typeface="Arial" pitchFamily="34" charset="-120"/>
              </a:rPr>
              <a:t>Repository core</a:t>
            </a:r>
            <a:endParaRPr lang="en-US" sz="2000" dirty="0"/>
          </a:p>
        </p:txBody>
      </p:sp>
      <p:sp>
        <p:nvSpPr>
          <p:cNvPr id="6" name="Text 4"/>
          <p:cNvSpPr/>
          <p:nvPr/>
        </p:nvSpPr>
        <p:spPr>
          <a:xfrm>
            <a:off x="1016000" y="21209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0F2EA"/>
                </a:solidFill>
                <a:latin typeface="Courier New" pitchFamily="49" charset="0"/>
                <a:ea typeface="Courier New" pitchFamily="49" charset="-122"/>
                <a:cs typeface="Courier New" pitchFamily="49" charset="-120"/>
              </a:rPr>
              <a:t>internal/core/</a:t>
            </a:r>
            <a:endParaRPr lang="en-US" sz="1300" dirty="0"/>
          </a:p>
        </p:txBody>
      </p:sp>
      <p:sp>
        <p:nvSpPr>
          <p:cNvPr id="7" name="Text 5"/>
          <p:cNvSpPr/>
          <p:nvPr/>
        </p:nvSpPr>
        <p:spPr>
          <a:xfrm>
            <a:off x="1016000" y="2440942"/>
            <a:ext cx="2982468"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3F8F5"/>
                </a:solidFill>
                <a:latin typeface="Arial" pitchFamily="34" charset="0"/>
                <a:ea typeface="Arial" pitchFamily="34" charset="-122"/>
                <a:cs typeface="Arial" pitchFamily="34" charset="-120"/>
              </a:rPr>
              <a:t>Coordinates every repository operation and works with:</a:t>
            </a:r>
            <a:endParaRPr lang="en-US" sz="1400" dirty="0"/>
          </a:p>
        </p:txBody>
      </p:sp>
      <p:sp>
        <p:nvSpPr>
          <p:cNvPr id="8" name="Text 6"/>
          <p:cNvSpPr/>
          <p:nvPr/>
        </p:nvSpPr>
        <p:spPr>
          <a:xfrm>
            <a:off x="1016000" y="2992121"/>
            <a:ext cx="298246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0F2EA"/>
                </a:solidFill>
                <a:latin typeface="Arial" pitchFamily="34" charset="0"/>
                <a:ea typeface="Arial" pitchFamily="34" charset="-122"/>
                <a:cs typeface="Arial" pitchFamily="34" charset="-120"/>
              </a:rPr>
              <a:t>Staging index · Data models · Storage interface · Working tree</a:t>
            </a:r>
            <a:endParaRPr lang="en-US" sz="1300" dirty="0"/>
          </a:p>
        </p:txBody>
      </p:sp>
      <p:pic>
        <p:nvPicPr>
          <p:cNvPr id="9" name="Image 0" descr="arrow-right"/>
          <p:cNvPicPr>
            <a:picLocks noChangeAspect="1"/>
          </p:cNvPicPr>
          <p:nvPr/>
        </p:nvPicPr>
        <p:blipFill>
          <a:blip r:embed="rId3"/>
          <a:srcRect/>
          <a:stretch/>
        </p:blipFill>
        <p:spPr>
          <a:xfrm>
            <a:off x="4267200" y="2480946"/>
            <a:ext cx="355600" cy="203200"/>
          </a:xfrm>
          <a:prstGeom prst="rect">
            <a:avLst/>
          </a:prstGeom>
        </p:spPr>
      </p:pic>
      <p:sp>
        <p:nvSpPr>
          <p:cNvPr id="10" name="Text 7"/>
          <p:cNvSpPr/>
          <p:nvPr/>
        </p:nvSpPr>
        <p:spPr>
          <a:xfrm>
            <a:off x="4781550" y="1753239"/>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1"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Staging</a:t>
            </a:r>
            <a:endParaRPr lang="en-US" sz="1400" dirty="0"/>
          </a:p>
        </p:txBody>
      </p:sp>
      <p:sp>
        <p:nvSpPr>
          <p:cNvPr id="11" name="Text 8"/>
          <p:cNvSpPr/>
          <p:nvPr/>
        </p:nvSpPr>
        <p:spPr>
          <a:xfrm>
            <a:off x="7012464" y="1753239"/>
            <a:ext cx="2129393" cy="485140"/>
          </a:xfrm>
          <a:prstGeom prst="roundRect">
            <a:avLst>
              <a:gd name="adj" fmla="val 14398"/>
            </a:avLst>
          </a:prstGeom>
          <a:solidFill>
            <a:srgbClr val="FBFCFE"/>
          </a:solidFill>
          <a:ln w="12700">
            <a:solidFill>
              <a:srgbClr val="C7D8CE"/>
            </a:solidFill>
            <a:prstDash val="solid"/>
          </a:ln>
        </p:spPr>
        <p:txBody>
          <a:bodyPr wrap="square" lIns="110351" tIns="97652" rIns="54318"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Status</a:t>
            </a:r>
            <a:endParaRPr lang="en-US" sz="1400" dirty="0"/>
          </a:p>
        </p:txBody>
      </p:sp>
      <p:sp>
        <p:nvSpPr>
          <p:cNvPr id="12" name="Text 9"/>
          <p:cNvSpPr/>
          <p:nvPr/>
        </p:nvSpPr>
        <p:spPr>
          <a:xfrm>
            <a:off x="9243457" y="1753239"/>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0"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Commits</a:t>
            </a:r>
            <a:endParaRPr lang="en-US" sz="1400" dirty="0"/>
          </a:p>
        </p:txBody>
      </p:sp>
      <p:sp>
        <p:nvSpPr>
          <p:cNvPr id="13" name="Text 10"/>
          <p:cNvSpPr/>
          <p:nvPr/>
        </p:nvSpPr>
        <p:spPr>
          <a:xfrm>
            <a:off x="4781550" y="2339975"/>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1"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References</a:t>
            </a:r>
            <a:endParaRPr lang="en-US" sz="1400" dirty="0"/>
          </a:p>
        </p:txBody>
      </p:sp>
      <p:sp>
        <p:nvSpPr>
          <p:cNvPr id="14" name="Text 11"/>
          <p:cNvSpPr/>
          <p:nvPr/>
        </p:nvSpPr>
        <p:spPr>
          <a:xfrm>
            <a:off x="7012464" y="2339975"/>
            <a:ext cx="2129393" cy="485140"/>
          </a:xfrm>
          <a:prstGeom prst="roundRect">
            <a:avLst>
              <a:gd name="adj" fmla="val 14398"/>
            </a:avLst>
          </a:prstGeom>
          <a:solidFill>
            <a:srgbClr val="FBFCFE"/>
          </a:solidFill>
          <a:ln w="12700">
            <a:solidFill>
              <a:srgbClr val="C7D8CE"/>
            </a:solidFill>
            <a:prstDash val="solid"/>
          </a:ln>
        </p:spPr>
        <p:txBody>
          <a:bodyPr wrap="square" lIns="110351" tIns="97652" rIns="54318"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Checkout</a:t>
            </a:r>
            <a:endParaRPr lang="en-US" sz="1400" dirty="0"/>
          </a:p>
        </p:txBody>
      </p:sp>
      <p:sp>
        <p:nvSpPr>
          <p:cNvPr id="15" name="Text 12"/>
          <p:cNvSpPr/>
          <p:nvPr/>
        </p:nvSpPr>
        <p:spPr>
          <a:xfrm>
            <a:off x="9243457" y="2339975"/>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0"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Reset</a:t>
            </a:r>
            <a:endParaRPr lang="en-US" sz="1400" dirty="0"/>
          </a:p>
        </p:txBody>
      </p:sp>
      <p:sp>
        <p:nvSpPr>
          <p:cNvPr id="16" name="Text 13"/>
          <p:cNvSpPr/>
          <p:nvPr/>
        </p:nvSpPr>
        <p:spPr>
          <a:xfrm>
            <a:off x="4781550" y="2926717"/>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1"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Merge</a:t>
            </a:r>
            <a:endParaRPr lang="en-US" sz="1400" dirty="0"/>
          </a:p>
        </p:txBody>
      </p:sp>
      <p:sp>
        <p:nvSpPr>
          <p:cNvPr id="17" name="Text 14"/>
          <p:cNvSpPr/>
          <p:nvPr/>
        </p:nvSpPr>
        <p:spPr>
          <a:xfrm>
            <a:off x="7012464" y="2926717"/>
            <a:ext cx="2129393" cy="485140"/>
          </a:xfrm>
          <a:prstGeom prst="roundRect">
            <a:avLst>
              <a:gd name="adj" fmla="val 14398"/>
            </a:avLst>
          </a:prstGeom>
          <a:solidFill>
            <a:srgbClr val="FBFCFE"/>
          </a:solidFill>
          <a:ln w="12700">
            <a:solidFill>
              <a:srgbClr val="C7D8CE"/>
            </a:solidFill>
            <a:prstDash val="solid"/>
          </a:ln>
        </p:spPr>
        <p:txBody>
          <a:bodyPr wrap="square" lIns="110351" tIns="97652" rIns="54318"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Revert</a:t>
            </a:r>
            <a:endParaRPr lang="en-US" sz="1400" dirty="0"/>
          </a:p>
        </p:txBody>
      </p:sp>
      <p:sp>
        <p:nvSpPr>
          <p:cNvPr id="18" name="Text 15"/>
          <p:cNvSpPr/>
          <p:nvPr/>
        </p:nvSpPr>
        <p:spPr>
          <a:xfrm>
            <a:off x="9243457" y="2926717"/>
            <a:ext cx="2129314" cy="485140"/>
          </a:xfrm>
          <a:prstGeom prst="roundRect">
            <a:avLst>
              <a:gd name="adj" fmla="val 14398"/>
            </a:avLst>
          </a:prstGeom>
          <a:solidFill>
            <a:srgbClr val="FBFCFE"/>
          </a:solidFill>
          <a:ln w="12700">
            <a:solidFill>
              <a:srgbClr val="C7D8CE"/>
            </a:solidFill>
            <a:prstDash val="solid"/>
          </a:ln>
        </p:spPr>
        <p:txBody>
          <a:bodyPr wrap="square" lIns="110352" tIns="97652" rIns="54320" bIns="7225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Tree access</a:t>
            </a:r>
            <a:endParaRPr lang="en-US" sz="1400" dirty="0"/>
          </a:p>
        </p:txBody>
      </p:sp>
      <p:sp>
        <p:nvSpPr>
          <p:cNvPr id="19" name="Text 16"/>
          <p:cNvSpPr/>
          <p:nvPr/>
        </p:nvSpPr>
        <p:spPr>
          <a:xfrm>
            <a:off x="812800" y="384429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References cover branches, tags and HEAD. Merging is local only.</a:t>
            </a:r>
            <a:endParaRPr lang="en-US" sz="1200" dirty="0"/>
          </a:p>
        </p:txBody>
      </p:sp>
      <p:pic>
        <p:nvPicPr>
          <p:cNvPr id="20" name="Image 1"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1" name="Text 17"/>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2" name="Text 1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Models, Storage and Utilities</a:t>
            </a:r>
            <a:endParaRPr lang="en-US" sz="3200" dirty="0"/>
          </a:p>
        </p:txBody>
      </p:sp>
      <p:sp>
        <p:nvSpPr>
          <p:cNvPr id="4" name="Shape 2"/>
          <p:cNvSpPr/>
          <p:nvPr/>
        </p:nvSpPr>
        <p:spPr>
          <a:xfrm>
            <a:off x="819150" y="1530350"/>
            <a:ext cx="3407807" cy="1821180"/>
          </a:xfrm>
          <a:prstGeom prst="roundRect">
            <a:avLst>
              <a:gd name="adj" fmla="val 5230"/>
            </a:avLst>
          </a:prstGeom>
          <a:solidFill>
            <a:srgbClr val="FBFCFE"/>
          </a:solidFill>
          <a:ln w="12700">
            <a:solidFill>
              <a:srgbClr val="C7D8CE"/>
            </a:solidFill>
            <a:prstDash val="solid"/>
          </a:ln>
        </p:spPr>
      </p:sp>
      <p:sp>
        <p:nvSpPr>
          <p:cNvPr id="5" name="Text 3"/>
          <p:cNvSpPr/>
          <p:nvPr/>
        </p:nvSpPr>
        <p:spPr>
          <a:xfrm>
            <a:off x="1000760" y="1686564"/>
            <a:ext cx="31359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Data models</a:t>
            </a:r>
            <a:endParaRPr lang="en-US" sz="1600" dirty="0"/>
          </a:p>
        </p:txBody>
      </p:sp>
      <p:sp>
        <p:nvSpPr>
          <p:cNvPr id="6" name="Text 4"/>
          <p:cNvSpPr/>
          <p:nvPr/>
        </p:nvSpPr>
        <p:spPr>
          <a:xfrm>
            <a:off x="1000760" y="1993900"/>
            <a:ext cx="31359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0C"/>
                </a:solidFill>
                <a:latin typeface="Courier New" pitchFamily="49" charset="0"/>
                <a:ea typeface="Courier New" pitchFamily="49" charset="-122"/>
                <a:cs typeface="Courier New" pitchFamily="49" charset="-120"/>
              </a:rPr>
              <a:t>internal/models/</a:t>
            </a:r>
            <a:endParaRPr lang="en-US" sz="1200" dirty="0"/>
          </a:p>
        </p:txBody>
      </p:sp>
      <p:sp>
        <p:nvSpPr>
          <p:cNvPr id="7" name="Text 5"/>
          <p:cNvSpPr/>
          <p:nvPr/>
        </p:nvSpPr>
        <p:spPr>
          <a:xfrm>
            <a:off x="1000760" y="2270764"/>
            <a:ext cx="3135924"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Serialize and parse the four object types: Blob, Tree, Commit and Tag.</a:t>
            </a:r>
            <a:endParaRPr lang="en-US" sz="1400" dirty="0"/>
          </a:p>
        </p:txBody>
      </p:sp>
      <p:sp>
        <p:nvSpPr>
          <p:cNvPr id="8" name="Shape 6"/>
          <p:cNvSpPr/>
          <p:nvPr/>
        </p:nvSpPr>
        <p:spPr>
          <a:xfrm>
            <a:off x="4392057" y="1530350"/>
            <a:ext cx="3407886" cy="1821180"/>
          </a:xfrm>
          <a:prstGeom prst="roundRect">
            <a:avLst>
              <a:gd name="adj" fmla="val 5230"/>
            </a:avLst>
          </a:prstGeom>
          <a:solidFill>
            <a:srgbClr val="FBFCFE"/>
          </a:solidFill>
          <a:ln w="12700">
            <a:solidFill>
              <a:srgbClr val="C7D8CE"/>
            </a:solidFill>
            <a:prstDash val="solid"/>
          </a:ln>
        </p:spPr>
      </p:sp>
      <p:sp>
        <p:nvSpPr>
          <p:cNvPr id="9" name="Text 7"/>
          <p:cNvSpPr/>
          <p:nvPr/>
        </p:nvSpPr>
        <p:spPr>
          <a:xfrm>
            <a:off x="4573667" y="1686564"/>
            <a:ext cx="313600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Storage</a:t>
            </a:r>
            <a:endParaRPr lang="en-US" sz="1600" dirty="0"/>
          </a:p>
        </p:txBody>
      </p:sp>
      <p:sp>
        <p:nvSpPr>
          <p:cNvPr id="10" name="Text 8"/>
          <p:cNvSpPr/>
          <p:nvPr/>
        </p:nvSpPr>
        <p:spPr>
          <a:xfrm>
            <a:off x="4573667" y="1993900"/>
            <a:ext cx="313600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0C"/>
                </a:solidFill>
                <a:latin typeface="Courier New" pitchFamily="49" charset="0"/>
                <a:ea typeface="Courier New" pitchFamily="49" charset="-122"/>
                <a:cs typeface="Courier New" pitchFamily="49" charset="-120"/>
              </a:rPr>
              <a:t>internal/storage/</a:t>
            </a:r>
            <a:endParaRPr lang="en-US" sz="1200" dirty="0"/>
          </a:p>
        </p:txBody>
      </p:sp>
      <p:sp>
        <p:nvSpPr>
          <p:cNvPr id="11" name="Text 9"/>
          <p:cNvSpPr/>
          <p:nvPr/>
        </p:nvSpPr>
        <p:spPr>
          <a:xfrm>
            <a:off x="4573667" y="2270764"/>
            <a:ext cx="3136006" cy="9499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Stores and reads serialized objects using SHA-1 identifiers and zlib compression, behind an object-storage interface.</a:t>
            </a:r>
            <a:endParaRPr lang="en-US" sz="1400" dirty="0"/>
          </a:p>
        </p:txBody>
      </p:sp>
      <p:sp>
        <p:nvSpPr>
          <p:cNvPr id="12" name="Shape 10"/>
          <p:cNvSpPr/>
          <p:nvPr/>
        </p:nvSpPr>
        <p:spPr>
          <a:xfrm>
            <a:off x="7965043" y="1530350"/>
            <a:ext cx="3407807" cy="1821180"/>
          </a:xfrm>
          <a:prstGeom prst="roundRect">
            <a:avLst>
              <a:gd name="adj" fmla="val 5230"/>
            </a:avLst>
          </a:prstGeom>
          <a:solidFill>
            <a:srgbClr val="FBFCFE"/>
          </a:solidFill>
          <a:ln w="12700">
            <a:solidFill>
              <a:srgbClr val="C7D8CE"/>
            </a:solidFill>
            <a:prstDash val="solid"/>
          </a:ln>
        </p:spPr>
      </p:sp>
      <p:sp>
        <p:nvSpPr>
          <p:cNvPr id="13" name="Text 11"/>
          <p:cNvSpPr/>
          <p:nvPr/>
        </p:nvSpPr>
        <p:spPr>
          <a:xfrm>
            <a:off x="8146653" y="1686564"/>
            <a:ext cx="31359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Config and diff</a:t>
            </a:r>
            <a:endParaRPr lang="en-US" sz="1600" dirty="0"/>
          </a:p>
        </p:txBody>
      </p:sp>
      <p:sp>
        <p:nvSpPr>
          <p:cNvPr id="14" name="Text 12"/>
          <p:cNvSpPr/>
          <p:nvPr/>
        </p:nvSpPr>
        <p:spPr>
          <a:xfrm>
            <a:off x="8146653" y="1993900"/>
            <a:ext cx="313592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5A0C"/>
                </a:solidFill>
                <a:latin typeface="Courier New" pitchFamily="49" charset="0"/>
                <a:ea typeface="Courier New" pitchFamily="49" charset="-122"/>
                <a:cs typeface="Courier New" pitchFamily="49" charset="-120"/>
              </a:rPr>
              <a:t>internal/config/ · internal/utils/</a:t>
            </a:r>
            <a:endParaRPr lang="en-US" sz="1200" dirty="0"/>
          </a:p>
        </p:txBody>
      </p:sp>
      <p:sp>
        <p:nvSpPr>
          <p:cNvPr id="15" name="Text 13"/>
          <p:cNvSpPr/>
          <p:nvPr/>
        </p:nvSpPr>
        <p:spPr>
          <a:xfrm>
            <a:off x="8146653" y="2484121"/>
            <a:ext cx="3135924"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Read and write configuration and discover repository roots; generate and format text-line diffs.</a:t>
            </a:r>
            <a:endParaRPr lang="en-US" sz="1400" dirty="0"/>
          </a:p>
        </p:txBody>
      </p:sp>
      <p:sp>
        <p:nvSpPr>
          <p:cNvPr id="16" name="Text 14"/>
          <p:cNvSpPr/>
          <p:nvPr/>
        </p:nvSpPr>
        <p:spPr>
          <a:xfrm>
            <a:off x="812800" y="35610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HOW MODELS AND STORAGE INTERACT</a:t>
            </a:r>
            <a:endParaRPr lang="en-US" sz="1200" dirty="0"/>
          </a:p>
        </p:txBody>
      </p:sp>
      <p:sp>
        <p:nvSpPr>
          <p:cNvPr id="17" name="Text 15"/>
          <p:cNvSpPr/>
          <p:nvPr/>
        </p:nvSpPr>
        <p:spPr>
          <a:xfrm>
            <a:off x="819150" y="3983992"/>
            <a:ext cx="2286000" cy="623570"/>
          </a:xfrm>
          <a:prstGeom prst="roundRect">
            <a:avLst>
              <a:gd name="adj" fmla="val 11202"/>
            </a:avLst>
          </a:prstGeom>
          <a:solidFill>
            <a:srgbClr val="E0F2EA"/>
          </a:solidFill>
          <a:ln w="12700">
            <a:solidFill>
              <a:srgbClr val="8CCBB0"/>
            </a:solidFill>
            <a:prstDash val="solid"/>
          </a:ln>
        </p:spPr>
        <p:txBody>
          <a:bodyPr wrap="square" lIns="97652" tIns="84952" rIns="36158" bIns="59552" rtlCol="0" anchor="t">
            <a:normAutofit/>
          </a:bodyPr>
          <a:lstStyle/>
          <a:p>
            <a:pPr marL="0" indent="0" algn="l">
              <a:lnSpc>
                <a:spcPts val="1625"/>
              </a:lnSpc>
              <a:buNone/>
            </a:pPr>
            <a:r>
              <a:rPr lang="en-US" sz="1300" b="1" dirty="0">
                <a:solidFill>
                  <a:srgbClr val="07201A"/>
                </a:solidFill>
                <a:latin typeface="Arial" pitchFamily="34" charset="0"/>
                <a:ea typeface="Arial" pitchFamily="34" charset="-122"/>
                <a:cs typeface="Arial" pitchFamily="34" charset="-120"/>
              </a:rPr>
              <a:t>Model serializes the object</a:t>
            </a:r>
            <a:endParaRPr lang="en-US" sz="1300" dirty="0"/>
          </a:p>
        </p:txBody>
      </p:sp>
      <p:pic>
        <p:nvPicPr>
          <p:cNvPr id="18" name="Image 0" descr="arrow-right"/>
          <p:cNvPicPr>
            <a:picLocks noChangeAspect="1"/>
          </p:cNvPicPr>
          <p:nvPr/>
        </p:nvPicPr>
        <p:blipFill>
          <a:blip r:embed="rId3"/>
          <a:srcRect/>
          <a:stretch/>
        </p:blipFill>
        <p:spPr>
          <a:xfrm>
            <a:off x="3200400" y="4213225"/>
            <a:ext cx="279400" cy="165100"/>
          </a:xfrm>
          <a:prstGeom prst="rect">
            <a:avLst/>
          </a:prstGeom>
        </p:spPr>
      </p:pic>
      <p:sp>
        <p:nvSpPr>
          <p:cNvPr id="19" name="Text 16"/>
          <p:cNvSpPr/>
          <p:nvPr/>
        </p:nvSpPr>
        <p:spPr>
          <a:xfrm>
            <a:off x="3575050" y="3983992"/>
            <a:ext cx="2286000" cy="623570"/>
          </a:xfrm>
          <a:prstGeom prst="roundRect">
            <a:avLst>
              <a:gd name="adj" fmla="val 11202"/>
            </a:avLst>
          </a:prstGeom>
          <a:solidFill>
            <a:srgbClr val="E0F2EA"/>
          </a:solidFill>
          <a:ln w="12700">
            <a:solidFill>
              <a:srgbClr val="8CCBB0"/>
            </a:solidFill>
            <a:prstDash val="solid"/>
          </a:ln>
        </p:spPr>
        <p:txBody>
          <a:bodyPr wrap="square" lIns="97652" tIns="84952" rIns="36158" bIns="59552" rtlCol="0" anchor="t">
            <a:normAutofit/>
          </a:bodyPr>
          <a:lstStyle/>
          <a:p>
            <a:pPr marL="0" indent="0" algn="l">
              <a:lnSpc>
                <a:spcPts val="1625"/>
              </a:lnSpc>
              <a:buNone/>
            </a:pPr>
            <a:r>
              <a:rPr lang="en-US" sz="1300" b="1" dirty="0">
                <a:solidFill>
                  <a:srgbClr val="07201A"/>
                </a:solidFill>
                <a:latin typeface="Arial" pitchFamily="34" charset="0"/>
                <a:ea typeface="Arial" pitchFamily="34" charset="-122"/>
                <a:cs typeface="Arial" pitchFamily="34" charset="-120"/>
              </a:rPr>
              <a:t>Storage hashes the bytes (SHA-1)</a:t>
            </a:r>
            <a:endParaRPr lang="en-US" sz="1300" dirty="0"/>
          </a:p>
        </p:txBody>
      </p:sp>
      <p:pic>
        <p:nvPicPr>
          <p:cNvPr id="20" name="Image 1" descr="arrow-right"/>
          <p:cNvPicPr>
            <a:picLocks noChangeAspect="1"/>
          </p:cNvPicPr>
          <p:nvPr/>
        </p:nvPicPr>
        <p:blipFill>
          <a:blip r:embed="rId3"/>
          <a:srcRect/>
          <a:stretch/>
        </p:blipFill>
        <p:spPr>
          <a:xfrm>
            <a:off x="5956300" y="4213225"/>
            <a:ext cx="279400" cy="165100"/>
          </a:xfrm>
          <a:prstGeom prst="rect">
            <a:avLst/>
          </a:prstGeom>
        </p:spPr>
      </p:pic>
      <p:sp>
        <p:nvSpPr>
          <p:cNvPr id="21" name="Text 17"/>
          <p:cNvSpPr/>
          <p:nvPr/>
        </p:nvSpPr>
        <p:spPr>
          <a:xfrm>
            <a:off x="6330950" y="3983992"/>
            <a:ext cx="2286000" cy="623570"/>
          </a:xfrm>
          <a:prstGeom prst="roundRect">
            <a:avLst>
              <a:gd name="adj" fmla="val 11202"/>
            </a:avLst>
          </a:prstGeom>
          <a:solidFill>
            <a:srgbClr val="E0F2EA"/>
          </a:solidFill>
          <a:ln w="12700">
            <a:solidFill>
              <a:srgbClr val="8CCBB0"/>
            </a:solidFill>
            <a:prstDash val="solid"/>
          </a:ln>
        </p:spPr>
        <p:txBody>
          <a:bodyPr wrap="square" lIns="97652" tIns="84952" rIns="36158" bIns="59552" rtlCol="0" anchor="t">
            <a:normAutofit/>
          </a:bodyPr>
          <a:lstStyle/>
          <a:p>
            <a:pPr marL="0" indent="0" algn="l">
              <a:lnSpc>
                <a:spcPts val="1625"/>
              </a:lnSpc>
              <a:buNone/>
            </a:pPr>
            <a:r>
              <a:rPr lang="en-US" sz="1300" b="1" dirty="0">
                <a:solidFill>
                  <a:srgbClr val="07201A"/>
                </a:solidFill>
                <a:latin typeface="Arial" pitchFamily="34" charset="0"/>
                <a:ea typeface="Arial" pitchFamily="34" charset="-122"/>
                <a:cs typeface="Arial" pitchFamily="34" charset="-120"/>
              </a:rPr>
              <a:t>Storage compresses (zlib)</a:t>
            </a:r>
            <a:endParaRPr lang="en-US" sz="1300" dirty="0"/>
          </a:p>
        </p:txBody>
      </p:sp>
      <p:pic>
        <p:nvPicPr>
          <p:cNvPr id="22" name="Image 2" descr="arrow-right"/>
          <p:cNvPicPr>
            <a:picLocks noChangeAspect="1"/>
          </p:cNvPicPr>
          <p:nvPr/>
        </p:nvPicPr>
        <p:blipFill>
          <a:blip r:embed="rId3"/>
          <a:srcRect/>
          <a:stretch/>
        </p:blipFill>
        <p:spPr>
          <a:xfrm>
            <a:off x="8712200" y="4213225"/>
            <a:ext cx="279400" cy="165100"/>
          </a:xfrm>
          <a:prstGeom prst="rect">
            <a:avLst/>
          </a:prstGeom>
        </p:spPr>
      </p:pic>
      <p:sp>
        <p:nvSpPr>
          <p:cNvPr id="23" name="Text 18"/>
          <p:cNvSpPr/>
          <p:nvPr/>
        </p:nvSpPr>
        <p:spPr>
          <a:xfrm>
            <a:off x="9086850" y="3983992"/>
            <a:ext cx="2286000" cy="623570"/>
          </a:xfrm>
          <a:prstGeom prst="roundRect">
            <a:avLst>
              <a:gd name="adj" fmla="val 11202"/>
            </a:avLst>
          </a:prstGeom>
          <a:solidFill>
            <a:srgbClr val="E0F2EA"/>
          </a:solidFill>
          <a:ln w="12700">
            <a:solidFill>
              <a:srgbClr val="8CCBB0"/>
            </a:solidFill>
            <a:prstDash val="solid"/>
          </a:ln>
        </p:spPr>
        <p:txBody>
          <a:bodyPr wrap="square" lIns="97651" tIns="84952" rIns="36158" bIns="59552" rtlCol="0" anchor="t">
            <a:normAutofit/>
          </a:bodyPr>
          <a:lstStyle/>
          <a:p>
            <a:pPr marL="0" indent="0" algn="l">
              <a:lnSpc>
                <a:spcPts val="1625"/>
              </a:lnSpc>
              <a:buNone/>
            </a:pPr>
            <a:r>
              <a:rPr lang="en-US" sz="1300" b="1" dirty="0">
                <a:solidFill>
                  <a:srgbClr val="07201A"/>
                </a:solidFill>
                <a:latin typeface="Arial" pitchFamily="34" charset="0"/>
                <a:ea typeface="Arial" pitchFamily="34" charset="-122"/>
                <a:cs typeface="Arial" pitchFamily="34" charset="-120"/>
              </a:rPr>
              <a:t>Written under .loki/objects/</a:t>
            </a:r>
            <a:endParaRPr lang="en-US" sz="1300" dirty="0"/>
          </a:p>
        </p:txBody>
      </p:sp>
      <p:pic>
        <p:nvPicPr>
          <p:cNvPr id="24" name="Image 3"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5" name="Text 19"/>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6" name="Text 20"/>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B · SYSTEM ARCHITECTURE</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End-to-End Command Flow: loki add</a:t>
            </a:r>
            <a:endParaRPr lang="en-US" sz="3200" dirty="0"/>
          </a:p>
        </p:txBody>
      </p:sp>
      <p:sp>
        <p:nvSpPr>
          <p:cNvPr id="4" name="Text 2"/>
          <p:cNvSpPr/>
          <p:nvPr/>
        </p:nvSpPr>
        <p:spPr>
          <a:xfrm>
            <a:off x="933450" y="1606550"/>
            <a:ext cx="1511300" cy="393700"/>
          </a:xfrm>
          <a:prstGeom prst="roundRect">
            <a:avLst>
              <a:gd name="adj" fmla="val 17742"/>
            </a:avLst>
          </a:prstGeom>
          <a:solidFill>
            <a:srgbClr val="FBFCFE"/>
          </a:solidFill>
          <a:ln w="12700">
            <a:solidFill>
              <a:srgbClr val="9DB5A9"/>
            </a:solidFill>
            <a:prstDash val="solid"/>
          </a:ln>
        </p:spPr>
        <p:txBody>
          <a:bodyPr wrap="square" lIns="0" tIns="0" rIns="0" bIns="0" rtlCol="0" anchor="ctr">
            <a:normAutofit/>
          </a:bodyPr>
          <a:lstStyle/>
          <a:p>
            <a:pPr marL="0" indent="0" algn="ctr">
              <a:lnSpc>
                <a:spcPts val="1680"/>
              </a:lnSpc>
              <a:buNone/>
            </a:pPr>
            <a:r>
              <a:rPr lang="en-US" sz="1200" b="1" dirty="0">
                <a:solidFill>
                  <a:srgbClr val="07201A"/>
                </a:solidFill>
                <a:latin typeface="Arial" pitchFamily="34" charset="0"/>
                <a:ea typeface="Arial" pitchFamily="34" charset="-122"/>
                <a:cs typeface="Arial" pitchFamily="34" charset="-120"/>
              </a:rPr>
              <a:t>User</a:t>
            </a:r>
            <a:endParaRPr lang="en-US" sz="1200" dirty="0"/>
          </a:p>
        </p:txBody>
      </p:sp>
      <p:sp>
        <p:nvSpPr>
          <p:cNvPr id="5" name="Text 3"/>
          <p:cNvSpPr/>
          <p:nvPr/>
        </p:nvSpPr>
        <p:spPr>
          <a:xfrm>
            <a:off x="2692400" y="1606550"/>
            <a:ext cx="1511300" cy="393700"/>
          </a:xfrm>
          <a:prstGeom prst="roundRect">
            <a:avLst>
              <a:gd name="adj" fmla="val 17742"/>
            </a:avLst>
          </a:prstGeom>
          <a:solidFill>
            <a:srgbClr val="E0F2EA"/>
          </a:solidFill>
          <a:ln w="12700">
            <a:solidFill>
              <a:srgbClr val="8CCBB0"/>
            </a:solidFill>
            <a:prstDash val="solid"/>
          </a:ln>
        </p:spPr>
        <p:txBody>
          <a:bodyPr wrap="square" lIns="0" tIns="0" rIns="0" bIns="0" rtlCol="0" anchor="ctr">
            <a:normAutofit/>
          </a:bodyPr>
          <a:lstStyle/>
          <a:p>
            <a:pPr marL="0" indent="0" algn="ctr">
              <a:lnSpc>
                <a:spcPts val="1680"/>
              </a:lnSpc>
              <a:buNone/>
            </a:pPr>
            <a:r>
              <a:rPr lang="en-US" sz="1200" b="1" dirty="0">
                <a:solidFill>
                  <a:srgbClr val="07201A"/>
                </a:solidFill>
                <a:latin typeface="Arial" pitchFamily="34" charset="0"/>
                <a:ea typeface="Arial" pitchFamily="34" charset="-122"/>
                <a:cs typeface="Arial" pitchFamily="34" charset="-120"/>
              </a:rPr>
              <a:t>CLI (cmd/loki)</a:t>
            </a:r>
            <a:endParaRPr lang="en-US" sz="1200" dirty="0"/>
          </a:p>
        </p:txBody>
      </p:sp>
      <p:sp>
        <p:nvSpPr>
          <p:cNvPr id="6" name="Text 4"/>
          <p:cNvSpPr/>
          <p:nvPr/>
        </p:nvSpPr>
        <p:spPr>
          <a:xfrm>
            <a:off x="4457700" y="1606550"/>
            <a:ext cx="1511300" cy="393700"/>
          </a:xfrm>
          <a:prstGeom prst="roundRect">
            <a:avLst>
              <a:gd name="adj" fmla="val 17742"/>
            </a:avLst>
          </a:prstGeom>
          <a:solidFill>
            <a:srgbClr val="E0F2EA"/>
          </a:solidFill>
          <a:ln w="12700">
            <a:solidFill>
              <a:srgbClr val="8CCBB0"/>
            </a:solidFill>
            <a:prstDash val="solid"/>
          </a:ln>
        </p:spPr>
        <p:txBody>
          <a:bodyPr wrap="square" lIns="0" tIns="0" rIns="0" bIns="0" rtlCol="0" anchor="ctr">
            <a:normAutofit/>
          </a:bodyPr>
          <a:lstStyle/>
          <a:p>
            <a:pPr marL="0" indent="0" algn="ctr">
              <a:lnSpc>
                <a:spcPts val="1680"/>
              </a:lnSpc>
              <a:buNone/>
            </a:pPr>
            <a:r>
              <a:rPr lang="en-US" sz="1200" b="1" dirty="0">
                <a:solidFill>
                  <a:srgbClr val="07201A"/>
                </a:solidFill>
                <a:latin typeface="Arial" pitchFamily="34" charset="0"/>
                <a:ea typeface="Arial" pitchFamily="34" charset="-122"/>
                <a:cs typeface="Arial" pitchFamily="34" charset="-120"/>
              </a:rPr>
              <a:t>Command handler</a:t>
            </a:r>
            <a:endParaRPr lang="en-US" sz="1200" dirty="0"/>
          </a:p>
        </p:txBody>
      </p:sp>
      <p:sp>
        <p:nvSpPr>
          <p:cNvPr id="7" name="Text 5"/>
          <p:cNvSpPr/>
          <p:nvPr/>
        </p:nvSpPr>
        <p:spPr>
          <a:xfrm>
            <a:off x="6210300" y="1600200"/>
            <a:ext cx="1524000" cy="406400"/>
          </a:xfrm>
          <a:prstGeom prst="roundRect">
            <a:avLst>
              <a:gd name="adj" fmla="val 18750"/>
            </a:avLst>
          </a:prstGeom>
          <a:solidFill>
            <a:srgbClr val="0F7B54"/>
          </a:solidFill>
          <a:ln/>
        </p:spPr>
        <p:txBody>
          <a:bodyPr wrap="square" lIns="0" tIns="0" rIns="0" bIns="0" rtlCol="0" anchor="ctr">
            <a:normAutofit/>
          </a:bodyPr>
          <a:lstStyle/>
          <a:p>
            <a:pPr marL="0" indent="0" algn="ctr">
              <a:lnSpc>
                <a:spcPts val="1680"/>
              </a:lnSpc>
              <a:buNone/>
            </a:pPr>
            <a:r>
              <a:rPr lang="en-US" sz="1200" b="1" dirty="0">
                <a:solidFill>
                  <a:srgbClr val="F3F8F5"/>
                </a:solidFill>
                <a:latin typeface="Arial" pitchFamily="34" charset="0"/>
                <a:ea typeface="Arial" pitchFamily="34" charset="-122"/>
                <a:cs typeface="Arial" pitchFamily="34" charset="-120"/>
              </a:rPr>
              <a:t>Core</a:t>
            </a:r>
            <a:endParaRPr lang="en-US" sz="1200" dirty="0"/>
          </a:p>
        </p:txBody>
      </p:sp>
      <p:sp>
        <p:nvSpPr>
          <p:cNvPr id="8" name="Text 6"/>
          <p:cNvSpPr/>
          <p:nvPr/>
        </p:nvSpPr>
        <p:spPr>
          <a:xfrm>
            <a:off x="7975600" y="1606550"/>
            <a:ext cx="1511300" cy="393700"/>
          </a:xfrm>
          <a:prstGeom prst="roundRect">
            <a:avLst>
              <a:gd name="adj" fmla="val 17742"/>
            </a:avLst>
          </a:prstGeom>
          <a:solidFill>
            <a:srgbClr val="F6EFD6"/>
          </a:solidFill>
          <a:ln w="12700">
            <a:solidFill>
              <a:srgbClr val="D9BE6A"/>
            </a:solidFill>
            <a:prstDash val="solid"/>
          </a:ln>
        </p:spPr>
        <p:txBody>
          <a:bodyPr wrap="square" lIns="0" tIns="0" rIns="0" bIns="0" rtlCol="0" anchor="ctr">
            <a:normAutofit/>
          </a:bodyPr>
          <a:lstStyle/>
          <a:p>
            <a:pPr marL="0" indent="0" algn="ctr">
              <a:lnSpc>
                <a:spcPts val="1680"/>
              </a:lnSpc>
              <a:buNone/>
            </a:pPr>
            <a:r>
              <a:rPr lang="en-US" sz="1200" b="1" dirty="0">
                <a:solidFill>
                  <a:srgbClr val="07201A"/>
                </a:solidFill>
                <a:latin typeface="Arial" pitchFamily="34" charset="0"/>
                <a:ea typeface="Arial" pitchFamily="34" charset="-122"/>
                <a:cs typeface="Arial" pitchFamily="34" charset="-120"/>
              </a:rPr>
              <a:t>Storage</a:t>
            </a:r>
            <a:endParaRPr lang="en-US" sz="1200" dirty="0"/>
          </a:p>
        </p:txBody>
      </p:sp>
      <p:sp>
        <p:nvSpPr>
          <p:cNvPr id="9" name="Text 7"/>
          <p:cNvSpPr/>
          <p:nvPr/>
        </p:nvSpPr>
        <p:spPr>
          <a:xfrm>
            <a:off x="9728200" y="1600200"/>
            <a:ext cx="1524000" cy="406400"/>
          </a:xfrm>
          <a:prstGeom prst="roundRect">
            <a:avLst>
              <a:gd name="adj" fmla="val 18750"/>
            </a:avLst>
          </a:prstGeom>
          <a:solidFill>
            <a:srgbClr val="07201A"/>
          </a:solidFill>
          <a:ln/>
        </p:spPr>
        <p:txBody>
          <a:bodyPr wrap="square" lIns="0" tIns="0" rIns="0" bIns="0" rtlCol="0" anchor="ctr">
            <a:normAutofit/>
          </a:bodyPr>
          <a:lstStyle/>
          <a:p>
            <a:pPr marL="0" indent="0" algn="ctr">
              <a:lnSpc>
                <a:spcPts val="1680"/>
              </a:lnSpc>
              <a:buNone/>
            </a:pPr>
            <a:r>
              <a:rPr lang="en-US" sz="1200" b="1" dirty="0">
                <a:solidFill>
                  <a:srgbClr val="E6F2EC"/>
                </a:solidFill>
                <a:latin typeface="Arial" pitchFamily="34" charset="0"/>
                <a:ea typeface="Arial" pitchFamily="34" charset="-122"/>
                <a:cs typeface="Arial" pitchFamily="34" charset="-120"/>
              </a:rPr>
              <a:t>.loki directory</a:t>
            </a:r>
            <a:endParaRPr lang="en-US" sz="1200" dirty="0"/>
          </a:p>
        </p:txBody>
      </p:sp>
      <p:pic>
        <p:nvPicPr>
          <p:cNvPr id="10" name="Image 0" descr="connector"/>
          <p:cNvPicPr>
            <a:picLocks noChangeAspect="1"/>
          </p:cNvPicPr>
          <p:nvPr/>
        </p:nvPicPr>
        <p:blipFill>
          <a:blip r:embed="rId3"/>
          <a:srcRect/>
          <a:stretch/>
        </p:blipFill>
        <p:spPr>
          <a:xfrm>
            <a:off x="1651000" y="1968500"/>
            <a:ext cx="76200" cy="3784600"/>
          </a:xfrm>
          <a:prstGeom prst="rect">
            <a:avLst/>
          </a:prstGeom>
        </p:spPr>
      </p:pic>
      <p:pic>
        <p:nvPicPr>
          <p:cNvPr id="11" name="Image 1" descr="connector"/>
          <p:cNvPicPr>
            <a:picLocks noChangeAspect="1"/>
          </p:cNvPicPr>
          <p:nvPr/>
        </p:nvPicPr>
        <p:blipFill>
          <a:blip r:embed="rId3"/>
          <a:srcRect/>
          <a:stretch/>
        </p:blipFill>
        <p:spPr>
          <a:xfrm>
            <a:off x="3409950" y="1968500"/>
            <a:ext cx="76200" cy="3784600"/>
          </a:xfrm>
          <a:prstGeom prst="rect">
            <a:avLst/>
          </a:prstGeom>
        </p:spPr>
      </p:pic>
      <p:pic>
        <p:nvPicPr>
          <p:cNvPr id="12" name="Image 2" descr="connector"/>
          <p:cNvPicPr>
            <a:picLocks noChangeAspect="1"/>
          </p:cNvPicPr>
          <p:nvPr/>
        </p:nvPicPr>
        <p:blipFill>
          <a:blip r:embed="rId3"/>
          <a:srcRect/>
          <a:stretch/>
        </p:blipFill>
        <p:spPr>
          <a:xfrm>
            <a:off x="5175250" y="1968500"/>
            <a:ext cx="76200" cy="3784600"/>
          </a:xfrm>
          <a:prstGeom prst="rect">
            <a:avLst/>
          </a:prstGeom>
        </p:spPr>
      </p:pic>
      <p:pic>
        <p:nvPicPr>
          <p:cNvPr id="13" name="Image 3" descr="connector"/>
          <p:cNvPicPr>
            <a:picLocks noChangeAspect="1"/>
          </p:cNvPicPr>
          <p:nvPr/>
        </p:nvPicPr>
        <p:blipFill>
          <a:blip r:embed="rId3"/>
          <a:srcRect/>
          <a:stretch/>
        </p:blipFill>
        <p:spPr>
          <a:xfrm>
            <a:off x="6934200" y="1968500"/>
            <a:ext cx="76200" cy="3784600"/>
          </a:xfrm>
          <a:prstGeom prst="rect">
            <a:avLst/>
          </a:prstGeom>
        </p:spPr>
      </p:pic>
      <p:pic>
        <p:nvPicPr>
          <p:cNvPr id="14" name="Image 4" descr="connector"/>
          <p:cNvPicPr>
            <a:picLocks noChangeAspect="1"/>
          </p:cNvPicPr>
          <p:nvPr/>
        </p:nvPicPr>
        <p:blipFill>
          <a:blip r:embed="rId3"/>
          <a:srcRect/>
          <a:stretch/>
        </p:blipFill>
        <p:spPr>
          <a:xfrm>
            <a:off x="8693150" y="1968500"/>
            <a:ext cx="76200" cy="3784600"/>
          </a:xfrm>
          <a:prstGeom prst="rect">
            <a:avLst/>
          </a:prstGeom>
        </p:spPr>
      </p:pic>
      <p:pic>
        <p:nvPicPr>
          <p:cNvPr id="15" name="Image 5" descr="connector"/>
          <p:cNvPicPr>
            <a:picLocks noChangeAspect="1"/>
          </p:cNvPicPr>
          <p:nvPr/>
        </p:nvPicPr>
        <p:blipFill>
          <a:blip r:embed="rId3"/>
          <a:srcRect/>
          <a:stretch/>
        </p:blipFill>
        <p:spPr>
          <a:xfrm>
            <a:off x="10452100" y="1968500"/>
            <a:ext cx="76200" cy="3784600"/>
          </a:xfrm>
          <a:prstGeom prst="rect">
            <a:avLst/>
          </a:prstGeom>
        </p:spPr>
      </p:pic>
      <p:sp>
        <p:nvSpPr>
          <p:cNvPr id="16" name="Text 8"/>
          <p:cNvSpPr/>
          <p:nvPr/>
        </p:nvSpPr>
        <p:spPr>
          <a:xfrm>
            <a:off x="1714500" y="2184400"/>
            <a:ext cx="1708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loki add notes.txt</a:t>
            </a:r>
            <a:endParaRPr lang="en-US" sz="1200" dirty="0"/>
          </a:p>
        </p:txBody>
      </p:sp>
      <p:pic>
        <p:nvPicPr>
          <p:cNvPr id="17" name="Image 6" descr="connector"/>
          <p:cNvPicPr>
            <a:picLocks noChangeAspect="1"/>
          </p:cNvPicPr>
          <p:nvPr/>
        </p:nvPicPr>
        <p:blipFill>
          <a:blip r:embed="rId4"/>
          <a:srcRect/>
          <a:stretch/>
        </p:blipFill>
        <p:spPr>
          <a:xfrm>
            <a:off x="1638300" y="2362200"/>
            <a:ext cx="1860550" cy="101600"/>
          </a:xfrm>
          <a:prstGeom prst="rect">
            <a:avLst/>
          </a:prstGeom>
        </p:spPr>
      </p:pic>
      <p:sp>
        <p:nvSpPr>
          <p:cNvPr id="18" name="Text 9"/>
          <p:cNvSpPr/>
          <p:nvPr/>
        </p:nvSpPr>
        <p:spPr>
          <a:xfrm>
            <a:off x="3473450" y="2590800"/>
            <a:ext cx="17145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7201A"/>
                </a:solidFill>
                <a:latin typeface="Arial" pitchFamily="34" charset="0"/>
                <a:ea typeface="Arial" pitchFamily="34" charset="-122"/>
                <a:cs typeface="Arial" pitchFamily="34" charset="-120"/>
              </a:rPr>
              <a:t>dispatch command</a:t>
            </a:r>
            <a:endParaRPr lang="en-US" sz="1200" dirty="0"/>
          </a:p>
        </p:txBody>
      </p:sp>
      <p:pic>
        <p:nvPicPr>
          <p:cNvPr id="19" name="Image 7" descr="connector"/>
          <p:cNvPicPr>
            <a:picLocks noChangeAspect="1"/>
          </p:cNvPicPr>
          <p:nvPr/>
        </p:nvPicPr>
        <p:blipFill>
          <a:blip r:embed="rId5"/>
          <a:srcRect/>
          <a:stretch/>
        </p:blipFill>
        <p:spPr>
          <a:xfrm>
            <a:off x="3397250" y="2768600"/>
            <a:ext cx="1866900" cy="101600"/>
          </a:xfrm>
          <a:prstGeom prst="rect">
            <a:avLst/>
          </a:prstGeom>
        </p:spPr>
      </p:pic>
      <p:sp>
        <p:nvSpPr>
          <p:cNvPr id="20" name="Text 10"/>
          <p:cNvSpPr/>
          <p:nvPr/>
        </p:nvSpPr>
        <p:spPr>
          <a:xfrm>
            <a:off x="5238750" y="2997200"/>
            <a:ext cx="17081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7201A"/>
                </a:solidFill>
                <a:latin typeface="Arial" pitchFamily="34" charset="0"/>
                <a:ea typeface="Arial" pitchFamily="34" charset="-122"/>
                <a:cs typeface="Arial" pitchFamily="34" charset="-120"/>
              </a:rPr>
              <a:t>stage the paths</a:t>
            </a:r>
            <a:endParaRPr lang="en-US" sz="1200" dirty="0"/>
          </a:p>
        </p:txBody>
      </p:sp>
      <p:pic>
        <p:nvPicPr>
          <p:cNvPr id="21" name="Image 8" descr="connector"/>
          <p:cNvPicPr>
            <a:picLocks noChangeAspect="1"/>
          </p:cNvPicPr>
          <p:nvPr/>
        </p:nvPicPr>
        <p:blipFill>
          <a:blip r:embed="rId4"/>
          <a:srcRect/>
          <a:stretch/>
        </p:blipFill>
        <p:spPr>
          <a:xfrm>
            <a:off x="5162550" y="3175000"/>
            <a:ext cx="1860550" cy="101600"/>
          </a:xfrm>
          <a:prstGeom prst="rect">
            <a:avLst/>
          </a:prstGeom>
        </p:spPr>
      </p:pic>
      <p:sp>
        <p:nvSpPr>
          <p:cNvPr id="22" name="Text 11"/>
          <p:cNvSpPr/>
          <p:nvPr/>
        </p:nvSpPr>
        <p:spPr>
          <a:xfrm>
            <a:off x="6997700" y="3403600"/>
            <a:ext cx="17081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7201A"/>
                </a:solidFill>
                <a:latin typeface="Arial" pitchFamily="34" charset="0"/>
                <a:ea typeface="Arial" pitchFamily="34" charset="-122"/>
                <a:cs typeface="Arial" pitchFamily="34" charset="-120"/>
              </a:rPr>
              <a:t>store blob object</a:t>
            </a:r>
            <a:endParaRPr lang="en-US" sz="1200" dirty="0"/>
          </a:p>
        </p:txBody>
      </p:sp>
      <p:pic>
        <p:nvPicPr>
          <p:cNvPr id="23" name="Image 9" descr="connector"/>
          <p:cNvPicPr>
            <a:picLocks noChangeAspect="1"/>
          </p:cNvPicPr>
          <p:nvPr/>
        </p:nvPicPr>
        <p:blipFill>
          <a:blip r:embed="rId4"/>
          <a:srcRect/>
          <a:stretch/>
        </p:blipFill>
        <p:spPr>
          <a:xfrm>
            <a:off x="6921500" y="3581400"/>
            <a:ext cx="1860550" cy="101600"/>
          </a:xfrm>
          <a:prstGeom prst="rect">
            <a:avLst/>
          </a:prstGeom>
        </p:spPr>
      </p:pic>
      <p:sp>
        <p:nvSpPr>
          <p:cNvPr id="24" name="Text 12"/>
          <p:cNvSpPr/>
          <p:nvPr/>
        </p:nvSpPr>
        <p:spPr>
          <a:xfrm>
            <a:off x="8756650" y="3810000"/>
            <a:ext cx="17081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7201A"/>
                </a:solidFill>
                <a:latin typeface="Arial" pitchFamily="34" charset="0"/>
                <a:ea typeface="Arial" pitchFamily="34" charset="-122"/>
                <a:cs typeface="Arial" pitchFamily="34" charset="-120"/>
              </a:rPr>
              <a:t>write zlib file</a:t>
            </a:r>
            <a:endParaRPr lang="en-US" sz="1200" dirty="0"/>
          </a:p>
        </p:txBody>
      </p:sp>
      <p:pic>
        <p:nvPicPr>
          <p:cNvPr id="25" name="Image 10" descr="connector"/>
          <p:cNvPicPr>
            <a:picLocks noChangeAspect="1"/>
          </p:cNvPicPr>
          <p:nvPr/>
        </p:nvPicPr>
        <p:blipFill>
          <a:blip r:embed="rId4"/>
          <a:srcRect/>
          <a:stretch/>
        </p:blipFill>
        <p:spPr>
          <a:xfrm>
            <a:off x="8680450" y="3987800"/>
            <a:ext cx="1860550" cy="101600"/>
          </a:xfrm>
          <a:prstGeom prst="rect">
            <a:avLst/>
          </a:prstGeom>
        </p:spPr>
      </p:pic>
      <p:sp>
        <p:nvSpPr>
          <p:cNvPr id="26" name="Text 13"/>
          <p:cNvSpPr/>
          <p:nvPr/>
        </p:nvSpPr>
        <p:spPr>
          <a:xfrm>
            <a:off x="6971856" y="4216400"/>
            <a:ext cx="351878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7201A"/>
                </a:solidFill>
                <a:latin typeface="Arial" pitchFamily="34" charset="0"/>
                <a:ea typeface="Arial" pitchFamily="34" charset="-122"/>
                <a:cs typeface="Arial" pitchFamily="34" charset="-120"/>
              </a:rPr>
              <a:t>update index: path → blob hash</a:t>
            </a:r>
            <a:endParaRPr lang="en-US" sz="1200" dirty="0"/>
          </a:p>
        </p:txBody>
      </p:sp>
      <p:pic>
        <p:nvPicPr>
          <p:cNvPr id="27" name="Image 11" descr="connector"/>
          <p:cNvPicPr>
            <a:picLocks noChangeAspect="1"/>
          </p:cNvPicPr>
          <p:nvPr/>
        </p:nvPicPr>
        <p:blipFill>
          <a:blip r:embed="rId6"/>
          <a:srcRect/>
          <a:stretch/>
        </p:blipFill>
        <p:spPr>
          <a:xfrm>
            <a:off x="6921500" y="4394200"/>
            <a:ext cx="3619500" cy="101600"/>
          </a:xfrm>
          <a:prstGeom prst="rect">
            <a:avLst/>
          </a:prstGeom>
        </p:spPr>
      </p:pic>
      <p:sp>
        <p:nvSpPr>
          <p:cNvPr id="28" name="Text 14"/>
          <p:cNvSpPr/>
          <p:nvPr/>
        </p:nvSpPr>
        <p:spPr>
          <a:xfrm>
            <a:off x="5238750" y="4622800"/>
            <a:ext cx="17081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result</a:t>
            </a:r>
            <a:endParaRPr lang="en-US" sz="1200" dirty="0"/>
          </a:p>
        </p:txBody>
      </p:sp>
      <p:pic>
        <p:nvPicPr>
          <p:cNvPr id="29" name="Image 12" descr="connector"/>
          <p:cNvPicPr>
            <a:picLocks noChangeAspect="1"/>
          </p:cNvPicPr>
          <p:nvPr/>
        </p:nvPicPr>
        <p:blipFill>
          <a:blip r:embed="rId7"/>
          <a:srcRect/>
          <a:stretch/>
        </p:blipFill>
        <p:spPr>
          <a:xfrm>
            <a:off x="5162550" y="4800600"/>
            <a:ext cx="1860550" cy="101600"/>
          </a:xfrm>
          <a:prstGeom prst="rect">
            <a:avLst/>
          </a:prstGeom>
        </p:spPr>
      </p:pic>
      <p:sp>
        <p:nvSpPr>
          <p:cNvPr id="30" name="Text 15"/>
          <p:cNvSpPr/>
          <p:nvPr/>
        </p:nvSpPr>
        <p:spPr>
          <a:xfrm>
            <a:off x="1688560" y="5029200"/>
            <a:ext cx="352533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output shown to the user</a:t>
            </a:r>
            <a:endParaRPr lang="en-US" sz="1200" dirty="0"/>
          </a:p>
        </p:txBody>
      </p:sp>
      <p:pic>
        <p:nvPicPr>
          <p:cNvPr id="31" name="Image 13" descr="connector"/>
          <p:cNvPicPr>
            <a:picLocks noChangeAspect="1"/>
          </p:cNvPicPr>
          <p:nvPr/>
        </p:nvPicPr>
        <p:blipFill>
          <a:blip r:embed="rId8"/>
          <a:srcRect/>
          <a:stretch/>
        </p:blipFill>
        <p:spPr>
          <a:xfrm>
            <a:off x="1638300" y="5207000"/>
            <a:ext cx="3625850" cy="101600"/>
          </a:xfrm>
          <a:prstGeom prst="rect">
            <a:avLst/>
          </a:prstGeom>
        </p:spPr>
      </p:pic>
      <p:pic>
        <p:nvPicPr>
          <p:cNvPr id="32" name="Image 14" descr="Loki logo"/>
          <p:cNvPicPr>
            <a:picLocks noChangeAspect="1"/>
          </p:cNvPicPr>
          <p:nvPr/>
        </p:nvPicPr>
        <p:blipFill>
          <a:blip r:embed="rId9"/>
          <a:srcRect t="88" b="88"/>
          <a:stretch/>
        </p:blipFill>
        <p:spPr>
          <a:xfrm>
            <a:off x="812800" y="6159500"/>
            <a:ext cx="279400" cy="368300"/>
          </a:xfrm>
          <a:prstGeom prst="roundRect">
            <a:avLst>
              <a:gd name="adj" fmla="val 18182"/>
            </a:avLst>
          </a:prstGeom>
        </p:spPr>
      </p:pic>
      <p:sp>
        <p:nvSpPr>
          <p:cNvPr id="33" name="Text 16"/>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4" name="Text 1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Repository Initialization</a:t>
            </a:r>
            <a:endParaRPr lang="en-US" sz="3200" dirty="0"/>
          </a:p>
        </p:txBody>
      </p:sp>
      <p:sp>
        <p:nvSpPr>
          <p:cNvPr id="4" name="Text 2"/>
          <p:cNvSpPr/>
          <p:nvPr/>
        </p:nvSpPr>
        <p:spPr>
          <a:xfrm>
            <a:off x="812800" y="1524000"/>
            <a:ext cx="497078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BEFORE LOKI INIT (ILLUSTRATIVE)</a:t>
            </a:r>
            <a:endParaRPr lang="en-US" sz="1200" dirty="0"/>
          </a:p>
        </p:txBody>
      </p:sp>
      <p:sp>
        <p:nvSpPr>
          <p:cNvPr id="5" name="Text 3"/>
          <p:cNvSpPr/>
          <p:nvPr/>
        </p:nvSpPr>
        <p:spPr>
          <a:xfrm>
            <a:off x="812800" y="1800864"/>
            <a:ext cx="4826000" cy="812800"/>
          </a:xfrm>
          <a:prstGeom prst="roundRect">
            <a:avLst>
              <a:gd name="adj" fmla="val 10938"/>
            </a:avLst>
          </a:prstGeom>
          <a:solidFill>
            <a:srgbClr val="07201A"/>
          </a:solidFill>
          <a:ln/>
        </p:spPr>
        <p:txBody>
          <a:bodyPr wrap="none" lIns="151762" tIns="113662" rIns="17650" bIns="88262" rtlCol="0" anchor="t">
            <a:normAutofit/>
          </a:bodyPr>
          <a:lstStyle/>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project/</a:t>
            </a:r>
            <a:endParaRPr lang="en-US" sz="1400" dirty="0"/>
          </a:p>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 your files</a:t>
            </a:r>
            <a:endParaRPr lang="en-US" sz="1400" dirty="0"/>
          </a:p>
        </p:txBody>
      </p:sp>
      <p:sp>
        <p:nvSpPr>
          <p:cNvPr id="6" name="Text 4"/>
          <p:cNvSpPr/>
          <p:nvPr/>
        </p:nvSpPr>
        <p:spPr>
          <a:xfrm>
            <a:off x="812800" y="2740664"/>
            <a:ext cx="497078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AFTER LOKI INIT (ILLUSTRATIVE)</a:t>
            </a:r>
            <a:endParaRPr lang="en-US" sz="1200" dirty="0"/>
          </a:p>
        </p:txBody>
      </p:sp>
      <p:sp>
        <p:nvSpPr>
          <p:cNvPr id="7" name="Text 5"/>
          <p:cNvSpPr/>
          <p:nvPr/>
        </p:nvSpPr>
        <p:spPr>
          <a:xfrm>
            <a:off x="812800" y="3017521"/>
            <a:ext cx="4826000" cy="1079500"/>
          </a:xfrm>
          <a:prstGeom prst="roundRect">
            <a:avLst>
              <a:gd name="adj" fmla="val 8235"/>
            </a:avLst>
          </a:prstGeom>
          <a:solidFill>
            <a:srgbClr val="07201A"/>
          </a:solidFill>
          <a:ln/>
        </p:spPr>
        <p:txBody>
          <a:bodyPr wrap="none" lIns="151762" tIns="113662" rIns="17650" bIns="88262" rtlCol="0" anchor="t">
            <a:normAutofit/>
          </a:bodyPr>
          <a:lstStyle/>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project/</a:t>
            </a:r>
            <a:endParaRPr lang="en-US" sz="1400" dirty="0"/>
          </a:p>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 your files</a:t>
            </a:r>
            <a:endParaRPr lang="en-US" sz="1400" dirty="0"/>
          </a:p>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 </a:t>
            </a:r>
            <a:r>
              <a:rPr lang="en-US" sz="1400" dirty="0">
                <a:solidFill>
                  <a:srgbClr val="4FD6A0"/>
                </a:solidFill>
                <a:latin typeface="Courier New" pitchFamily="49" charset="0"/>
                <a:ea typeface="Courier New" pitchFamily="49" charset="-122"/>
                <a:cs typeface="Courier New" pitchFamily="49" charset="-120"/>
              </a:rPr>
              <a:t>.loki/</a:t>
            </a:r>
            <a:r>
              <a:rPr lang="en-US" sz="1400" dirty="0">
                <a:solidFill>
                  <a:srgbClr val="E6F2EC"/>
                </a:solidFill>
                <a:latin typeface="Courier New" pitchFamily="49" charset="0"/>
                <a:ea typeface="Courier New" pitchFamily="49" charset="-122"/>
                <a:cs typeface="Courier New" pitchFamily="49" charset="-120"/>
              </a:rPr>
              <a:t>   ← created by loki init</a:t>
            </a:r>
            <a:endParaRPr lang="en-US" sz="1400" dirty="0"/>
          </a:p>
        </p:txBody>
      </p:sp>
      <p:sp>
        <p:nvSpPr>
          <p:cNvPr id="8" name="Shape 6"/>
          <p:cNvSpPr/>
          <p:nvPr/>
        </p:nvSpPr>
        <p:spPr>
          <a:xfrm>
            <a:off x="5848350" y="1530350"/>
            <a:ext cx="5524500" cy="774700"/>
          </a:xfrm>
          <a:prstGeom prst="roundRect">
            <a:avLst>
              <a:gd name="adj" fmla="val 12295"/>
            </a:avLst>
          </a:prstGeom>
          <a:solidFill>
            <a:srgbClr val="FBFCFE"/>
          </a:solidFill>
          <a:ln w="12700">
            <a:solidFill>
              <a:srgbClr val="C7D8CE"/>
            </a:solidFill>
            <a:prstDash val="solid"/>
          </a:ln>
        </p:spPr>
      </p:sp>
      <p:sp>
        <p:nvSpPr>
          <p:cNvPr id="9" name="Text 7"/>
          <p:cNvSpPr/>
          <p:nvPr/>
        </p:nvSpPr>
        <p:spPr>
          <a:xfrm>
            <a:off x="6004560" y="1661164"/>
            <a:ext cx="536844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What it does</a:t>
            </a:r>
            <a:endParaRPr lang="en-US" sz="1600" dirty="0"/>
          </a:p>
        </p:txBody>
      </p:sp>
      <p:sp>
        <p:nvSpPr>
          <p:cNvPr id="10" name="Text 8"/>
          <p:cNvSpPr/>
          <p:nvPr/>
        </p:nvSpPr>
        <p:spPr>
          <a:xfrm>
            <a:off x="6004560" y="1943100"/>
            <a:ext cx="5368442" cy="25654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Initializes a new Loki repository in the current working directory.</a:t>
            </a:r>
            <a:endParaRPr lang="en-US" sz="1400" dirty="0"/>
          </a:p>
        </p:txBody>
      </p:sp>
      <p:sp>
        <p:nvSpPr>
          <p:cNvPr id="11" name="Shape 9"/>
          <p:cNvSpPr/>
          <p:nvPr/>
        </p:nvSpPr>
        <p:spPr>
          <a:xfrm>
            <a:off x="5848350" y="2419350"/>
            <a:ext cx="5524500" cy="1005840"/>
          </a:xfrm>
          <a:prstGeom prst="roundRect">
            <a:avLst>
              <a:gd name="adj" fmla="val 9470"/>
            </a:avLst>
          </a:prstGeom>
          <a:solidFill>
            <a:srgbClr val="FBFCFE"/>
          </a:solidFill>
          <a:ln w="12700">
            <a:solidFill>
              <a:srgbClr val="C7D8CE"/>
            </a:solidFill>
            <a:prstDash val="solid"/>
          </a:ln>
        </p:spPr>
      </p:sp>
      <p:sp>
        <p:nvSpPr>
          <p:cNvPr id="12" name="Text 10"/>
          <p:cNvSpPr/>
          <p:nvPr/>
        </p:nvSpPr>
        <p:spPr>
          <a:xfrm>
            <a:off x="6004560" y="2550164"/>
            <a:ext cx="536844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Role of .loki</a:t>
            </a:r>
            <a:endParaRPr lang="en-US" sz="1600" dirty="0"/>
          </a:p>
        </p:txBody>
      </p:sp>
      <p:sp>
        <p:nvSpPr>
          <p:cNvPr id="13" name="Text 11"/>
          <p:cNvSpPr/>
          <p:nvPr/>
        </p:nvSpPr>
        <p:spPr>
          <a:xfrm>
            <a:off x="6004560" y="2832100"/>
            <a:ext cx="536844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Holds the repository metadata: HEAD, config, index, objects and references (next slide).</a:t>
            </a:r>
            <a:endParaRPr lang="en-US" sz="1400" dirty="0"/>
          </a:p>
        </p:txBody>
      </p:sp>
      <p:sp>
        <p:nvSpPr>
          <p:cNvPr id="14" name="Shape 12"/>
          <p:cNvSpPr/>
          <p:nvPr/>
        </p:nvSpPr>
        <p:spPr>
          <a:xfrm>
            <a:off x="5848350" y="3539492"/>
            <a:ext cx="5524500" cy="1005840"/>
          </a:xfrm>
          <a:prstGeom prst="roundRect">
            <a:avLst>
              <a:gd name="adj" fmla="val 9470"/>
            </a:avLst>
          </a:prstGeom>
          <a:solidFill>
            <a:srgbClr val="FBFCFE"/>
          </a:solidFill>
          <a:ln w="12700">
            <a:solidFill>
              <a:srgbClr val="C7D8CE"/>
            </a:solidFill>
            <a:prstDash val="solid"/>
          </a:ln>
        </p:spPr>
      </p:sp>
      <p:sp>
        <p:nvSpPr>
          <p:cNvPr id="15" name="Text 13"/>
          <p:cNvSpPr/>
          <p:nvPr/>
        </p:nvSpPr>
        <p:spPr>
          <a:xfrm>
            <a:off x="6004560" y="3670300"/>
            <a:ext cx="536844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Finding the repository</a:t>
            </a:r>
            <a:endParaRPr lang="en-US" sz="1600" dirty="0"/>
          </a:p>
        </p:txBody>
      </p:sp>
      <p:sp>
        <p:nvSpPr>
          <p:cNvPr id="16" name="Text 14"/>
          <p:cNvSpPr/>
          <p:nvPr/>
        </p:nvSpPr>
        <p:spPr>
          <a:xfrm>
            <a:off x="6004560" y="3952242"/>
            <a:ext cx="536844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internal/config/ reads and writes configuration and discovers repository roots.</a:t>
            </a:r>
            <a:endParaRPr lang="en-US" sz="1400" dirty="0"/>
          </a:p>
        </p:txBody>
      </p:sp>
      <p:sp>
        <p:nvSpPr>
          <p:cNvPr id="17" name="Text 15"/>
          <p:cNvSpPr/>
          <p:nvPr/>
        </p:nvSpPr>
        <p:spPr>
          <a:xfrm>
            <a:off x="812800" y="47548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Which .loki entries exist immediately after init is not detailed in the supplied architecture summary.</a:t>
            </a:r>
            <a:endParaRPr lang="en-US" sz="1200" dirty="0"/>
          </a:p>
        </p:txBody>
      </p:sp>
      <p:pic>
        <p:nvPicPr>
          <p:cNvPr id="18"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19" name="Text 16"/>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0" name="Text 1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Internal .loki Directory Structure</a:t>
            </a:r>
            <a:endParaRPr lang="en-US" sz="3200" dirty="0"/>
          </a:p>
        </p:txBody>
      </p:sp>
      <p:sp>
        <p:nvSpPr>
          <p:cNvPr id="4" name="Shape 2"/>
          <p:cNvSpPr/>
          <p:nvPr/>
        </p:nvSpPr>
        <p:spPr>
          <a:xfrm>
            <a:off x="812800" y="1524000"/>
            <a:ext cx="6604000" cy="3472815"/>
          </a:xfrm>
          <a:prstGeom prst="roundRect">
            <a:avLst>
              <a:gd name="adj" fmla="val 2926"/>
            </a:avLst>
          </a:prstGeom>
          <a:solidFill>
            <a:srgbClr val="07201A"/>
          </a:solidFill>
          <a:ln/>
        </p:spPr>
      </p:sp>
      <p:sp>
        <p:nvSpPr>
          <p:cNvPr id="5" name="Text 3"/>
          <p:cNvSpPr/>
          <p:nvPr/>
        </p:nvSpPr>
        <p:spPr>
          <a:xfrm>
            <a:off x="1016000" y="1701800"/>
            <a:ext cx="6383528" cy="2840355"/>
          </a:xfrm>
          <a:prstGeom prst="rect">
            <a:avLst/>
          </a:prstGeom>
          <a:noFill/>
          <a:ln/>
        </p:spPr>
        <p:txBody>
          <a:bodyPr wrap="none" lIns="0" tIns="0" rIns="0" bIns="0" rtlCol="0" anchor="t">
            <a:normAutofit/>
          </a:bodyPr>
          <a:lstStyle/>
          <a:p>
            <a:pPr marL="0" indent="0" algn="l">
              <a:lnSpc>
                <a:spcPts val="2015"/>
              </a:lnSpc>
              <a:buNone/>
            </a:pPr>
            <a:r>
              <a:rPr lang="en-US" sz="1300" dirty="0">
                <a:solidFill>
                  <a:srgbClr val="4FD6A0"/>
                </a:solidFill>
                <a:latin typeface="Courier New" pitchFamily="49" charset="0"/>
                <a:ea typeface="Courier New" pitchFamily="49" charset="-122"/>
                <a:cs typeface="Courier New" pitchFamily="49" charset="-120"/>
              </a:rPr>
              <a:t>project/</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.lokiignore           </a:t>
            </a:r>
            <a:r>
              <a:rPr lang="en-US" sz="1300" dirty="0">
                <a:solidFill>
                  <a:srgbClr val="8FB5A5"/>
                </a:solidFill>
                <a:latin typeface="Courier New" pitchFamily="49" charset="0"/>
                <a:ea typeface="Courier New" pitchFamily="49" charset="-122"/>
                <a:cs typeface="Courier New" pitchFamily="49" charset="-120"/>
              </a:rPr>
              <a:t># optional ignore patterns</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a:t>
            </a:r>
            <a:r>
              <a:rPr lang="en-US" sz="1300" dirty="0">
                <a:solidFill>
                  <a:srgbClr val="4FD6A0"/>
                </a:solidFill>
                <a:latin typeface="Courier New" pitchFamily="49" charset="0"/>
                <a:ea typeface="Courier New" pitchFamily="49" charset="-122"/>
                <a:cs typeface="Courier New" pitchFamily="49" charset="-120"/>
              </a:rPr>
              <a:t>.loki/</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HEAD              </a:t>
            </a:r>
            <a:r>
              <a:rPr lang="en-US" sz="1300" dirty="0">
                <a:solidFill>
                  <a:srgbClr val="8FB5A5"/>
                </a:solidFill>
                <a:latin typeface="Courier New" pitchFamily="49" charset="0"/>
                <a:ea typeface="Courier New" pitchFamily="49" charset="-122"/>
                <a:cs typeface="Courier New" pitchFamily="49" charset="-120"/>
              </a:rPr>
              <a:t># current branch or detached commit</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config            </a:t>
            </a:r>
            <a:r>
              <a:rPr lang="en-US" sz="1300" dirty="0">
                <a:solidFill>
                  <a:srgbClr val="8FB5A5"/>
                </a:solidFill>
                <a:latin typeface="Courier New" pitchFamily="49" charset="0"/>
                <a:ea typeface="Courier New" pitchFamily="49" charset="-122"/>
                <a:cs typeface="Courier New" pitchFamily="49" charset="-120"/>
              </a:rPr>
              <a:t># repository configuration</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index             </a:t>
            </a:r>
            <a:r>
              <a:rPr lang="en-US" sz="1300" dirty="0">
                <a:solidFill>
                  <a:srgbClr val="8FB5A5"/>
                </a:solidFill>
                <a:latin typeface="Courier New" pitchFamily="49" charset="0"/>
                <a:ea typeface="Courier New" pitchFamily="49" charset="-122"/>
                <a:cs typeface="Courier New" pitchFamily="49" charset="-120"/>
              </a:rPr>
              <a:t># JSON: path -&gt; blob hash</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commits.log       </a:t>
            </a:r>
            <a:r>
              <a:rPr lang="en-US" sz="1300" dirty="0">
                <a:solidFill>
                  <a:srgbClr val="8FB5A5"/>
                </a:solidFill>
                <a:latin typeface="Courier New" pitchFamily="49" charset="0"/>
                <a:ea typeface="Courier New" pitchFamily="49" charset="-122"/>
                <a:cs typeface="Courier New" pitchFamily="49" charset="-120"/>
              </a:rPr>
              <a:t># append-only log for loki log</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a:t>
            </a:r>
            <a:r>
              <a:rPr lang="en-US" sz="1300" dirty="0">
                <a:solidFill>
                  <a:srgbClr val="4FD6A0"/>
                </a:solidFill>
                <a:latin typeface="Courier New" pitchFamily="49" charset="0"/>
                <a:ea typeface="Courier New" pitchFamily="49" charset="-122"/>
                <a:cs typeface="Courier New" pitchFamily="49" charset="-120"/>
              </a:rPr>
              <a:t>objects/</a:t>
            </a:r>
            <a:r>
              <a:rPr lang="en-US" sz="1300" dirty="0">
                <a:solidFill>
                  <a:srgbClr val="E6F2EC"/>
                </a:solidFill>
                <a:latin typeface="Courier New" pitchFamily="49" charset="0"/>
                <a:ea typeface="Courier New" pitchFamily="49" charset="-122"/>
                <a:cs typeface="Courier New" pitchFamily="49" charset="-120"/>
              </a:rPr>
              <a:t>         </a:t>
            </a:r>
            <a:r>
              <a:rPr lang="en-US" sz="1300" dirty="0">
                <a:solidFill>
                  <a:srgbClr val="8FB5A5"/>
                </a:solidFill>
                <a:latin typeface="Courier New" pitchFamily="49" charset="0"/>
                <a:ea typeface="Courier New" pitchFamily="49" charset="-122"/>
                <a:cs typeface="Courier New" pitchFamily="49" charset="-120"/>
              </a:rPr>
              <a:t># compressed serialized objects</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a:t>
            </a:r>
            <a:r>
              <a:rPr lang="en-US" sz="1300" dirty="0">
                <a:solidFill>
                  <a:srgbClr val="4FD6A0"/>
                </a:solidFill>
                <a:latin typeface="Courier New" pitchFamily="49" charset="0"/>
                <a:ea typeface="Courier New" pitchFamily="49" charset="-122"/>
                <a:cs typeface="Courier New" pitchFamily="49" charset="-120"/>
              </a:rPr>
              <a:t>refs/</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a:t>
            </a:r>
            <a:r>
              <a:rPr lang="en-US" sz="1300" dirty="0">
                <a:solidFill>
                  <a:srgbClr val="4FD6A0"/>
                </a:solidFill>
                <a:latin typeface="Courier New" pitchFamily="49" charset="0"/>
                <a:ea typeface="Courier New" pitchFamily="49" charset="-122"/>
                <a:cs typeface="Courier New" pitchFamily="49" charset="-120"/>
              </a:rPr>
              <a:t>heads/</a:t>
            </a:r>
            <a:r>
              <a:rPr lang="en-US" sz="1300" dirty="0">
                <a:solidFill>
                  <a:srgbClr val="E6F2EC"/>
                </a:solidFill>
                <a:latin typeface="Courier New" pitchFamily="49" charset="0"/>
                <a:ea typeface="Courier New" pitchFamily="49" charset="-122"/>
                <a:cs typeface="Courier New" pitchFamily="49" charset="-120"/>
              </a:rPr>
              <a:t>       </a:t>
            </a:r>
            <a:r>
              <a:rPr lang="en-US" sz="1300" dirty="0">
                <a:solidFill>
                  <a:srgbClr val="8FB5A5"/>
                </a:solidFill>
                <a:latin typeface="Courier New" pitchFamily="49" charset="0"/>
                <a:ea typeface="Courier New" pitchFamily="49" charset="-122"/>
                <a:cs typeface="Courier New" pitchFamily="49" charset="-120"/>
              </a:rPr>
              <a:t># local branch references</a:t>
            </a:r>
            <a:endParaRPr lang="en-US" sz="1300" dirty="0"/>
          </a:p>
          <a:p>
            <a:pPr marL="0" indent="0" algn="l">
              <a:lnSpc>
                <a:spcPts val="2015"/>
              </a:lnSpc>
              <a:buNone/>
            </a:pPr>
            <a:r>
              <a:rPr lang="en-US" sz="1300" dirty="0">
                <a:solidFill>
                  <a:srgbClr val="E6F2EC"/>
                </a:solidFill>
                <a:latin typeface="Courier New" pitchFamily="49" charset="0"/>
                <a:ea typeface="Courier New" pitchFamily="49" charset="-122"/>
                <a:cs typeface="Courier New" pitchFamily="49" charset="-120"/>
              </a:rPr>
              <a:t>        └── </a:t>
            </a:r>
            <a:r>
              <a:rPr lang="en-US" sz="1300" dirty="0">
                <a:solidFill>
                  <a:srgbClr val="4FD6A0"/>
                </a:solidFill>
                <a:latin typeface="Courier New" pitchFamily="49" charset="0"/>
                <a:ea typeface="Courier New" pitchFamily="49" charset="-122"/>
                <a:cs typeface="Courier New" pitchFamily="49" charset="-120"/>
              </a:rPr>
              <a:t>tags/</a:t>
            </a:r>
            <a:r>
              <a:rPr lang="en-US" sz="1300" dirty="0">
                <a:solidFill>
                  <a:srgbClr val="E6F2EC"/>
                </a:solidFill>
                <a:latin typeface="Courier New" pitchFamily="49" charset="0"/>
                <a:ea typeface="Courier New" pitchFamily="49" charset="-122"/>
                <a:cs typeface="Courier New" pitchFamily="49" charset="-120"/>
              </a:rPr>
              <a:t>        </a:t>
            </a:r>
            <a:r>
              <a:rPr lang="en-US" sz="1300" dirty="0">
                <a:solidFill>
                  <a:srgbClr val="8FB5A5"/>
                </a:solidFill>
                <a:latin typeface="Courier New" pitchFamily="49" charset="0"/>
                <a:ea typeface="Courier New" pitchFamily="49" charset="-122"/>
                <a:cs typeface="Courier New" pitchFamily="49" charset="-120"/>
              </a:rPr>
              <a:t># tag references</a:t>
            </a:r>
            <a:endParaRPr lang="en-US" sz="1300" dirty="0"/>
          </a:p>
        </p:txBody>
      </p:sp>
      <p:sp>
        <p:nvSpPr>
          <p:cNvPr id="6" name="Text 4"/>
          <p:cNvSpPr/>
          <p:nvPr/>
        </p:nvSpPr>
        <p:spPr>
          <a:xfrm>
            <a:off x="1016000" y="4605654"/>
            <a:ext cx="63835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Cyan = directory · White = file</a:t>
            </a:r>
            <a:endParaRPr lang="en-US" sz="1200" dirty="0"/>
          </a:p>
        </p:txBody>
      </p:sp>
      <p:sp>
        <p:nvSpPr>
          <p:cNvPr id="7" name="Shape 5"/>
          <p:cNvSpPr/>
          <p:nvPr/>
        </p:nvSpPr>
        <p:spPr>
          <a:xfrm>
            <a:off x="7626350" y="1530350"/>
            <a:ext cx="3746500" cy="972820"/>
          </a:xfrm>
          <a:prstGeom prst="roundRect">
            <a:avLst>
              <a:gd name="adj" fmla="val 9791"/>
            </a:avLst>
          </a:prstGeom>
          <a:solidFill>
            <a:srgbClr val="FBFCFE"/>
          </a:solidFill>
          <a:ln w="12700">
            <a:solidFill>
              <a:srgbClr val="C7D8CE"/>
            </a:solidFill>
            <a:prstDash val="solid"/>
          </a:ln>
        </p:spPr>
      </p:sp>
      <p:sp>
        <p:nvSpPr>
          <p:cNvPr id="8" name="Text 6"/>
          <p:cNvSpPr/>
          <p:nvPr/>
        </p:nvSpPr>
        <p:spPr>
          <a:xfrm>
            <a:off x="7782560" y="1661164"/>
            <a:ext cx="353710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.lokiignore</a:t>
            </a:r>
            <a:endParaRPr lang="en-US" sz="1600" dirty="0"/>
          </a:p>
        </p:txBody>
      </p:sp>
      <p:sp>
        <p:nvSpPr>
          <p:cNvPr id="9" name="Text 7"/>
          <p:cNvSpPr/>
          <p:nvPr/>
        </p:nvSpPr>
        <p:spPr>
          <a:xfrm>
            <a:off x="7782560" y="1943100"/>
            <a:ext cx="353710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Optional ignore patterns at the project root, outside .loki/.</a:t>
            </a:r>
            <a:endParaRPr lang="en-US" sz="1300" dirty="0"/>
          </a:p>
        </p:txBody>
      </p:sp>
      <p:sp>
        <p:nvSpPr>
          <p:cNvPr id="10" name="Shape 8"/>
          <p:cNvSpPr/>
          <p:nvPr/>
        </p:nvSpPr>
        <p:spPr>
          <a:xfrm>
            <a:off x="7626350" y="2617471"/>
            <a:ext cx="3746500" cy="1187450"/>
          </a:xfrm>
          <a:prstGeom prst="roundRect">
            <a:avLst>
              <a:gd name="adj" fmla="val 8021"/>
            </a:avLst>
          </a:prstGeom>
          <a:solidFill>
            <a:srgbClr val="FBFCFE"/>
          </a:solidFill>
          <a:ln w="12700">
            <a:solidFill>
              <a:srgbClr val="C7D8CE"/>
            </a:solidFill>
            <a:prstDash val="solid"/>
          </a:ln>
        </p:spPr>
      </p:sp>
      <p:sp>
        <p:nvSpPr>
          <p:cNvPr id="11" name="Text 9"/>
          <p:cNvSpPr/>
          <p:nvPr/>
        </p:nvSpPr>
        <p:spPr>
          <a:xfrm>
            <a:off x="7782560" y="2748279"/>
            <a:ext cx="353710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Temporary state</a:t>
            </a:r>
            <a:endParaRPr lang="en-US" sz="1600" dirty="0"/>
          </a:p>
        </p:txBody>
      </p:sp>
      <p:sp>
        <p:nvSpPr>
          <p:cNvPr id="12" name="Text 10"/>
          <p:cNvSpPr/>
          <p:nvPr/>
        </p:nvSpPr>
        <p:spPr>
          <a:xfrm>
            <a:off x="7782560" y="3030221"/>
            <a:ext cx="3537102" cy="66929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Merge and revert may create temporary state files while conflicts are resolved. Their names are not given in the summary.</a:t>
            </a:r>
            <a:endParaRPr lang="en-US" sz="1300" dirty="0"/>
          </a:p>
        </p:txBody>
      </p:sp>
      <p:sp>
        <p:nvSpPr>
          <p:cNvPr id="13" name="Shape 11"/>
          <p:cNvSpPr/>
          <p:nvPr/>
        </p:nvSpPr>
        <p:spPr>
          <a:xfrm>
            <a:off x="7626350" y="3919221"/>
            <a:ext cx="3746500" cy="972820"/>
          </a:xfrm>
          <a:prstGeom prst="roundRect">
            <a:avLst>
              <a:gd name="adj" fmla="val 9791"/>
            </a:avLst>
          </a:prstGeom>
          <a:solidFill>
            <a:srgbClr val="FBFCFE"/>
          </a:solidFill>
          <a:ln w="12700">
            <a:solidFill>
              <a:srgbClr val="C7D8CE"/>
            </a:solidFill>
            <a:prstDash val="solid"/>
          </a:ln>
        </p:spPr>
      </p:sp>
      <p:sp>
        <p:nvSpPr>
          <p:cNvPr id="14" name="Text 12"/>
          <p:cNvSpPr/>
          <p:nvPr/>
        </p:nvSpPr>
        <p:spPr>
          <a:xfrm>
            <a:off x="7782560" y="4050029"/>
            <a:ext cx="353710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objects/ layout</a:t>
            </a:r>
            <a:endParaRPr lang="en-US" sz="1600" dirty="0"/>
          </a:p>
        </p:txBody>
      </p:sp>
      <p:sp>
        <p:nvSpPr>
          <p:cNvPr id="15" name="Text 13"/>
          <p:cNvSpPr/>
          <p:nvPr/>
        </p:nvSpPr>
        <p:spPr>
          <a:xfrm>
            <a:off x="7782560" y="4331971"/>
            <a:ext cx="353710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Folder name = first two hash characters (slide 21).</a:t>
            </a:r>
            <a:endParaRPr lang="en-US" sz="1300" dirty="0"/>
          </a:p>
        </p:txBody>
      </p:sp>
      <p:pic>
        <p:nvPicPr>
          <p:cNvPr id="16"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17" name="Text 14"/>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18" name="Text 15"/>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Loki Data Model</a:t>
            </a:r>
            <a:endParaRPr lang="en-US" sz="3200" dirty="0"/>
          </a:p>
        </p:txBody>
      </p:sp>
      <p:sp>
        <p:nvSpPr>
          <p:cNvPr id="4" name="Shape 2"/>
          <p:cNvSpPr/>
          <p:nvPr/>
        </p:nvSpPr>
        <p:spPr>
          <a:xfrm>
            <a:off x="819150" y="1720850"/>
            <a:ext cx="2781300" cy="749300"/>
          </a:xfrm>
          <a:prstGeom prst="roundRect">
            <a:avLst>
              <a:gd name="adj" fmla="val 11017"/>
            </a:avLst>
          </a:prstGeom>
          <a:solidFill>
            <a:srgbClr val="FBFCFE"/>
          </a:solidFill>
          <a:ln w="12700">
            <a:solidFill>
              <a:srgbClr val="9DB5A9"/>
            </a:solidFill>
            <a:prstDash val="solid"/>
          </a:ln>
        </p:spPr>
      </p:sp>
      <p:sp>
        <p:nvSpPr>
          <p:cNvPr id="5" name="Text 3"/>
          <p:cNvSpPr/>
          <p:nvPr/>
        </p:nvSpPr>
        <p:spPr>
          <a:xfrm>
            <a:off x="1083278" y="1858008"/>
            <a:ext cx="2253044"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Branch / tag reference</a:t>
            </a:r>
            <a:endParaRPr lang="en-US" sz="1400" dirty="0"/>
          </a:p>
        </p:txBody>
      </p:sp>
      <p:sp>
        <p:nvSpPr>
          <p:cNvPr id="6" name="Text 4"/>
          <p:cNvSpPr/>
          <p:nvPr/>
        </p:nvSpPr>
        <p:spPr>
          <a:xfrm>
            <a:off x="1447419" y="2119635"/>
            <a:ext cx="1524762"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stores an object ID</a:t>
            </a:r>
            <a:endParaRPr lang="en-US" sz="1200" dirty="0"/>
          </a:p>
        </p:txBody>
      </p:sp>
      <p:sp>
        <p:nvSpPr>
          <p:cNvPr id="7" name="Shape 5"/>
          <p:cNvSpPr/>
          <p:nvPr/>
        </p:nvSpPr>
        <p:spPr>
          <a:xfrm>
            <a:off x="4476750" y="1720850"/>
            <a:ext cx="2781300" cy="749300"/>
          </a:xfrm>
          <a:prstGeom prst="roundRect">
            <a:avLst>
              <a:gd name="adj" fmla="val 11017"/>
            </a:avLst>
          </a:prstGeom>
          <a:solidFill>
            <a:srgbClr val="FBFCFE"/>
          </a:solidFill>
          <a:ln w="12700">
            <a:solidFill>
              <a:srgbClr val="9DB5A9"/>
            </a:solidFill>
            <a:prstDash val="solid"/>
          </a:ln>
        </p:spPr>
      </p:sp>
      <p:sp>
        <p:nvSpPr>
          <p:cNvPr id="8" name="Text 6"/>
          <p:cNvSpPr/>
          <p:nvPr/>
        </p:nvSpPr>
        <p:spPr>
          <a:xfrm>
            <a:off x="4826325" y="1858008"/>
            <a:ext cx="208207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Tag object (optional)</a:t>
            </a:r>
            <a:endParaRPr lang="en-US" sz="1400" dirty="0"/>
          </a:p>
        </p:txBody>
      </p:sp>
      <p:sp>
        <p:nvSpPr>
          <p:cNvPr id="9" name="Text 7"/>
          <p:cNvSpPr/>
          <p:nvPr/>
        </p:nvSpPr>
        <p:spPr>
          <a:xfrm>
            <a:off x="4987965" y="2119635"/>
            <a:ext cx="175879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names a target object</a:t>
            </a:r>
            <a:endParaRPr lang="en-US" sz="1200" dirty="0"/>
          </a:p>
        </p:txBody>
      </p:sp>
      <p:sp>
        <p:nvSpPr>
          <p:cNvPr id="10" name="Text 8"/>
          <p:cNvSpPr/>
          <p:nvPr/>
        </p:nvSpPr>
        <p:spPr>
          <a:xfrm>
            <a:off x="8128000" y="1841500"/>
            <a:ext cx="33487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Arrows point from the referring item to the item it refers to.</a:t>
            </a:r>
            <a:endParaRPr lang="en-US" sz="1200" dirty="0"/>
          </a:p>
        </p:txBody>
      </p:sp>
      <p:sp>
        <p:nvSpPr>
          <p:cNvPr id="11" name="Shape 9"/>
          <p:cNvSpPr/>
          <p:nvPr/>
        </p:nvSpPr>
        <p:spPr>
          <a:xfrm>
            <a:off x="812800" y="3175000"/>
            <a:ext cx="6451600" cy="889000"/>
          </a:xfrm>
          <a:prstGeom prst="roundRect">
            <a:avLst>
              <a:gd name="adj" fmla="val 10000"/>
            </a:avLst>
          </a:prstGeom>
          <a:solidFill>
            <a:srgbClr val="0F7B54"/>
          </a:solidFill>
          <a:ln/>
        </p:spPr>
      </p:sp>
      <p:sp>
        <p:nvSpPr>
          <p:cNvPr id="12" name="Text 10"/>
          <p:cNvSpPr/>
          <p:nvPr/>
        </p:nvSpPr>
        <p:spPr>
          <a:xfrm>
            <a:off x="3191835" y="3348992"/>
            <a:ext cx="1693450"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3F8F5"/>
                </a:solidFill>
                <a:latin typeface="Arial" pitchFamily="34" charset="0"/>
                <a:ea typeface="Arial" pitchFamily="34" charset="-122"/>
                <a:cs typeface="Arial" pitchFamily="34" charset="-120"/>
              </a:rPr>
              <a:t>Commit object</a:t>
            </a:r>
            <a:endParaRPr lang="en-US" sz="1600" dirty="0"/>
          </a:p>
        </p:txBody>
      </p:sp>
      <p:sp>
        <p:nvSpPr>
          <p:cNvPr id="13" name="Text 11"/>
          <p:cNvSpPr/>
          <p:nvPr/>
        </p:nvSpPr>
        <p:spPr>
          <a:xfrm>
            <a:off x="1407128" y="3658877"/>
            <a:ext cx="526294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E0F2EA"/>
                </a:solidFill>
                <a:latin typeface="Arial" pitchFamily="34" charset="0"/>
                <a:ea typeface="Arial" pitchFamily="34" charset="-122"/>
                <a:cs typeface="Arial" pitchFamily="34" charset="-120"/>
              </a:rPr>
              <a:t>tree ID · parent commit ID(s) · author information · message</a:t>
            </a:r>
            <a:endParaRPr lang="en-US" sz="1300" dirty="0"/>
          </a:p>
        </p:txBody>
      </p:sp>
      <p:sp>
        <p:nvSpPr>
          <p:cNvPr id="14" name="Shape 12"/>
          <p:cNvSpPr/>
          <p:nvPr/>
        </p:nvSpPr>
        <p:spPr>
          <a:xfrm>
            <a:off x="8134350" y="3181350"/>
            <a:ext cx="3238500" cy="876300"/>
          </a:xfrm>
          <a:prstGeom prst="roundRect">
            <a:avLst>
              <a:gd name="adj" fmla="val 9420"/>
            </a:avLst>
          </a:prstGeom>
          <a:solidFill>
            <a:srgbClr val="F6EFD6"/>
          </a:solidFill>
          <a:ln w="12700">
            <a:solidFill>
              <a:srgbClr val="D9BE6A"/>
            </a:solidFill>
            <a:prstDash val="solid"/>
          </a:ln>
        </p:spPr>
      </p:sp>
      <p:sp>
        <p:nvSpPr>
          <p:cNvPr id="15" name="Text 13"/>
          <p:cNvSpPr/>
          <p:nvPr/>
        </p:nvSpPr>
        <p:spPr>
          <a:xfrm>
            <a:off x="9109814" y="3348992"/>
            <a:ext cx="1287494" cy="30988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07201A"/>
                </a:solidFill>
                <a:latin typeface="Arial" pitchFamily="34" charset="0"/>
                <a:ea typeface="Arial" pitchFamily="34" charset="-122"/>
                <a:cs typeface="Arial" pitchFamily="34" charset="-120"/>
              </a:rPr>
              <a:t>Tree object</a:t>
            </a:r>
            <a:endParaRPr lang="en-US" sz="1600" dirty="0"/>
          </a:p>
        </p:txBody>
      </p:sp>
      <p:sp>
        <p:nvSpPr>
          <p:cNvPr id="16" name="Text 14"/>
          <p:cNvSpPr/>
          <p:nvPr/>
        </p:nvSpPr>
        <p:spPr>
          <a:xfrm>
            <a:off x="8586224" y="3658877"/>
            <a:ext cx="233467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7A5A0C"/>
                </a:solidFill>
                <a:latin typeface="Arial" pitchFamily="34" charset="0"/>
                <a:ea typeface="Arial" pitchFamily="34" charset="-122"/>
                <a:cs typeface="Arial" pitchFamily="34" charset="-120"/>
              </a:rPr>
              <a:t>maps file paths to blob IDs</a:t>
            </a:r>
            <a:endParaRPr lang="en-US" sz="1300" dirty="0"/>
          </a:p>
        </p:txBody>
      </p:sp>
      <p:sp>
        <p:nvSpPr>
          <p:cNvPr id="17" name="Shape 15"/>
          <p:cNvSpPr/>
          <p:nvPr/>
        </p:nvSpPr>
        <p:spPr>
          <a:xfrm>
            <a:off x="2647950" y="4705350"/>
            <a:ext cx="2781300" cy="685800"/>
          </a:xfrm>
          <a:prstGeom prst="roundRect">
            <a:avLst>
              <a:gd name="adj" fmla="val 12037"/>
            </a:avLst>
          </a:prstGeom>
          <a:solidFill>
            <a:srgbClr val="E0F2EA"/>
          </a:solidFill>
          <a:ln w="12700">
            <a:solidFill>
              <a:srgbClr val="8CCBB0"/>
            </a:solidFill>
            <a:prstDash val="solid"/>
          </a:ln>
        </p:spPr>
      </p:sp>
      <p:sp>
        <p:nvSpPr>
          <p:cNvPr id="18" name="Text 16"/>
          <p:cNvSpPr/>
          <p:nvPr/>
        </p:nvSpPr>
        <p:spPr>
          <a:xfrm>
            <a:off x="3048572" y="4810758"/>
            <a:ext cx="1980057"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Previous commit(s)</a:t>
            </a:r>
            <a:endParaRPr lang="en-US" sz="1400" dirty="0"/>
          </a:p>
        </p:txBody>
      </p:sp>
      <p:sp>
        <p:nvSpPr>
          <p:cNvPr id="19" name="Text 17"/>
          <p:cNvSpPr/>
          <p:nvPr/>
        </p:nvSpPr>
        <p:spPr>
          <a:xfrm>
            <a:off x="2900172" y="5072385"/>
            <a:ext cx="227685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found via parent commit IDs</a:t>
            </a:r>
            <a:endParaRPr lang="en-US" sz="1200" dirty="0"/>
          </a:p>
        </p:txBody>
      </p:sp>
      <p:sp>
        <p:nvSpPr>
          <p:cNvPr id="20" name="Shape 18"/>
          <p:cNvSpPr/>
          <p:nvPr/>
        </p:nvSpPr>
        <p:spPr>
          <a:xfrm>
            <a:off x="8134350" y="4705350"/>
            <a:ext cx="3238500" cy="685800"/>
          </a:xfrm>
          <a:prstGeom prst="roundRect">
            <a:avLst>
              <a:gd name="adj" fmla="val 12037"/>
            </a:avLst>
          </a:prstGeom>
          <a:solidFill>
            <a:srgbClr val="F6EFD6"/>
          </a:solidFill>
          <a:ln w="12700">
            <a:solidFill>
              <a:srgbClr val="D9BE6A"/>
            </a:solidFill>
            <a:prstDash val="solid"/>
          </a:ln>
        </p:spPr>
      </p:sp>
      <p:sp>
        <p:nvSpPr>
          <p:cNvPr id="21" name="Text 19"/>
          <p:cNvSpPr/>
          <p:nvPr/>
        </p:nvSpPr>
        <p:spPr>
          <a:xfrm>
            <a:off x="9172766" y="4810758"/>
            <a:ext cx="1161669"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Blob object</a:t>
            </a:r>
            <a:endParaRPr lang="en-US" sz="1400" dirty="0"/>
          </a:p>
        </p:txBody>
      </p:sp>
      <p:sp>
        <p:nvSpPr>
          <p:cNvPr id="22" name="Text 20"/>
          <p:cNvSpPr/>
          <p:nvPr/>
        </p:nvSpPr>
        <p:spPr>
          <a:xfrm>
            <a:off x="8673664" y="5072385"/>
            <a:ext cx="215979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7A5A0C"/>
                </a:solidFill>
                <a:latin typeface="Arial" pitchFamily="34" charset="0"/>
                <a:ea typeface="Arial" pitchFamily="34" charset="-122"/>
                <a:cs typeface="Arial" pitchFamily="34" charset="-120"/>
              </a:rPr>
              <a:t>snapshot of a file's content</a:t>
            </a:r>
            <a:endParaRPr lang="en-US" sz="1200" dirty="0"/>
          </a:p>
        </p:txBody>
      </p:sp>
      <p:pic>
        <p:nvPicPr>
          <p:cNvPr id="23" name="Image 0" descr="connector"/>
          <p:cNvPicPr>
            <a:picLocks noChangeAspect="1"/>
          </p:cNvPicPr>
          <p:nvPr/>
        </p:nvPicPr>
        <p:blipFill>
          <a:blip r:embed="rId3"/>
          <a:srcRect/>
          <a:stretch/>
        </p:blipFill>
        <p:spPr>
          <a:xfrm>
            <a:off x="2159000" y="2425700"/>
            <a:ext cx="101600" cy="800100"/>
          </a:xfrm>
          <a:prstGeom prst="rect">
            <a:avLst/>
          </a:prstGeom>
        </p:spPr>
      </p:pic>
      <p:pic>
        <p:nvPicPr>
          <p:cNvPr id="24" name="Image 1" descr="connector"/>
          <p:cNvPicPr>
            <a:picLocks noChangeAspect="1"/>
          </p:cNvPicPr>
          <p:nvPr/>
        </p:nvPicPr>
        <p:blipFill>
          <a:blip r:embed="rId3"/>
          <a:srcRect/>
          <a:stretch/>
        </p:blipFill>
        <p:spPr>
          <a:xfrm>
            <a:off x="5816600" y="2425700"/>
            <a:ext cx="101600" cy="800100"/>
          </a:xfrm>
          <a:prstGeom prst="rect">
            <a:avLst/>
          </a:prstGeom>
        </p:spPr>
      </p:pic>
      <p:pic>
        <p:nvPicPr>
          <p:cNvPr id="25" name="Image 2" descr="connector"/>
          <p:cNvPicPr>
            <a:picLocks noChangeAspect="1"/>
          </p:cNvPicPr>
          <p:nvPr/>
        </p:nvPicPr>
        <p:blipFill>
          <a:blip r:embed="rId4"/>
          <a:srcRect/>
          <a:stretch/>
        </p:blipFill>
        <p:spPr>
          <a:xfrm>
            <a:off x="7213600" y="3568700"/>
            <a:ext cx="965200" cy="101600"/>
          </a:xfrm>
          <a:prstGeom prst="rect">
            <a:avLst/>
          </a:prstGeom>
        </p:spPr>
      </p:pic>
      <p:pic>
        <p:nvPicPr>
          <p:cNvPr id="26" name="Image 3" descr="connector"/>
          <p:cNvPicPr>
            <a:picLocks noChangeAspect="1"/>
          </p:cNvPicPr>
          <p:nvPr/>
        </p:nvPicPr>
        <p:blipFill>
          <a:blip r:embed="rId5"/>
          <a:srcRect/>
          <a:stretch/>
        </p:blipFill>
        <p:spPr>
          <a:xfrm>
            <a:off x="3987800" y="4013200"/>
            <a:ext cx="101600" cy="736600"/>
          </a:xfrm>
          <a:prstGeom prst="rect">
            <a:avLst/>
          </a:prstGeom>
        </p:spPr>
      </p:pic>
      <p:pic>
        <p:nvPicPr>
          <p:cNvPr id="27" name="Image 4" descr="connector"/>
          <p:cNvPicPr>
            <a:picLocks noChangeAspect="1"/>
          </p:cNvPicPr>
          <p:nvPr/>
        </p:nvPicPr>
        <p:blipFill>
          <a:blip r:embed="rId5"/>
          <a:srcRect/>
          <a:stretch/>
        </p:blipFill>
        <p:spPr>
          <a:xfrm>
            <a:off x="9702800" y="4013200"/>
            <a:ext cx="101600" cy="736600"/>
          </a:xfrm>
          <a:prstGeom prst="rect">
            <a:avLst/>
          </a:prstGeom>
        </p:spPr>
      </p:pic>
      <p:pic>
        <p:nvPicPr>
          <p:cNvPr id="28" name="Image 5" descr="Loki logo"/>
          <p:cNvPicPr>
            <a:picLocks noChangeAspect="1"/>
          </p:cNvPicPr>
          <p:nvPr/>
        </p:nvPicPr>
        <p:blipFill>
          <a:blip r:embed="rId6"/>
          <a:srcRect t="88" b="88"/>
          <a:stretch/>
        </p:blipFill>
        <p:spPr>
          <a:xfrm>
            <a:off x="812800" y="6159500"/>
            <a:ext cx="279400" cy="368300"/>
          </a:xfrm>
          <a:prstGeom prst="roundRect">
            <a:avLst>
              <a:gd name="adj" fmla="val 18182"/>
            </a:avLst>
          </a:prstGeom>
        </p:spPr>
      </p:pic>
      <p:sp>
        <p:nvSpPr>
          <p:cNvPr id="29" name="Text 21"/>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0" name="Text 22"/>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Blob Objects</a:t>
            </a:r>
            <a:endParaRPr lang="en-US" sz="3200" dirty="0"/>
          </a:p>
        </p:txBody>
      </p:sp>
      <p:sp>
        <p:nvSpPr>
          <p:cNvPr id="4" name="Shape 2"/>
          <p:cNvSpPr/>
          <p:nvPr/>
        </p:nvSpPr>
        <p:spPr>
          <a:xfrm>
            <a:off x="819150" y="1530350"/>
            <a:ext cx="3109754" cy="1379220"/>
          </a:xfrm>
          <a:prstGeom prst="roundRect">
            <a:avLst>
              <a:gd name="adj" fmla="val 6906"/>
            </a:avLst>
          </a:prstGeom>
          <a:solidFill>
            <a:srgbClr val="FBFCFE"/>
          </a:solidFill>
          <a:ln w="12700">
            <a:solidFill>
              <a:srgbClr val="C7D8CE"/>
            </a:solidFill>
            <a:prstDash val="solid"/>
          </a:ln>
        </p:spPr>
      </p:sp>
      <p:sp>
        <p:nvSpPr>
          <p:cNvPr id="5" name="Text 3"/>
          <p:cNvSpPr/>
          <p:nvPr/>
        </p:nvSpPr>
        <p:spPr>
          <a:xfrm>
            <a:off x="988060" y="1673858"/>
            <a:ext cx="28550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1 · WORKING FILE</a:t>
            </a:r>
            <a:endParaRPr lang="en-US" sz="1200" dirty="0"/>
          </a:p>
        </p:txBody>
      </p:sp>
      <p:sp>
        <p:nvSpPr>
          <p:cNvPr id="6" name="Text 4"/>
          <p:cNvSpPr/>
          <p:nvPr/>
        </p:nvSpPr>
        <p:spPr>
          <a:xfrm>
            <a:off x="988060" y="1950727"/>
            <a:ext cx="28550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notes.txt</a:t>
            </a:r>
            <a:endParaRPr lang="en-US" sz="1600" dirty="0"/>
          </a:p>
        </p:txBody>
      </p:sp>
      <p:sp>
        <p:nvSpPr>
          <p:cNvPr id="7" name="Text 5"/>
          <p:cNvSpPr/>
          <p:nvPr/>
        </p:nvSpPr>
        <p:spPr>
          <a:xfrm>
            <a:off x="988060" y="2258058"/>
            <a:ext cx="28550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Courier New" pitchFamily="49" charset="0"/>
                <a:ea typeface="Courier New" pitchFamily="49" charset="-122"/>
                <a:cs typeface="Courier New" pitchFamily="49" charset="-120"/>
              </a:rPr>
              <a:t>Hello Loki</a:t>
            </a:r>
            <a:endParaRPr lang="en-US" sz="1300" dirty="0"/>
          </a:p>
        </p:txBody>
      </p:sp>
      <p:sp>
        <p:nvSpPr>
          <p:cNvPr id="8" name="Text 6"/>
          <p:cNvSpPr/>
          <p:nvPr/>
        </p:nvSpPr>
        <p:spPr>
          <a:xfrm>
            <a:off x="988060" y="2552700"/>
            <a:ext cx="28550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Illustrative content</a:t>
            </a:r>
            <a:endParaRPr lang="en-US" sz="1200" dirty="0"/>
          </a:p>
        </p:txBody>
      </p:sp>
      <p:pic>
        <p:nvPicPr>
          <p:cNvPr id="9" name="Image 0" descr="arrow-right"/>
          <p:cNvPicPr>
            <a:picLocks noChangeAspect="1"/>
          </p:cNvPicPr>
          <p:nvPr/>
        </p:nvPicPr>
        <p:blipFill>
          <a:blip r:embed="rId3"/>
          <a:srcRect/>
          <a:stretch/>
        </p:blipFill>
        <p:spPr>
          <a:xfrm>
            <a:off x="4062254" y="2118358"/>
            <a:ext cx="355600" cy="203200"/>
          </a:xfrm>
          <a:prstGeom prst="rect">
            <a:avLst/>
          </a:prstGeom>
        </p:spPr>
      </p:pic>
      <p:sp>
        <p:nvSpPr>
          <p:cNvPr id="10" name="Shape 7"/>
          <p:cNvSpPr/>
          <p:nvPr/>
        </p:nvSpPr>
        <p:spPr>
          <a:xfrm>
            <a:off x="4551204" y="1677033"/>
            <a:ext cx="3109833" cy="1085850"/>
          </a:xfrm>
          <a:prstGeom prst="roundRect">
            <a:avLst>
              <a:gd name="adj" fmla="val 8772"/>
            </a:avLst>
          </a:prstGeom>
          <a:solidFill>
            <a:srgbClr val="F6EFD6"/>
          </a:solidFill>
          <a:ln w="12700">
            <a:solidFill>
              <a:srgbClr val="D9BE6A"/>
            </a:solidFill>
            <a:prstDash val="solid"/>
          </a:ln>
        </p:spPr>
      </p:sp>
      <p:sp>
        <p:nvSpPr>
          <p:cNvPr id="11" name="Text 8"/>
          <p:cNvSpPr/>
          <p:nvPr/>
        </p:nvSpPr>
        <p:spPr>
          <a:xfrm>
            <a:off x="4720114" y="1820552"/>
            <a:ext cx="285517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A5A0C"/>
                </a:solidFill>
                <a:latin typeface="Arial" pitchFamily="34" charset="0"/>
                <a:ea typeface="Arial" pitchFamily="34" charset="-122"/>
                <a:cs typeface="Arial" pitchFamily="34" charset="-120"/>
              </a:rPr>
              <a:t>2 · BLOB OBJECT</a:t>
            </a:r>
            <a:endParaRPr lang="en-US" sz="1200" dirty="0"/>
          </a:p>
        </p:txBody>
      </p:sp>
      <p:sp>
        <p:nvSpPr>
          <p:cNvPr id="12" name="Text 9"/>
          <p:cNvSpPr/>
          <p:nvPr/>
        </p:nvSpPr>
        <p:spPr>
          <a:xfrm>
            <a:off x="4720114" y="2097410"/>
            <a:ext cx="285517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Snapshot of the content</a:t>
            </a:r>
            <a:endParaRPr lang="en-US" sz="1600" dirty="0"/>
          </a:p>
        </p:txBody>
      </p:sp>
      <p:sp>
        <p:nvSpPr>
          <p:cNvPr id="13" name="Text 10"/>
          <p:cNvSpPr/>
          <p:nvPr/>
        </p:nvSpPr>
        <p:spPr>
          <a:xfrm>
            <a:off x="4720114" y="2404752"/>
            <a:ext cx="285517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7A5A0C"/>
                </a:solidFill>
                <a:latin typeface="Arial" pitchFamily="34" charset="0"/>
                <a:ea typeface="Arial" pitchFamily="34" charset="-122"/>
                <a:cs typeface="Arial" pitchFamily="34" charset="-120"/>
              </a:rPr>
              <a:t>Serialized by the Blob model.</a:t>
            </a:r>
            <a:endParaRPr lang="en-US" sz="1300" dirty="0"/>
          </a:p>
        </p:txBody>
      </p:sp>
      <p:pic>
        <p:nvPicPr>
          <p:cNvPr id="14" name="Image 1" descr="arrow-right"/>
          <p:cNvPicPr>
            <a:picLocks noChangeAspect="1"/>
          </p:cNvPicPr>
          <p:nvPr/>
        </p:nvPicPr>
        <p:blipFill>
          <a:blip r:embed="rId3"/>
          <a:srcRect/>
          <a:stretch/>
        </p:blipFill>
        <p:spPr>
          <a:xfrm>
            <a:off x="7794387" y="2118358"/>
            <a:ext cx="355600" cy="203200"/>
          </a:xfrm>
          <a:prstGeom prst="rect">
            <a:avLst/>
          </a:prstGeom>
        </p:spPr>
      </p:pic>
      <p:sp>
        <p:nvSpPr>
          <p:cNvPr id="15" name="Shape 11"/>
          <p:cNvSpPr/>
          <p:nvPr/>
        </p:nvSpPr>
        <p:spPr>
          <a:xfrm>
            <a:off x="8276987" y="1573535"/>
            <a:ext cx="3102213" cy="1292860"/>
          </a:xfrm>
          <a:prstGeom prst="roundRect">
            <a:avLst>
              <a:gd name="adj" fmla="val 7859"/>
            </a:avLst>
          </a:prstGeom>
          <a:solidFill>
            <a:srgbClr val="07201A"/>
          </a:solidFill>
          <a:ln/>
        </p:spPr>
      </p:sp>
      <p:sp>
        <p:nvSpPr>
          <p:cNvPr id="16" name="Text 12"/>
          <p:cNvSpPr/>
          <p:nvPr/>
        </p:nvSpPr>
        <p:spPr>
          <a:xfrm>
            <a:off x="8442087" y="1713235"/>
            <a:ext cx="285517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A0"/>
                </a:solidFill>
                <a:latin typeface="Arial" pitchFamily="34" charset="0"/>
                <a:ea typeface="Arial" pitchFamily="34" charset="-122"/>
                <a:cs typeface="Arial" pitchFamily="34" charset="-120"/>
              </a:rPr>
              <a:t>3 · STORED OBJECT</a:t>
            </a:r>
            <a:endParaRPr lang="en-US" sz="1200" dirty="0"/>
          </a:p>
        </p:txBody>
      </p:sp>
      <p:sp>
        <p:nvSpPr>
          <p:cNvPr id="17" name="Text 13"/>
          <p:cNvSpPr/>
          <p:nvPr/>
        </p:nvSpPr>
        <p:spPr>
          <a:xfrm>
            <a:off x="8442087" y="1990092"/>
            <a:ext cx="285517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8F5"/>
                </a:solidFill>
                <a:latin typeface="Arial" pitchFamily="34" charset="0"/>
                <a:ea typeface="Arial" pitchFamily="34" charset="-122"/>
                <a:cs typeface="Arial" pitchFamily="34" charset="-120"/>
              </a:rPr>
              <a:t>.loki/objects/</a:t>
            </a:r>
            <a:endParaRPr lang="en-US" sz="1600" dirty="0"/>
          </a:p>
        </p:txBody>
      </p:sp>
      <p:sp>
        <p:nvSpPr>
          <p:cNvPr id="18" name="Text 14"/>
          <p:cNvSpPr/>
          <p:nvPr/>
        </p:nvSpPr>
        <p:spPr>
          <a:xfrm>
            <a:off x="8442087" y="2297435"/>
            <a:ext cx="2855174"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A8C8BB"/>
                </a:solidFill>
                <a:latin typeface="Arial" pitchFamily="34" charset="0"/>
                <a:ea typeface="Arial" pitchFamily="34" charset="-122"/>
                <a:cs typeface="Arial" pitchFamily="34" charset="-120"/>
              </a:rPr>
              <a:t>Named by its SHA-1 hash, compressed with zlib.</a:t>
            </a:r>
            <a:endParaRPr lang="en-US" sz="1300" dirty="0"/>
          </a:p>
        </p:txBody>
      </p:sp>
      <p:sp>
        <p:nvSpPr>
          <p:cNvPr id="19" name="Shape 15"/>
          <p:cNvSpPr/>
          <p:nvPr/>
        </p:nvSpPr>
        <p:spPr>
          <a:xfrm>
            <a:off x="819150" y="3125477"/>
            <a:ext cx="3424714" cy="1010920"/>
          </a:xfrm>
          <a:prstGeom prst="roundRect">
            <a:avLst>
              <a:gd name="adj" fmla="val 9422"/>
            </a:avLst>
          </a:prstGeom>
          <a:solidFill>
            <a:srgbClr val="E0F2EA"/>
          </a:solidFill>
          <a:ln w="12700">
            <a:solidFill>
              <a:srgbClr val="A8D6C2"/>
            </a:solidFill>
            <a:prstDash val="solid"/>
          </a:ln>
        </p:spPr>
      </p:sp>
      <p:sp>
        <p:nvSpPr>
          <p:cNvPr id="20" name="Text 16"/>
          <p:cNvSpPr/>
          <p:nvPr/>
        </p:nvSpPr>
        <p:spPr>
          <a:xfrm>
            <a:off x="988060" y="3268985"/>
            <a:ext cx="317950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The blob hash</a:t>
            </a:r>
            <a:endParaRPr lang="en-US" sz="1600" dirty="0"/>
          </a:p>
        </p:txBody>
      </p:sp>
      <p:sp>
        <p:nvSpPr>
          <p:cNvPr id="21" name="Text 17"/>
          <p:cNvSpPr/>
          <p:nvPr/>
        </p:nvSpPr>
        <p:spPr>
          <a:xfrm>
            <a:off x="988060" y="3563627"/>
            <a:ext cx="3179501"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SHA-1 over the complete serialized bytes is the object ID.</a:t>
            </a:r>
            <a:endParaRPr lang="en-US" sz="1300" dirty="0"/>
          </a:p>
        </p:txBody>
      </p:sp>
      <p:sp>
        <p:nvSpPr>
          <p:cNvPr id="22" name="Shape 18"/>
          <p:cNvSpPr/>
          <p:nvPr/>
        </p:nvSpPr>
        <p:spPr>
          <a:xfrm>
            <a:off x="4383564" y="3125477"/>
            <a:ext cx="3424793" cy="1010920"/>
          </a:xfrm>
          <a:prstGeom prst="roundRect">
            <a:avLst>
              <a:gd name="adj" fmla="val 9422"/>
            </a:avLst>
          </a:prstGeom>
          <a:solidFill>
            <a:srgbClr val="E0F2EA"/>
          </a:solidFill>
          <a:ln w="12700">
            <a:solidFill>
              <a:srgbClr val="A8D6C2"/>
            </a:solidFill>
            <a:prstDash val="solid"/>
          </a:ln>
        </p:spPr>
      </p:sp>
      <p:sp>
        <p:nvSpPr>
          <p:cNvPr id="23" name="Text 19"/>
          <p:cNvSpPr/>
          <p:nvPr/>
        </p:nvSpPr>
        <p:spPr>
          <a:xfrm>
            <a:off x="4552474" y="3268985"/>
            <a:ext cx="317958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Same bytes, same ID</a:t>
            </a:r>
            <a:endParaRPr lang="en-US" sz="1600" dirty="0"/>
          </a:p>
        </p:txBody>
      </p:sp>
      <p:sp>
        <p:nvSpPr>
          <p:cNvPr id="24" name="Text 20"/>
          <p:cNvSpPr/>
          <p:nvPr/>
        </p:nvSpPr>
        <p:spPr>
          <a:xfrm>
            <a:off x="4552474" y="3563627"/>
            <a:ext cx="317958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Identical serialized bytes give the same object ID in the normal write path.</a:t>
            </a:r>
            <a:endParaRPr lang="en-US" sz="1300" dirty="0"/>
          </a:p>
        </p:txBody>
      </p:sp>
      <p:sp>
        <p:nvSpPr>
          <p:cNvPr id="25" name="Shape 21"/>
          <p:cNvSpPr/>
          <p:nvPr/>
        </p:nvSpPr>
        <p:spPr>
          <a:xfrm>
            <a:off x="7948057" y="3125477"/>
            <a:ext cx="3424793" cy="1010920"/>
          </a:xfrm>
          <a:prstGeom prst="roundRect">
            <a:avLst>
              <a:gd name="adj" fmla="val 9422"/>
            </a:avLst>
          </a:prstGeom>
          <a:solidFill>
            <a:srgbClr val="E0F2EA"/>
          </a:solidFill>
          <a:ln w="12700">
            <a:solidFill>
              <a:srgbClr val="A8D6C2"/>
            </a:solidFill>
            <a:prstDash val="solid"/>
          </a:ln>
        </p:spPr>
      </p:sp>
      <p:sp>
        <p:nvSpPr>
          <p:cNvPr id="26" name="Text 22"/>
          <p:cNvSpPr/>
          <p:nvPr/>
        </p:nvSpPr>
        <p:spPr>
          <a:xfrm>
            <a:off x="8116967" y="3268985"/>
            <a:ext cx="317958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Paths live elsewhere</a:t>
            </a:r>
            <a:endParaRPr lang="en-US" sz="1600" dirty="0"/>
          </a:p>
        </p:txBody>
      </p:sp>
      <p:sp>
        <p:nvSpPr>
          <p:cNvPr id="27" name="Text 23"/>
          <p:cNvSpPr/>
          <p:nvPr/>
        </p:nvSpPr>
        <p:spPr>
          <a:xfrm>
            <a:off x="8116967" y="3563627"/>
            <a:ext cx="317958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Trees and the index map file paths to blob IDs.</a:t>
            </a:r>
            <a:endParaRPr lang="en-US" sz="1300" dirty="0"/>
          </a:p>
        </p:txBody>
      </p:sp>
      <p:pic>
        <p:nvPicPr>
          <p:cNvPr id="28"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9" name="Text 24"/>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0" name="Text 25"/>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Tree Objects</a:t>
            </a:r>
            <a:endParaRPr lang="en-US" sz="3200" dirty="0"/>
          </a:p>
        </p:txBody>
      </p:sp>
      <p:sp>
        <p:nvSpPr>
          <p:cNvPr id="4" name="Shape 2"/>
          <p:cNvSpPr/>
          <p:nvPr/>
        </p:nvSpPr>
        <p:spPr>
          <a:xfrm>
            <a:off x="819150" y="1530350"/>
            <a:ext cx="6337300" cy="2717800"/>
          </a:xfrm>
          <a:prstGeom prst="roundRect">
            <a:avLst>
              <a:gd name="adj" fmla="val 3505"/>
            </a:avLst>
          </a:prstGeom>
          <a:solidFill>
            <a:srgbClr val="FBFCFE"/>
          </a:solidFill>
          <a:ln w="12700">
            <a:solidFill>
              <a:srgbClr val="C7D8CE"/>
            </a:solidFill>
            <a:prstDash val="solid"/>
          </a:ln>
        </p:spPr>
      </p:sp>
      <p:sp>
        <p:nvSpPr>
          <p:cNvPr id="5" name="Text 3"/>
          <p:cNvSpPr/>
          <p:nvPr/>
        </p:nvSpPr>
        <p:spPr>
          <a:xfrm>
            <a:off x="1000760" y="1686558"/>
            <a:ext cx="315658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Tree object: path → blob ID</a:t>
            </a:r>
            <a:endParaRPr lang="en-US" sz="1600" dirty="0"/>
          </a:p>
        </p:txBody>
      </p:sp>
      <p:sp>
        <p:nvSpPr>
          <p:cNvPr id="6" name="Text 4"/>
          <p:cNvSpPr/>
          <p:nvPr/>
        </p:nvSpPr>
        <p:spPr>
          <a:xfrm>
            <a:off x="5663533" y="1722127"/>
            <a:ext cx="131130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Arial" pitchFamily="34" charset="0"/>
                <a:ea typeface="Arial" pitchFamily="34" charset="-122"/>
                <a:cs typeface="Arial" pitchFamily="34" charset="-120"/>
              </a:rPr>
              <a:t>illustrative paths</a:t>
            </a:r>
            <a:endParaRPr lang="en-US" sz="1200" dirty="0"/>
          </a:p>
        </p:txBody>
      </p:sp>
      <p:sp>
        <p:nvSpPr>
          <p:cNvPr id="7" name="Text 5"/>
          <p:cNvSpPr/>
          <p:nvPr/>
        </p:nvSpPr>
        <p:spPr>
          <a:xfrm>
            <a:off x="1007110" y="2043435"/>
            <a:ext cx="3751580" cy="416560"/>
          </a:xfrm>
          <a:prstGeom prst="roundRect">
            <a:avLst>
              <a:gd name="adj" fmla="val 13720"/>
            </a:avLst>
          </a:prstGeom>
          <a:solidFill>
            <a:srgbClr val="F6EFD6"/>
          </a:solidFill>
          <a:ln w="12700">
            <a:solidFill>
              <a:srgbClr val="D9BE6A"/>
            </a:solidFill>
            <a:prstDash val="solid"/>
          </a:ln>
        </p:spPr>
        <p:txBody>
          <a:bodyPr wrap="square" lIns="101371" tIns="75971" rIns="0" bIns="50571" rtlCol="0" anchor="t">
            <a:normAutofit/>
          </a:bodyPr>
          <a:lstStyle/>
          <a:p>
            <a:pPr marL="0" indent="0" algn="l">
              <a:lnSpc>
                <a:spcPts val="1820"/>
              </a:lnSpc>
              <a:buNone/>
            </a:pPr>
            <a:r>
              <a:rPr lang="en-US" sz="1300" dirty="0">
                <a:solidFill>
                  <a:srgbClr val="07201A"/>
                </a:solidFill>
                <a:latin typeface="Courier New" pitchFamily="49" charset="0"/>
                <a:ea typeface="Courier New" pitchFamily="49" charset="-122"/>
                <a:cs typeface="Courier New" pitchFamily="49" charset="-120"/>
              </a:rPr>
              <a:t>README.md</a:t>
            </a:r>
            <a:endParaRPr lang="en-US" sz="1300" dirty="0"/>
          </a:p>
        </p:txBody>
      </p:sp>
      <p:pic>
        <p:nvPicPr>
          <p:cNvPr id="8" name="Image 0" descr="arrow-right"/>
          <p:cNvPicPr>
            <a:picLocks noChangeAspect="1"/>
          </p:cNvPicPr>
          <p:nvPr/>
        </p:nvPicPr>
        <p:blipFill>
          <a:blip r:embed="rId3"/>
          <a:srcRect/>
          <a:stretch/>
        </p:blipFill>
        <p:spPr>
          <a:xfrm>
            <a:off x="4866640" y="2150108"/>
            <a:ext cx="355600" cy="203200"/>
          </a:xfrm>
          <a:prstGeom prst="rect">
            <a:avLst/>
          </a:prstGeom>
        </p:spPr>
      </p:pic>
      <p:sp>
        <p:nvSpPr>
          <p:cNvPr id="9" name="Text 6"/>
          <p:cNvSpPr/>
          <p:nvPr/>
        </p:nvSpPr>
        <p:spPr>
          <a:xfrm>
            <a:off x="5330190" y="2043435"/>
            <a:ext cx="1638300" cy="416560"/>
          </a:xfrm>
          <a:prstGeom prst="roundRect">
            <a:avLst>
              <a:gd name="adj" fmla="val 13720"/>
            </a:avLst>
          </a:prstGeom>
          <a:solidFill>
            <a:srgbClr val="E0F2EA"/>
          </a:solidFill>
          <a:ln w="12700">
            <a:solidFill>
              <a:srgbClr val="8CCBB0"/>
            </a:solidFill>
            <a:prstDash val="solid"/>
          </a:ln>
        </p:spPr>
        <p:txBody>
          <a:bodyPr wrap="square" lIns="101371" tIns="75971" rIns="50571" bIns="50571" rtlCol="0" anchor="t">
            <a:normAutofit/>
          </a:bodyPr>
          <a:lstStyle/>
          <a:p>
            <a:pPr marL="0" indent="0" algn="l">
              <a:lnSpc>
                <a:spcPts val="1820"/>
              </a:lnSpc>
              <a:buNone/>
            </a:pPr>
            <a:r>
              <a:rPr lang="en-US" sz="1300" b="1" dirty="0">
                <a:solidFill>
                  <a:srgbClr val="07201A"/>
                </a:solidFill>
                <a:latin typeface="Arial" pitchFamily="34" charset="0"/>
                <a:ea typeface="Arial" pitchFamily="34" charset="-122"/>
                <a:cs typeface="Arial" pitchFamily="34" charset="-120"/>
              </a:rPr>
              <a:t>Blob 1</a:t>
            </a:r>
            <a:endParaRPr lang="en-US" sz="1300" dirty="0"/>
          </a:p>
        </p:txBody>
      </p:sp>
      <p:sp>
        <p:nvSpPr>
          <p:cNvPr id="10" name="Text 7"/>
          <p:cNvSpPr/>
          <p:nvPr/>
        </p:nvSpPr>
        <p:spPr>
          <a:xfrm>
            <a:off x="1007110" y="2574292"/>
            <a:ext cx="3751580" cy="416560"/>
          </a:xfrm>
          <a:prstGeom prst="roundRect">
            <a:avLst>
              <a:gd name="adj" fmla="val 13720"/>
            </a:avLst>
          </a:prstGeom>
          <a:solidFill>
            <a:srgbClr val="F6EFD6"/>
          </a:solidFill>
          <a:ln w="12700">
            <a:solidFill>
              <a:srgbClr val="D9BE6A"/>
            </a:solidFill>
            <a:prstDash val="solid"/>
          </a:ln>
        </p:spPr>
        <p:txBody>
          <a:bodyPr wrap="square" lIns="101371" tIns="75971" rIns="0" bIns="50571" rtlCol="0" anchor="t">
            <a:normAutofit/>
          </a:bodyPr>
          <a:lstStyle/>
          <a:p>
            <a:pPr marL="0" indent="0" algn="l">
              <a:lnSpc>
                <a:spcPts val="1820"/>
              </a:lnSpc>
              <a:buNone/>
            </a:pPr>
            <a:r>
              <a:rPr lang="en-US" sz="1300" dirty="0">
                <a:solidFill>
                  <a:srgbClr val="07201A"/>
                </a:solidFill>
                <a:latin typeface="Courier New" pitchFamily="49" charset="0"/>
                <a:ea typeface="Courier New" pitchFamily="49" charset="-122"/>
                <a:cs typeface="Courier New" pitchFamily="49" charset="-120"/>
              </a:rPr>
              <a:t>src/app.go</a:t>
            </a:r>
            <a:endParaRPr lang="en-US" sz="1300" dirty="0"/>
          </a:p>
        </p:txBody>
      </p:sp>
      <p:pic>
        <p:nvPicPr>
          <p:cNvPr id="11" name="Image 1" descr="arrow-right"/>
          <p:cNvPicPr>
            <a:picLocks noChangeAspect="1"/>
          </p:cNvPicPr>
          <p:nvPr/>
        </p:nvPicPr>
        <p:blipFill>
          <a:blip r:embed="rId3"/>
          <a:srcRect/>
          <a:stretch/>
        </p:blipFill>
        <p:spPr>
          <a:xfrm>
            <a:off x="4866640" y="2680977"/>
            <a:ext cx="355600" cy="203200"/>
          </a:xfrm>
          <a:prstGeom prst="rect">
            <a:avLst/>
          </a:prstGeom>
        </p:spPr>
      </p:pic>
      <p:sp>
        <p:nvSpPr>
          <p:cNvPr id="12" name="Text 8"/>
          <p:cNvSpPr/>
          <p:nvPr/>
        </p:nvSpPr>
        <p:spPr>
          <a:xfrm>
            <a:off x="5330190" y="2574292"/>
            <a:ext cx="1638300" cy="416560"/>
          </a:xfrm>
          <a:prstGeom prst="roundRect">
            <a:avLst>
              <a:gd name="adj" fmla="val 13720"/>
            </a:avLst>
          </a:prstGeom>
          <a:solidFill>
            <a:srgbClr val="E0F2EA"/>
          </a:solidFill>
          <a:ln w="12700">
            <a:solidFill>
              <a:srgbClr val="8CCBB0"/>
            </a:solidFill>
            <a:prstDash val="solid"/>
          </a:ln>
        </p:spPr>
        <p:txBody>
          <a:bodyPr wrap="square" lIns="101371" tIns="75971" rIns="50571" bIns="50571" rtlCol="0" anchor="t">
            <a:normAutofit/>
          </a:bodyPr>
          <a:lstStyle/>
          <a:p>
            <a:pPr marL="0" indent="0" algn="l">
              <a:lnSpc>
                <a:spcPts val="1820"/>
              </a:lnSpc>
              <a:buNone/>
            </a:pPr>
            <a:r>
              <a:rPr lang="en-US" sz="1300" b="1" dirty="0">
                <a:solidFill>
                  <a:srgbClr val="07201A"/>
                </a:solidFill>
                <a:latin typeface="Arial" pitchFamily="34" charset="0"/>
                <a:ea typeface="Arial" pitchFamily="34" charset="-122"/>
                <a:cs typeface="Arial" pitchFamily="34" charset="-120"/>
              </a:rPr>
              <a:t>Blob 2</a:t>
            </a:r>
            <a:endParaRPr lang="en-US" sz="1300" dirty="0"/>
          </a:p>
        </p:txBody>
      </p:sp>
      <p:sp>
        <p:nvSpPr>
          <p:cNvPr id="13" name="Text 9"/>
          <p:cNvSpPr/>
          <p:nvPr/>
        </p:nvSpPr>
        <p:spPr>
          <a:xfrm>
            <a:off x="1007110" y="3105150"/>
            <a:ext cx="3751580" cy="416560"/>
          </a:xfrm>
          <a:prstGeom prst="roundRect">
            <a:avLst>
              <a:gd name="adj" fmla="val 13720"/>
            </a:avLst>
          </a:prstGeom>
          <a:solidFill>
            <a:srgbClr val="F6EFD6"/>
          </a:solidFill>
          <a:ln w="12700">
            <a:solidFill>
              <a:srgbClr val="D9BE6A"/>
            </a:solidFill>
            <a:prstDash val="solid"/>
          </a:ln>
        </p:spPr>
        <p:txBody>
          <a:bodyPr wrap="square" lIns="101371" tIns="75971" rIns="0" bIns="50571" rtlCol="0" anchor="t">
            <a:normAutofit/>
          </a:bodyPr>
          <a:lstStyle/>
          <a:p>
            <a:pPr marL="0" indent="0" algn="l">
              <a:lnSpc>
                <a:spcPts val="1820"/>
              </a:lnSpc>
              <a:buNone/>
            </a:pPr>
            <a:r>
              <a:rPr lang="en-US" sz="1300" dirty="0">
                <a:solidFill>
                  <a:srgbClr val="07201A"/>
                </a:solidFill>
                <a:latin typeface="Courier New" pitchFamily="49" charset="0"/>
                <a:ea typeface="Courier New" pitchFamily="49" charset="-122"/>
                <a:cs typeface="Courier New" pitchFamily="49" charset="-120"/>
              </a:rPr>
              <a:t>docs/guide.txt</a:t>
            </a:r>
            <a:endParaRPr lang="en-US" sz="1300" dirty="0"/>
          </a:p>
        </p:txBody>
      </p:sp>
      <p:pic>
        <p:nvPicPr>
          <p:cNvPr id="14" name="Image 2" descr="arrow-right"/>
          <p:cNvPicPr>
            <a:picLocks noChangeAspect="1"/>
          </p:cNvPicPr>
          <p:nvPr/>
        </p:nvPicPr>
        <p:blipFill>
          <a:blip r:embed="rId3"/>
          <a:srcRect/>
          <a:stretch/>
        </p:blipFill>
        <p:spPr>
          <a:xfrm>
            <a:off x="4866640" y="3211835"/>
            <a:ext cx="355600" cy="203200"/>
          </a:xfrm>
          <a:prstGeom prst="rect">
            <a:avLst/>
          </a:prstGeom>
        </p:spPr>
      </p:pic>
      <p:sp>
        <p:nvSpPr>
          <p:cNvPr id="15" name="Text 10"/>
          <p:cNvSpPr/>
          <p:nvPr/>
        </p:nvSpPr>
        <p:spPr>
          <a:xfrm>
            <a:off x="5330190" y="3105150"/>
            <a:ext cx="1638300" cy="416560"/>
          </a:xfrm>
          <a:prstGeom prst="roundRect">
            <a:avLst>
              <a:gd name="adj" fmla="val 13720"/>
            </a:avLst>
          </a:prstGeom>
          <a:solidFill>
            <a:srgbClr val="E0F2EA"/>
          </a:solidFill>
          <a:ln w="12700">
            <a:solidFill>
              <a:srgbClr val="8CCBB0"/>
            </a:solidFill>
            <a:prstDash val="solid"/>
          </a:ln>
        </p:spPr>
        <p:txBody>
          <a:bodyPr wrap="square" lIns="101371" tIns="75971" rIns="50571" bIns="50571" rtlCol="0" anchor="t">
            <a:normAutofit/>
          </a:bodyPr>
          <a:lstStyle/>
          <a:p>
            <a:pPr marL="0" indent="0" algn="l">
              <a:lnSpc>
                <a:spcPts val="1820"/>
              </a:lnSpc>
              <a:buNone/>
            </a:pPr>
            <a:r>
              <a:rPr lang="en-US" sz="1300" b="1" dirty="0">
                <a:solidFill>
                  <a:srgbClr val="07201A"/>
                </a:solidFill>
                <a:latin typeface="Arial" pitchFamily="34" charset="0"/>
                <a:ea typeface="Arial" pitchFamily="34" charset="-122"/>
                <a:cs typeface="Arial" pitchFamily="34" charset="-120"/>
              </a:rPr>
              <a:t>Blob 3</a:t>
            </a:r>
            <a:endParaRPr lang="en-US" sz="1300" dirty="0"/>
          </a:p>
        </p:txBody>
      </p:sp>
      <p:sp>
        <p:nvSpPr>
          <p:cNvPr id="16" name="Shape 11"/>
          <p:cNvSpPr/>
          <p:nvPr/>
        </p:nvSpPr>
        <p:spPr>
          <a:xfrm>
            <a:off x="7372350" y="1530350"/>
            <a:ext cx="4000500" cy="758190"/>
          </a:xfrm>
          <a:prstGeom prst="roundRect">
            <a:avLst>
              <a:gd name="adj" fmla="val 12563"/>
            </a:avLst>
          </a:prstGeom>
          <a:solidFill>
            <a:srgbClr val="E0F2EA"/>
          </a:solidFill>
          <a:ln w="12700">
            <a:solidFill>
              <a:srgbClr val="A8D6C2"/>
            </a:solidFill>
            <a:prstDash val="solid"/>
          </a:ln>
        </p:spPr>
      </p:sp>
      <p:sp>
        <p:nvSpPr>
          <p:cNvPr id="17" name="Text 12"/>
          <p:cNvSpPr/>
          <p:nvPr/>
        </p:nvSpPr>
        <p:spPr>
          <a:xfrm>
            <a:off x="7528560" y="1661158"/>
            <a:ext cx="37987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As documented</a:t>
            </a:r>
            <a:endParaRPr lang="en-US" sz="1600" dirty="0"/>
          </a:p>
        </p:txBody>
      </p:sp>
      <p:sp>
        <p:nvSpPr>
          <p:cNvPr id="18" name="Text 13"/>
          <p:cNvSpPr/>
          <p:nvPr/>
        </p:nvSpPr>
        <p:spPr>
          <a:xfrm>
            <a:off x="7528560" y="1943100"/>
            <a:ext cx="379872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A tree maps file paths to blob IDs.</a:t>
            </a:r>
            <a:endParaRPr lang="en-US" sz="1300" dirty="0"/>
          </a:p>
        </p:txBody>
      </p:sp>
      <p:sp>
        <p:nvSpPr>
          <p:cNvPr id="19" name="Shape 14"/>
          <p:cNvSpPr/>
          <p:nvPr/>
        </p:nvSpPr>
        <p:spPr>
          <a:xfrm>
            <a:off x="7372350" y="2402842"/>
            <a:ext cx="4000500" cy="758190"/>
          </a:xfrm>
          <a:prstGeom prst="roundRect">
            <a:avLst>
              <a:gd name="adj" fmla="val 12563"/>
            </a:avLst>
          </a:prstGeom>
          <a:solidFill>
            <a:srgbClr val="E0F2EA"/>
          </a:solidFill>
          <a:ln w="12700">
            <a:solidFill>
              <a:srgbClr val="A8D6C2"/>
            </a:solidFill>
            <a:prstDash val="solid"/>
          </a:ln>
        </p:spPr>
      </p:sp>
      <p:sp>
        <p:nvSpPr>
          <p:cNvPr id="20" name="Text 15"/>
          <p:cNvSpPr/>
          <p:nvPr/>
        </p:nvSpPr>
        <p:spPr>
          <a:xfrm>
            <a:off x="7528560" y="2533650"/>
            <a:ext cx="37987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Used by commits</a:t>
            </a:r>
            <a:endParaRPr lang="en-US" sz="1600" dirty="0"/>
          </a:p>
        </p:txBody>
      </p:sp>
      <p:sp>
        <p:nvSpPr>
          <p:cNvPr id="21" name="Text 16"/>
          <p:cNvSpPr/>
          <p:nvPr/>
        </p:nvSpPr>
        <p:spPr>
          <a:xfrm>
            <a:off x="7528560" y="2815592"/>
            <a:ext cx="379872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A commit records the ID of one tree.</a:t>
            </a:r>
            <a:endParaRPr lang="en-US" sz="1300" dirty="0"/>
          </a:p>
        </p:txBody>
      </p:sp>
      <p:sp>
        <p:nvSpPr>
          <p:cNvPr id="22" name="Shape 17"/>
          <p:cNvSpPr/>
          <p:nvPr/>
        </p:nvSpPr>
        <p:spPr>
          <a:xfrm>
            <a:off x="7372350" y="3275335"/>
            <a:ext cx="4000500" cy="972820"/>
          </a:xfrm>
          <a:prstGeom prst="roundRect">
            <a:avLst>
              <a:gd name="adj" fmla="val 9791"/>
            </a:avLst>
          </a:prstGeom>
          <a:solidFill>
            <a:srgbClr val="FDF0E1"/>
          </a:solidFill>
          <a:ln w="12700">
            <a:solidFill>
              <a:srgbClr val="E8B27A"/>
            </a:solidFill>
            <a:prstDash val="solid"/>
          </a:ln>
        </p:spPr>
      </p:sp>
      <p:sp>
        <p:nvSpPr>
          <p:cNvPr id="23" name="Text 18"/>
          <p:cNvSpPr/>
          <p:nvPr/>
        </p:nvSpPr>
        <p:spPr>
          <a:xfrm>
            <a:off x="7528560" y="3406142"/>
            <a:ext cx="379872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Not drawn</a:t>
            </a:r>
            <a:endParaRPr lang="en-US" sz="1600" dirty="0"/>
          </a:p>
        </p:txBody>
      </p:sp>
      <p:sp>
        <p:nvSpPr>
          <p:cNvPr id="24" name="Text 19"/>
          <p:cNvSpPr/>
          <p:nvPr/>
        </p:nvSpPr>
        <p:spPr>
          <a:xfrm>
            <a:off x="7528560" y="3688085"/>
            <a:ext cx="379872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C3410"/>
                </a:solidFill>
                <a:latin typeface="Arial" pitchFamily="34" charset="0"/>
                <a:ea typeface="Arial" pitchFamily="34" charset="-122"/>
                <a:cs typeface="Arial" pitchFamily="34" charset="-120"/>
              </a:rPr>
              <a:t>Nested per-directory tree objects are not described in the documentation.</a:t>
            </a:r>
            <a:endParaRPr lang="en-US" sz="1300" dirty="0"/>
          </a:p>
        </p:txBody>
      </p:sp>
      <p:pic>
        <p:nvPicPr>
          <p:cNvPr id="25" name="Image 3"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6" name="Text 20"/>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7" name="Text 21"/>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Commit Objects</a:t>
            </a:r>
            <a:endParaRPr lang="en-US" sz="3200" dirty="0"/>
          </a:p>
        </p:txBody>
      </p:sp>
      <p:sp>
        <p:nvSpPr>
          <p:cNvPr id="4" name="Shape 2"/>
          <p:cNvSpPr/>
          <p:nvPr/>
        </p:nvSpPr>
        <p:spPr>
          <a:xfrm>
            <a:off x="819150" y="1530350"/>
            <a:ext cx="4889500" cy="3126740"/>
          </a:xfrm>
          <a:prstGeom prst="roundRect">
            <a:avLst>
              <a:gd name="adj" fmla="val 3046"/>
            </a:avLst>
          </a:prstGeom>
          <a:solidFill>
            <a:srgbClr val="FBFCFE"/>
          </a:solidFill>
          <a:ln w="12700">
            <a:solidFill>
              <a:srgbClr val="C7D8CE"/>
            </a:solidFill>
            <a:prstDash val="solid"/>
          </a:ln>
        </p:spPr>
      </p:sp>
      <p:sp>
        <p:nvSpPr>
          <p:cNvPr id="5" name="Text 3"/>
          <p:cNvSpPr/>
          <p:nvPr/>
        </p:nvSpPr>
        <p:spPr>
          <a:xfrm>
            <a:off x="1000760" y="1686558"/>
            <a:ext cx="46620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A commit records</a:t>
            </a:r>
            <a:endParaRPr lang="en-US" sz="1600" dirty="0"/>
          </a:p>
        </p:txBody>
      </p:sp>
      <p:sp>
        <p:nvSpPr>
          <p:cNvPr id="6" name="Shape 4"/>
          <p:cNvSpPr/>
          <p:nvPr/>
        </p:nvSpPr>
        <p:spPr>
          <a:xfrm>
            <a:off x="1007110" y="2025650"/>
            <a:ext cx="4513580" cy="647700"/>
          </a:xfrm>
          <a:prstGeom prst="roundRect">
            <a:avLst>
              <a:gd name="adj" fmla="val 8824"/>
            </a:avLst>
          </a:prstGeom>
          <a:solidFill>
            <a:srgbClr val="E0F2EA"/>
          </a:solidFill>
          <a:ln w="12700">
            <a:solidFill>
              <a:srgbClr val="A8D6C2"/>
            </a:solidFill>
            <a:prstDash val="solid"/>
          </a:ln>
        </p:spPr>
      </p:sp>
      <p:sp>
        <p:nvSpPr>
          <p:cNvPr id="7" name="Text 5"/>
          <p:cNvSpPr/>
          <p:nvPr/>
        </p:nvSpPr>
        <p:spPr>
          <a:xfrm>
            <a:off x="1125220" y="2118358"/>
            <a:ext cx="440568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Tree ID</a:t>
            </a:r>
            <a:endParaRPr lang="en-US" sz="1400" dirty="0"/>
          </a:p>
        </p:txBody>
      </p:sp>
      <p:sp>
        <p:nvSpPr>
          <p:cNvPr id="8" name="Text 6"/>
          <p:cNvSpPr/>
          <p:nvPr/>
        </p:nvSpPr>
        <p:spPr>
          <a:xfrm>
            <a:off x="1125220" y="2367285"/>
            <a:ext cx="4405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403A"/>
                </a:solidFill>
                <a:latin typeface="Arial" pitchFamily="34" charset="0"/>
                <a:ea typeface="Arial" pitchFamily="34" charset="-122"/>
                <a:cs typeface="Arial" pitchFamily="34" charset="-120"/>
              </a:rPr>
              <a:t>the snapshot of staged content</a:t>
            </a:r>
            <a:endParaRPr lang="en-US" sz="1200" dirty="0"/>
          </a:p>
        </p:txBody>
      </p:sp>
      <p:sp>
        <p:nvSpPr>
          <p:cNvPr id="9" name="Shape 7"/>
          <p:cNvSpPr/>
          <p:nvPr/>
        </p:nvSpPr>
        <p:spPr>
          <a:xfrm>
            <a:off x="1007110" y="2774950"/>
            <a:ext cx="4513580" cy="647700"/>
          </a:xfrm>
          <a:prstGeom prst="roundRect">
            <a:avLst>
              <a:gd name="adj" fmla="val 8824"/>
            </a:avLst>
          </a:prstGeom>
          <a:solidFill>
            <a:srgbClr val="E0F2EA"/>
          </a:solidFill>
          <a:ln w="12700">
            <a:solidFill>
              <a:srgbClr val="A8D6C2"/>
            </a:solidFill>
            <a:prstDash val="solid"/>
          </a:ln>
        </p:spPr>
      </p:sp>
      <p:sp>
        <p:nvSpPr>
          <p:cNvPr id="10" name="Text 8"/>
          <p:cNvSpPr/>
          <p:nvPr/>
        </p:nvSpPr>
        <p:spPr>
          <a:xfrm>
            <a:off x="1125220" y="2867658"/>
            <a:ext cx="440568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Parent commit ID(s)</a:t>
            </a:r>
            <a:endParaRPr lang="en-US" sz="1400" dirty="0"/>
          </a:p>
        </p:txBody>
      </p:sp>
      <p:sp>
        <p:nvSpPr>
          <p:cNvPr id="11" name="Text 9"/>
          <p:cNvSpPr/>
          <p:nvPr/>
        </p:nvSpPr>
        <p:spPr>
          <a:xfrm>
            <a:off x="1125220" y="3116585"/>
            <a:ext cx="4405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403A"/>
                </a:solidFill>
                <a:latin typeface="Arial" pitchFamily="34" charset="0"/>
                <a:ea typeface="Arial" pitchFamily="34" charset="-122"/>
                <a:cs typeface="Arial" pitchFamily="34" charset="-120"/>
              </a:rPr>
              <a:t>links to the previous commit(s)</a:t>
            </a:r>
            <a:endParaRPr lang="en-US" sz="1200" dirty="0"/>
          </a:p>
        </p:txBody>
      </p:sp>
      <p:sp>
        <p:nvSpPr>
          <p:cNvPr id="12" name="Text 10"/>
          <p:cNvSpPr/>
          <p:nvPr/>
        </p:nvSpPr>
        <p:spPr>
          <a:xfrm>
            <a:off x="1007110" y="3524250"/>
            <a:ext cx="4513580" cy="434340"/>
          </a:xfrm>
          <a:prstGeom prst="roundRect">
            <a:avLst>
              <a:gd name="adj" fmla="val 13158"/>
            </a:avLst>
          </a:prstGeom>
          <a:solidFill>
            <a:srgbClr val="E0F2EA"/>
          </a:solidFill>
          <a:ln w="12700">
            <a:solidFill>
              <a:srgbClr val="A8D6C2"/>
            </a:solidFill>
            <a:prstDash val="solid"/>
          </a:ln>
        </p:spPr>
        <p:txBody>
          <a:bodyPr wrap="square" lIns="101371" tIns="75971" rIns="0" bIns="50571"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Author information</a:t>
            </a:r>
            <a:endParaRPr lang="en-US" sz="1400" dirty="0"/>
          </a:p>
        </p:txBody>
      </p:sp>
      <p:sp>
        <p:nvSpPr>
          <p:cNvPr id="13" name="Text 11"/>
          <p:cNvSpPr/>
          <p:nvPr/>
        </p:nvSpPr>
        <p:spPr>
          <a:xfrm>
            <a:off x="1007110" y="4060192"/>
            <a:ext cx="4513580" cy="434340"/>
          </a:xfrm>
          <a:prstGeom prst="roundRect">
            <a:avLst>
              <a:gd name="adj" fmla="val 13158"/>
            </a:avLst>
          </a:prstGeom>
          <a:solidFill>
            <a:srgbClr val="E0F2EA"/>
          </a:solidFill>
          <a:ln w="12700">
            <a:solidFill>
              <a:srgbClr val="A8D6C2"/>
            </a:solidFill>
            <a:prstDash val="solid"/>
          </a:ln>
        </p:spPr>
        <p:txBody>
          <a:bodyPr wrap="square" lIns="101371" tIns="75971" rIns="0" bIns="50571"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Commit message</a:t>
            </a:r>
            <a:endParaRPr lang="en-US" sz="1400" dirty="0"/>
          </a:p>
        </p:txBody>
      </p:sp>
      <p:sp>
        <p:nvSpPr>
          <p:cNvPr id="14" name="Text 12"/>
          <p:cNvSpPr/>
          <p:nvPr/>
        </p:nvSpPr>
        <p:spPr>
          <a:xfrm>
            <a:off x="6350000" y="1651000"/>
            <a:ext cx="518007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ILLUSTRATIVE HISTORY</a:t>
            </a:r>
            <a:endParaRPr lang="en-US" sz="1200" dirty="0"/>
          </a:p>
        </p:txBody>
      </p:sp>
      <p:sp>
        <p:nvSpPr>
          <p:cNvPr id="15" name="Text 13"/>
          <p:cNvSpPr/>
          <p:nvPr/>
        </p:nvSpPr>
        <p:spPr>
          <a:xfrm>
            <a:off x="6350000" y="2095500"/>
            <a:ext cx="1270000" cy="508000"/>
          </a:xfrm>
          <a:prstGeom prst="roundRect">
            <a:avLst>
              <a:gd name="adj" fmla="val 15000"/>
            </a:avLst>
          </a:prstGeom>
          <a:solidFill>
            <a:srgbClr val="0F7B54"/>
          </a:solidFill>
          <a:ln/>
        </p:spPr>
        <p:txBody>
          <a:bodyPr wrap="square" lIns="0" tIns="0" rIns="0" bIns="0" rtlCol="0" anchor="ctr">
            <a:normAutofit/>
          </a:bodyPr>
          <a:lstStyle/>
          <a:p>
            <a:pPr marL="0" indent="0" algn="ctr">
              <a:lnSpc>
                <a:spcPts val="1960"/>
              </a:lnSpc>
              <a:buNone/>
            </a:pPr>
            <a:r>
              <a:rPr lang="en-US" sz="1400" b="1" dirty="0">
                <a:solidFill>
                  <a:srgbClr val="F3F8F5"/>
                </a:solidFill>
                <a:latin typeface="Arial" pitchFamily="34" charset="0"/>
                <a:ea typeface="Arial" pitchFamily="34" charset="-122"/>
                <a:cs typeface="Arial" pitchFamily="34" charset="-120"/>
              </a:rPr>
              <a:t>Commit 1</a:t>
            </a:r>
            <a:endParaRPr lang="en-US" sz="1400" dirty="0"/>
          </a:p>
        </p:txBody>
      </p:sp>
      <p:sp>
        <p:nvSpPr>
          <p:cNvPr id="16" name="Text 14"/>
          <p:cNvSpPr/>
          <p:nvPr/>
        </p:nvSpPr>
        <p:spPr>
          <a:xfrm>
            <a:off x="8128000" y="2095500"/>
            <a:ext cx="1270000" cy="508000"/>
          </a:xfrm>
          <a:prstGeom prst="roundRect">
            <a:avLst>
              <a:gd name="adj" fmla="val 15000"/>
            </a:avLst>
          </a:prstGeom>
          <a:solidFill>
            <a:srgbClr val="0F7B54"/>
          </a:solidFill>
          <a:ln/>
        </p:spPr>
        <p:txBody>
          <a:bodyPr wrap="square" lIns="0" tIns="0" rIns="0" bIns="0" rtlCol="0" anchor="ctr">
            <a:normAutofit/>
          </a:bodyPr>
          <a:lstStyle/>
          <a:p>
            <a:pPr marL="0" indent="0" algn="ctr">
              <a:lnSpc>
                <a:spcPts val="1960"/>
              </a:lnSpc>
              <a:buNone/>
            </a:pPr>
            <a:r>
              <a:rPr lang="en-US" sz="1400" b="1" dirty="0">
                <a:solidFill>
                  <a:srgbClr val="F3F8F5"/>
                </a:solidFill>
                <a:latin typeface="Arial" pitchFamily="34" charset="0"/>
                <a:ea typeface="Arial" pitchFamily="34" charset="-122"/>
                <a:cs typeface="Arial" pitchFamily="34" charset="-120"/>
              </a:rPr>
              <a:t>Commit 2</a:t>
            </a:r>
            <a:endParaRPr lang="en-US" sz="1400" dirty="0"/>
          </a:p>
        </p:txBody>
      </p:sp>
      <p:sp>
        <p:nvSpPr>
          <p:cNvPr id="17" name="Text 15"/>
          <p:cNvSpPr/>
          <p:nvPr/>
        </p:nvSpPr>
        <p:spPr>
          <a:xfrm>
            <a:off x="9906000" y="2095500"/>
            <a:ext cx="1270000" cy="508000"/>
          </a:xfrm>
          <a:prstGeom prst="roundRect">
            <a:avLst>
              <a:gd name="adj" fmla="val 15000"/>
            </a:avLst>
          </a:prstGeom>
          <a:solidFill>
            <a:srgbClr val="0F7B54"/>
          </a:solidFill>
          <a:ln/>
        </p:spPr>
        <p:txBody>
          <a:bodyPr wrap="square" lIns="0" tIns="0" rIns="0" bIns="0" rtlCol="0" anchor="ctr">
            <a:normAutofit/>
          </a:bodyPr>
          <a:lstStyle/>
          <a:p>
            <a:pPr marL="0" indent="0" algn="ctr">
              <a:lnSpc>
                <a:spcPts val="1960"/>
              </a:lnSpc>
              <a:buNone/>
            </a:pPr>
            <a:r>
              <a:rPr lang="en-US" sz="1400" b="1" dirty="0">
                <a:solidFill>
                  <a:srgbClr val="F3F8F5"/>
                </a:solidFill>
                <a:latin typeface="Arial" pitchFamily="34" charset="0"/>
                <a:ea typeface="Arial" pitchFamily="34" charset="-122"/>
                <a:cs typeface="Arial" pitchFamily="34" charset="-120"/>
              </a:rPr>
              <a:t>Commit 3</a:t>
            </a:r>
            <a:endParaRPr lang="en-US" sz="1400" dirty="0"/>
          </a:p>
        </p:txBody>
      </p:sp>
      <p:sp>
        <p:nvSpPr>
          <p:cNvPr id="18" name="Text 16"/>
          <p:cNvSpPr/>
          <p:nvPr/>
        </p:nvSpPr>
        <p:spPr>
          <a:xfrm>
            <a:off x="6356350" y="3562350"/>
            <a:ext cx="1257300" cy="495300"/>
          </a:xfrm>
          <a:prstGeom prst="roundRect">
            <a:avLst>
              <a:gd name="adj" fmla="val 14103"/>
            </a:avLst>
          </a:prstGeom>
          <a:solidFill>
            <a:srgbClr val="F6EFD6"/>
          </a:solidFill>
          <a:ln w="12700">
            <a:solidFill>
              <a:srgbClr val="D9BE6A"/>
            </a:solidFill>
            <a:prstDash val="solid"/>
          </a:ln>
        </p:spPr>
        <p:txBody>
          <a:bodyPr wrap="square" lIns="0" tIns="0" rIns="0" bIns="0" rtlCol="0" anchor="ctr">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Tree 1</a:t>
            </a:r>
            <a:endParaRPr lang="en-US" sz="1400" dirty="0"/>
          </a:p>
        </p:txBody>
      </p:sp>
      <p:sp>
        <p:nvSpPr>
          <p:cNvPr id="19" name="Text 17"/>
          <p:cNvSpPr/>
          <p:nvPr/>
        </p:nvSpPr>
        <p:spPr>
          <a:xfrm>
            <a:off x="8134350" y="3562350"/>
            <a:ext cx="1257300" cy="495300"/>
          </a:xfrm>
          <a:prstGeom prst="roundRect">
            <a:avLst>
              <a:gd name="adj" fmla="val 14103"/>
            </a:avLst>
          </a:prstGeom>
          <a:solidFill>
            <a:srgbClr val="F6EFD6"/>
          </a:solidFill>
          <a:ln w="12700">
            <a:solidFill>
              <a:srgbClr val="D9BE6A"/>
            </a:solidFill>
            <a:prstDash val="solid"/>
          </a:ln>
        </p:spPr>
        <p:txBody>
          <a:bodyPr wrap="square" lIns="0" tIns="0" rIns="0" bIns="0" rtlCol="0" anchor="ctr">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Tree 2</a:t>
            </a:r>
            <a:endParaRPr lang="en-US" sz="1400" dirty="0"/>
          </a:p>
        </p:txBody>
      </p:sp>
      <p:sp>
        <p:nvSpPr>
          <p:cNvPr id="20" name="Text 18"/>
          <p:cNvSpPr/>
          <p:nvPr/>
        </p:nvSpPr>
        <p:spPr>
          <a:xfrm>
            <a:off x="9912350" y="3562350"/>
            <a:ext cx="1257300" cy="495300"/>
          </a:xfrm>
          <a:prstGeom prst="roundRect">
            <a:avLst>
              <a:gd name="adj" fmla="val 14103"/>
            </a:avLst>
          </a:prstGeom>
          <a:solidFill>
            <a:srgbClr val="F6EFD6"/>
          </a:solidFill>
          <a:ln w="12700">
            <a:solidFill>
              <a:srgbClr val="D9BE6A"/>
            </a:solidFill>
            <a:prstDash val="solid"/>
          </a:ln>
        </p:spPr>
        <p:txBody>
          <a:bodyPr wrap="square" lIns="0" tIns="0" rIns="0" bIns="0" rtlCol="0" anchor="ctr">
            <a:normAutofit/>
          </a:bodyPr>
          <a:lstStyle/>
          <a:p>
            <a:pPr marL="0" indent="0" algn="ctr">
              <a:lnSpc>
                <a:spcPts val="1960"/>
              </a:lnSpc>
              <a:buNone/>
            </a:pPr>
            <a:r>
              <a:rPr lang="en-US" sz="1400" b="1" dirty="0">
                <a:solidFill>
                  <a:srgbClr val="07201A"/>
                </a:solidFill>
                <a:latin typeface="Arial" pitchFamily="34" charset="0"/>
                <a:ea typeface="Arial" pitchFamily="34" charset="-122"/>
                <a:cs typeface="Arial" pitchFamily="34" charset="-120"/>
              </a:rPr>
              <a:t>Tree 3</a:t>
            </a:r>
            <a:endParaRPr lang="en-US" sz="1400" dirty="0"/>
          </a:p>
        </p:txBody>
      </p:sp>
      <p:pic>
        <p:nvPicPr>
          <p:cNvPr id="21" name="Image 0" descr="connector"/>
          <p:cNvPicPr>
            <a:picLocks noChangeAspect="1"/>
          </p:cNvPicPr>
          <p:nvPr/>
        </p:nvPicPr>
        <p:blipFill>
          <a:blip r:embed="rId3"/>
          <a:srcRect/>
          <a:stretch/>
        </p:blipFill>
        <p:spPr>
          <a:xfrm>
            <a:off x="7569200" y="2298700"/>
            <a:ext cx="609600" cy="101600"/>
          </a:xfrm>
          <a:prstGeom prst="rect">
            <a:avLst/>
          </a:prstGeom>
        </p:spPr>
      </p:pic>
      <p:pic>
        <p:nvPicPr>
          <p:cNvPr id="22" name="Image 1" descr="connector"/>
          <p:cNvPicPr>
            <a:picLocks noChangeAspect="1"/>
          </p:cNvPicPr>
          <p:nvPr/>
        </p:nvPicPr>
        <p:blipFill>
          <a:blip r:embed="rId3"/>
          <a:srcRect/>
          <a:stretch/>
        </p:blipFill>
        <p:spPr>
          <a:xfrm>
            <a:off x="9347200" y="2298700"/>
            <a:ext cx="609600" cy="101600"/>
          </a:xfrm>
          <a:prstGeom prst="rect">
            <a:avLst/>
          </a:prstGeom>
        </p:spPr>
      </p:pic>
      <p:pic>
        <p:nvPicPr>
          <p:cNvPr id="23" name="Image 2" descr="connector"/>
          <p:cNvPicPr>
            <a:picLocks noChangeAspect="1"/>
          </p:cNvPicPr>
          <p:nvPr/>
        </p:nvPicPr>
        <p:blipFill>
          <a:blip r:embed="rId4"/>
          <a:srcRect/>
          <a:stretch/>
        </p:blipFill>
        <p:spPr>
          <a:xfrm>
            <a:off x="6934200" y="2552700"/>
            <a:ext cx="101600" cy="1054100"/>
          </a:xfrm>
          <a:prstGeom prst="rect">
            <a:avLst/>
          </a:prstGeom>
        </p:spPr>
      </p:pic>
      <p:pic>
        <p:nvPicPr>
          <p:cNvPr id="24" name="Image 3" descr="connector"/>
          <p:cNvPicPr>
            <a:picLocks noChangeAspect="1"/>
          </p:cNvPicPr>
          <p:nvPr/>
        </p:nvPicPr>
        <p:blipFill>
          <a:blip r:embed="rId4"/>
          <a:srcRect/>
          <a:stretch/>
        </p:blipFill>
        <p:spPr>
          <a:xfrm>
            <a:off x="8712200" y="2552700"/>
            <a:ext cx="101600" cy="1054100"/>
          </a:xfrm>
          <a:prstGeom prst="rect">
            <a:avLst/>
          </a:prstGeom>
        </p:spPr>
      </p:pic>
      <p:pic>
        <p:nvPicPr>
          <p:cNvPr id="25" name="Image 4" descr="connector"/>
          <p:cNvPicPr>
            <a:picLocks noChangeAspect="1"/>
          </p:cNvPicPr>
          <p:nvPr/>
        </p:nvPicPr>
        <p:blipFill>
          <a:blip r:embed="rId4"/>
          <a:srcRect/>
          <a:stretch/>
        </p:blipFill>
        <p:spPr>
          <a:xfrm>
            <a:off x="10490200" y="2552700"/>
            <a:ext cx="101600" cy="1054100"/>
          </a:xfrm>
          <a:prstGeom prst="rect">
            <a:avLst/>
          </a:prstGeom>
        </p:spPr>
      </p:pic>
      <p:sp>
        <p:nvSpPr>
          <p:cNvPr id="26" name="Text 19"/>
          <p:cNvSpPr/>
          <p:nvPr/>
        </p:nvSpPr>
        <p:spPr>
          <a:xfrm>
            <a:off x="6350000" y="4381500"/>
            <a:ext cx="51800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Left arrows: parent links. Down arrows: tree ID. Each commit stands for one whole-project snapshot.</a:t>
            </a:r>
            <a:endParaRPr lang="en-US" sz="1200" dirty="0"/>
          </a:p>
        </p:txBody>
      </p:sp>
      <p:pic>
        <p:nvPicPr>
          <p:cNvPr id="27" name="Image 5" descr="Loki logo"/>
          <p:cNvPicPr>
            <a:picLocks noChangeAspect="1"/>
          </p:cNvPicPr>
          <p:nvPr/>
        </p:nvPicPr>
        <p:blipFill>
          <a:blip r:embed="rId5"/>
          <a:srcRect t="88" b="88"/>
          <a:stretch/>
        </p:blipFill>
        <p:spPr>
          <a:xfrm>
            <a:off x="812800" y="6159500"/>
            <a:ext cx="279400" cy="368300"/>
          </a:xfrm>
          <a:prstGeom prst="roundRect">
            <a:avLst>
              <a:gd name="adj" fmla="val 18182"/>
            </a:avLst>
          </a:prstGeom>
        </p:spPr>
      </p:pic>
      <p:sp>
        <p:nvSpPr>
          <p:cNvPr id="28" name="Text 20"/>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9" name="Text 21"/>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Tags and References</a:t>
            </a:r>
            <a:endParaRPr lang="en-US" sz="3200" dirty="0"/>
          </a:p>
        </p:txBody>
      </p:sp>
      <p:sp>
        <p:nvSpPr>
          <p:cNvPr id="4" name="Shape 2"/>
          <p:cNvSpPr/>
          <p:nvPr/>
        </p:nvSpPr>
        <p:spPr>
          <a:xfrm>
            <a:off x="819150" y="1530350"/>
            <a:ext cx="2533650" cy="1205230"/>
          </a:xfrm>
          <a:prstGeom prst="roundRect">
            <a:avLst>
              <a:gd name="adj" fmla="val 7903"/>
            </a:avLst>
          </a:prstGeom>
          <a:solidFill>
            <a:srgbClr val="FBFCFE"/>
          </a:solidFill>
          <a:ln w="12700">
            <a:solidFill>
              <a:srgbClr val="C7D8CE"/>
            </a:solidFill>
            <a:prstDash val="solid"/>
          </a:ln>
        </p:spPr>
      </p:sp>
      <p:sp>
        <p:nvSpPr>
          <p:cNvPr id="5" name="Text 3"/>
          <p:cNvSpPr/>
          <p:nvPr/>
        </p:nvSpPr>
        <p:spPr>
          <a:xfrm>
            <a:off x="975360" y="1661158"/>
            <a:ext cx="22878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Courier New" pitchFamily="49" charset="0"/>
                <a:ea typeface="Courier New" pitchFamily="49" charset="-122"/>
                <a:cs typeface="Courier New" pitchFamily="49" charset="-120"/>
              </a:rPr>
              <a:t>HEAD</a:t>
            </a:r>
            <a:endParaRPr lang="en-US" sz="1400" dirty="0"/>
          </a:p>
        </p:txBody>
      </p:sp>
      <p:sp>
        <p:nvSpPr>
          <p:cNvPr id="6" name="Text 4"/>
          <p:cNvSpPr/>
          <p:nvPr/>
        </p:nvSpPr>
        <p:spPr>
          <a:xfrm>
            <a:off x="975360" y="1960885"/>
            <a:ext cx="228786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Identifies the current branch, or a detached commit.</a:t>
            </a:r>
            <a:endParaRPr lang="en-US" sz="1300" dirty="0"/>
          </a:p>
        </p:txBody>
      </p:sp>
      <p:sp>
        <p:nvSpPr>
          <p:cNvPr id="7" name="Shape 5"/>
          <p:cNvSpPr/>
          <p:nvPr/>
        </p:nvSpPr>
        <p:spPr>
          <a:xfrm>
            <a:off x="3492500" y="1530350"/>
            <a:ext cx="2533650" cy="1205230"/>
          </a:xfrm>
          <a:prstGeom prst="roundRect">
            <a:avLst>
              <a:gd name="adj" fmla="val 7903"/>
            </a:avLst>
          </a:prstGeom>
          <a:solidFill>
            <a:srgbClr val="FBFCFE"/>
          </a:solidFill>
          <a:ln w="12700">
            <a:solidFill>
              <a:srgbClr val="C7D8CE"/>
            </a:solidFill>
            <a:prstDash val="solid"/>
          </a:ln>
        </p:spPr>
      </p:sp>
      <p:sp>
        <p:nvSpPr>
          <p:cNvPr id="8" name="Text 6"/>
          <p:cNvSpPr/>
          <p:nvPr/>
        </p:nvSpPr>
        <p:spPr>
          <a:xfrm>
            <a:off x="3648710" y="1661158"/>
            <a:ext cx="22878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Courier New" pitchFamily="49" charset="0"/>
                <a:ea typeface="Courier New" pitchFamily="49" charset="-122"/>
                <a:cs typeface="Courier New" pitchFamily="49" charset="-120"/>
              </a:rPr>
              <a:t>refs/heads/</a:t>
            </a:r>
            <a:endParaRPr lang="en-US" sz="1400" dirty="0"/>
          </a:p>
        </p:txBody>
      </p:sp>
      <p:sp>
        <p:nvSpPr>
          <p:cNvPr id="9" name="Text 7"/>
          <p:cNvSpPr/>
          <p:nvPr/>
        </p:nvSpPr>
        <p:spPr>
          <a:xfrm>
            <a:off x="3648710" y="1960885"/>
            <a:ext cx="228786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Local branch references; each stores an object ID.</a:t>
            </a:r>
            <a:endParaRPr lang="en-US" sz="1300" dirty="0"/>
          </a:p>
        </p:txBody>
      </p:sp>
      <p:sp>
        <p:nvSpPr>
          <p:cNvPr id="10" name="Shape 8"/>
          <p:cNvSpPr/>
          <p:nvPr/>
        </p:nvSpPr>
        <p:spPr>
          <a:xfrm>
            <a:off x="6165850" y="1530350"/>
            <a:ext cx="2533650" cy="1205230"/>
          </a:xfrm>
          <a:prstGeom prst="roundRect">
            <a:avLst>
              <a:gd name="adj" fmla="val 7903"/>
            </a:avLst>
          </a:prstGeom>
          <a:solidFill>
            <a:srgbClr val="FBFCFE"/>
          </a:solidFill>
          <a:ln w="12700">
            <a:solidFill>
              <a:srgbClr val="C7D8CE"/>
            </a:solidFill>
            <a:prstDash val="solid"/>
          </a:ln>
        </p:spPr>
      </p:sp>
      <p:sp>
        <p:nvSpPr>
          <p:cNvPr id="11" name="Text 9"/>
          <p:cNvSpPr/>
          <p:nvPr/>
        </p:nvSpPr>
        <p:spPr>
          <a:xfrm>
            <a:off x="6322060" y="1661158"/>
            <a:ext cx="22878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Courier New" pitchFamily="49" charset="0"/>
                <a:ea typeface="Courier New" pitchFamily="49" charset="-122"/>
                <a:cs typeface="Courier New" pitchFamily="49" charset="-120"/>
              </a:rPr>
              <a:t>refs/tags/</a:t>
            </a:r>
            <a:endParaRPr lang="en-US" sz="1400" dirty="0"/>
          </a:p>
        </p:txBody>
      </p:sp>
      <p:sp>
        <p:nvSpPr>
          <p:cNvPr id="12" name="Text 10"/>
          <p:cNvSpPr/>
          <p:nvPr/>
        </p:nvSpPr>
        <p:spPr>
          <a:xfrm>
            <a:off x="6322060" y="1960885"/>
            <a:ext cx="228786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Tag references, also storing object IDs.</a:t>
            </a:r>
            <a:endParaRPr lang="en-US" sz="1300" dirty="0"/>
          </a:p>
        </p:txBody>
      </p:sp>
      <p:sp>
        <p:nvSpPr>
          <p:cNvPr id="13" name="Shape 11"/>
          <p:cNvSpPr/>
          <p:nvPr/>
        </p:nvSpPr>
        <p:spPr>
          <a:xfrm>
            <a:off x="8839200" y="1530350"/>
            <a:ext cx="2533650" cy="1205230"/>
          </a:xfrm>
          <a:prstGeom prst="roundRect">
            <a:avLst>
              <a:gd name="adj" fmla="val 7903"/>
            </a:avLst>
          </a:prstGeom>
          <a:solidFill>
            <a:srgbClr val="FBFCFE"/>
          </a:solidFill>
          <a:ln w="12700">
            <a:solidFill>
              <a:srgbClr val="C7D8CE"/>
            </a:solidFill>
            <a:prstDash val="solid"/>
          </a:ln>
        </p:spPr>
      </p:sp>
      <p:sp>
        <p:nvSpPr>
          <p:cNvPr id="14" name="Text 12"/>
          <p:cNvSpPr/>
          <p:nvPr/>
        </p:nvSpPr>
        <p:spPr>
          <a:xfrm>
            <a:off x="8995410" y="1661158"/>
            <a:ext cx="22878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Arial" pitchFamily="34" charset="0"/>
                <a:ea typeface="Arial" pitchFamily="34" charset="-122"/>
                <a:cs typeface="Arial" pitchFamily="34" charset="-120"/>
              </a:rPr>
              <a:t>Tag objects</a:t>
            </a:r>
            <a:endParaRPr lang="en-US" sz="1400" dirty="0"/>
          </a:p>
        </p:txBody>
      </p:sp>
      <p:sp>
        <p:nvSpPr>
          <p:cNvPr id="15" name="Text 13"/>
          <p:cNvSpPr/>
          <p:nvPr/>
        </p:nvSpPr>
        <p:spPr>
          <a:xfrm>
            <a:off x="8995410" y="1960885"/>
            <a:ext cx="2287867" cy="66929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An annotated tag is an object naming a target; a lightweight tag is a plain reference.</a:t>
            </a:r>
            <a:endParaRPr lang="en-US" sz="1300" dirty="0"/>
          </a:p>
        </p:txBody>
      </p:sp>
      <p:sp>
        <p:nvSpPr>
          <p:cNvPr id="16" name="Text 14"/>
          <p:cNvSpPr/>
          <p:nvPr/>
        </p:nvSpPr>
        <p:spPr>
          <a:xfrm>
            <a:off x="812800" y="294513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HOW HEAD IDENTIFIES A STATE (CONCEPTUAL)</a:t>
            </a:r>
            <a:endParaRPr lang="en-US" sz="1200" dirty="0"/>
          </a:p>
        </p:txBody>
      </p:sp>
      <p:sp>
        <p:nvSpPr>
          <p:cNvPr id="17" name="Text 15"/>
          <p:cNvSpPr/>
          <p:nvPr/>
        </p:nvSpPr>
        <p:spPr>
          <a:xfrm>
            <a:off x="819150" y="3368042"/>
            <a:ext cx="657939" cy="391160"/>
          </a:xfrm>
          <a:prstGeom prst="roundRect">
            <a:avLst>
              <a:gd name="adj" fmla="val 14610"/>
            </a:avLst>
          </a:prstGeom>
          <a:solidFill>
            <a:srgbClr val="E0F2EA"/>
          </a:solidFill>
          <a:ln w="12700">
            <a:solidFill>
              <a:srgbClr val="8CCBB0"/>
            </a:solidFill>
            <a:prstDash val="solid"/>
          </a:ln>
        </p:spPr>
        <p:txBody>
          <a:bodyPr wrap="none" lIns="0" tIns="0" rIns="0" bIns="0" rtlCol="0" anchor="ctr">
            <a:normAutofit/>
          </a:bodyPr>
          <a:lstStyle/>
          <a:p>
            <a:pPr marL="0" indent="0" algn="ctr">
              <a:lnSpc>
                <a:spcPts val="1820"/>
              </a:lnSpc>
              <a:buNone/>
            </a:pPr>
            <a:r>
              <a:rPr lang="en-US" sz="1300" dirty="0">
                <a:solidFill>
                  <a:srgbClr val="07201A"/>
                </a:solidFill>
                <a:latin typeface="Courier New" pitchFamily="49" charset="0"/>
                <a:ea typeface="Courier New" pitchFamily="49" charset="-122"/>
                <a:cs typeface="Courier New" pitchFamily="49" charset="-120"/>
              </a:rPr>
              <a:t>HEAD</a:t>
            </a:r>
            <a:endParaRPr lang="en-US" sz="1300" dirty="0"/>
          </a:p>
        </p:txBody>
      </p:sp>
      <p:pic>
        <p:nvPicPr>
          <p:cNvPr id="18" name="Image 0" descr="arrow-right"/>
          <p:cNvPicPr>
            <a:picLocks noChangeAspect="1"/>
          </p:cNvPicPr>
          <p:nvPr/>
        </p:nvPicPr>
        <p:blipFill>
          <a:blip r:embed="rId3"/>
          <a:srcRect/>
          <a:stretch/>
        </p:blipFill>
        <p:spPr>
          <a:xfrm>
            <a:off x="1585039" y="3474727"/>
            <a:ext cx="304800" cy="177800"/>
          </a:xfrm>
          <a:prstGeom prst="rect">
            <a:avLst/>
          </a:prstGeom>
        </p:spPr>
      </p:pic>
      <p:sp>
        <p:nvSpPr>
          <p:cNvPr id="19" name="Text 16"/>
          <p:cNvSpPr/>
          <p:nvPr/>
        </p:nvSpPr>
        <p:spPr>
          <a:xfrm>
            <a:off x="1997789" y="3368042"/>
            <a:ext cx="1846898" cy="391160"/>
          </a:xfrm>
          <a:prstGeom prst="roundRect">
            <a:avLst>
              <a:gd name="adj" fmla="val 14610"/>
            </a:avLst>
          </a:prstGeom>
          <a:solidFill>
            <a:srgbClr val="E0F2EA"/>
          </a:solidFill>
          <a:ln w="12700">
            <a:solidFill>
              <a:srgbClr val="8CCBB0"/>
            </a:solidFill>
            <a:prstDash val="solid"/>
          </a:ln>
        </p:spPr>
        <p:txBody>
          <a:bodyPr wrap="none" lIns="0" tIns="0" rIns="0" bIns="0" rtlCol="0" anchor="ctr">
            <a:normAutofit/>
          </a:bodyPr>
          <a:lstStyle/>
          <a:p>
            <a:pPr marL="0" indent="0" algn="ctr">
              <a:lnSpc>
                <a:spcPts val="1820"/>
              </a:lnSpc>
              <a:buNone/>
            </a:pPr>
            <a:r>
              <a:rPr lang="en-US" sz="1300" dirty="0">
                <a:solidFill>
                  <a:srgbClr val="07201A"/>
                </a:solidFill>
                <a:latin typeface="Courier New" pitchFamily="49" charset="0"/>
                <a:ea typeface="Courier New" pitchFamily="49" charset="-122"/>
                <a:cs typeface="Courier New" pitchFamily="49" charset="-120"/>
              </a:rPr>
              <a:t>branch reference</a:t>
            </a:r>
            <a:endParaRPr lang="en-US" sz="1300" dirty="0"/>
          </a:p>
        </p:txBody>
      </p:sp>
      <p:pic>
        <p:nvPicPr>
          <p:cNvPr id="20" name="Image 1" descr="arrow-right"/>
          <p:cNvPicPr>
            <a:picLocks noChangeAspect="1"/>
          </p:cNvPicPr>
          <p:nvPr/>
        </p:nvPicPr>
        <p:blipFill>
          <a:blip r:embed="rId3"/>
          <a:srcRect/>
          <a:stretch/>
        </p:blipFill>
        <p:spPr>
          <a:xfrm>
            <a:off x="3952637" y="3474727"/>
            <a:ext cx="304800" cy="177800"/>
          </a:xfrm>
          <a:prstGeom prst="rect">
            <a:avLst/>
          </a:prstGeom>
        </p:spPr>
      </p:pic>
      <p:sp>
        <p:nvSpPr>
          <p:cNvPr id="21" name="Text 17"/>
          <p:cNvSpPr/>
          <p:nvPr/>
        </p:nvSpPr>
        <p:spPr>
          <a:xfrm>
            <a:off x="4359037" y="3371850"/>
            <a:ext cx="1145699" cy="383540"/>
          </a:xfrm>
          <a:prstGeom prst="roundRect">
            <a:avLst>
              <a:gd name="adj" fmla="val 16556"/>
            </a:avLst>
          </a:prstGeom>
          <a:solidFill>
            <a:srgbClr val="0F7B54"/>
          </a:solidFill>
          <a:ln/>
        </p:spPr>
        <p:txBody>
          <a:bodyPr wrap="none" lIns="0" tIns="0" rIns="0" bIns="0" rtlCol="0" anchor="ctr">
            <a:normAutofit/>
          </a:bodyPr>
          <a:lstStyle/>
          <a:p>
            <a:pPr marL="0" indent="0" algn="ctr">
              <a:lnSpc>
                <a:spcPts val="1820"/>
              </a:lnSpc>
              <a:buNone/>
            </a:pPr>
            <a:r>
              <a:rPr lang="en-US" sz="1300" dirty="0">
                <a:solidFill>
                  <a:srgbClr val="F3F8F5"/>
                </a:solidFill>
                <a:latin typeface="Courier New" pitchFamily="49" charset="0"/>
                <a:ea typeface="Courier New" pitchFamily="49" charset="-122"/>
                <a:cs typeface="Courier New" pitchFamily="49" charset="-120"/>
              </a:rPr>
              <a:t>commit ID</a:t>
            </a:r>
            <a:endParaRPr lang="en-US" sz="1300" dirty="0"/>
          </a:p>
        </p:txBody>
      </p:sp>
      <p:sp>
        <p:nvSpPr>
          <p:cNvPr id="22" name="Text 18"/>
          <p:cNvSpPr/>
          <p:nvPr/>
        </p:nvSpPr>
        <p:spPr>
          <a:xfrm>
            <a:off x="5606336" y="3448050"/>
            <a:ext cx="10465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on a branch</a:t>
            </a:r>
            <a:endParaRPr lang="en-US" sz="1300" dirty="0"/>
          </a:p>
        </p:txBody>
      </p:sp>
      <p:sp>
        <p:nvSpPr>
          <p:cNvPr id="23" name="Text 19"/>
          <p:cNvSpPr/>
          <p:nvPr/>
        </p:nvSpPr>
        <p:spPr>
          <a:xfrm>
            <a:off x="819150" y="3860800"/>
            <a:ext cx="657939" cy="391160"/>
          </a:xfrm>
          <a:prstGeom prst="roundRect">
            <a:avLst>
              <a:gd name="adj" fmla="val 14610"/>
            </a:avLst>
          </a:prstGeom>
          <a:solidFill>
            <a:srgbClr val="FDF0E1"/>
          </a:solidFill>
          <a:ln w="12700">
            <a:solidFill>
              <a:srgbClr val="E8B27A"/>
            </a:solidFill>
            <a:prstDash val="solid"/>
          </a:ln>
        </p:spPr>
        <p:txBody>
          <a:bodyPr wrap="none" lIns="0" tIns="0" rIns="0" bIns="0" rtlCol="0" anchor="ctr">
            <a:normAutofit/>
          </a:bodyPr>
          <a:lstStyle/>
          <a:p>
            <a:pPr marL="0" indent="0" algn="ctr">
              <a:lnSpc>
                <a:spcPts val="1820"/>
              </a:lnSpc>
              <a:buNone/>
            </a:pPr>
            <a:r>
              <a:rPr lang="en-US" sz="1300" dirty="0">
                <a:solidFill>
                  <a:srgbClr val="07201A"/>
                </a:solidFill>
                <a:latin typeface="Courier New" pitchFamily="49" charset="0"/>
                <a:ea typeface="Courier New" pitchFamily="49" charset="-122"/>
                <a:cs typeface="Courier New" pitchFamily="49" charset="-120"/>
              </a:rPr>
              <a:t>HEAD</a:t>
            </a:r>
            <a:endParaRPr lang="en-US" sz="1300" dirty="0"/>
          </a:p>
        </p:txBody>
      </p:sp>
      <p:pic>
        <p:nvPicPr>
          <p:cNvPr id="24" name="Image 2" descr="arrow-right"/>
          <p:cNvPicPr>
            <a:picLocks noChangeAspect="1"/>
          </p:cNvPicPr>
          <p:nvPr/>
        </p:nvPicPr>
        <p:blipFill>
          <a:blip r:embed="rId3"/>
          <a:srcRect/>
          <a:stretch/>
        </p:blipFill>
        <p:spPr>
          <a:xfrm>
            <a:off x="1585039" y="3967485"/>
            <a:ext cx="304800" cy="177800"/>
          </a:xfrm>
          <a:prstGeom prst="rect">
            <a:avLst/>
          </a:prstGeom>
        </p:spPr>
      </p:pic>
      <p:sp>
        <p:nvSpPr>
          <p:cNvPr id="25" name="Text 20"/>
          <p:cNvSpPr/>
          <p:nvPr/>
        </p:nvSpPr>
        <p:spPr>
          <a:xfrm>
            <a:off x="1991439" y="3864608"/>
            <a:ext cx="1145699" cy="383540"/>
          </a:xfrm>
          <a:prstGeom prst="roundRect">
            <a:avLst>
              <a:gd name="adj" fmla="val 16556"/>
            </a:avLst>
          </a:prstGeom>
          <a:solidFill>
            <a:srgbClr val="0F7B54"/>
          </a:solidFill>
          <a:ln/>
        </p:spPr>
        <p:txBody>
          <a:bodyPr wrap="none" lIns="0" tIns="0" rIns="0" bIns="0" rtlCol="0" anchor="ctr">
            <a:normAutofit/>
          </a:bodyPr>
          <a:lstStyle/>
          <a:p>
            <a:pPr marL="0" indent="0" algn="ctr">
              <a:lnSpc>
                <a:spcPts val="1820"/>
              </a:lnSpc>
              <a:buNone/>
            </a:pPr>
            <a:r>
              <a:rPr lang="en-US" sz="1300" dirty="0">
                <a:solidFill>
                  <a:srgbClr val="F3F8F5"/>
                </a:solidFill>
                <a:latin typeface="Courier New" pitchFamily="49" charset="0"/>
                <a:ea typeface="Courier New" pitchFamily="49" charset="-122"/>
                <a:cs typeface="Courier New" pitchFamily="49" charset="-120"/>
              </a:rPr>
              <a:t>commit ID</a:t>
            </a:r>
            <a:endParaRPr lang="en-US" sz="1300" dirty="0"/>
          </a:p>
        </p:txBody>
      </p:sp>
      <p:sp>
        <p:nvSpPr>
          <p:cNvPr id="26" name="Text 21"/>
          <p:cNvSpPr/>
          <p:nvPr/>
        </p:nvSpPr>
        <p:spPr>
          <a:xfrm>
            <a:off x="3238738" y="3940808"/>
            <a:ext cx="39095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detached: after checking out a tag or commit</a:t>
            </a:r>
            <a:endParaRPr lang="en-US" sz="1300" dirty="0"/>
          </a:p>
        </p:txBody>
      </p:sp>
      <p:pic>
        <p:nvPicPr>
          <p:cNvPr id="27" name="Image 3"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8" name="Text 22"/>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9" name="Text 23"/>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201A"/>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FD6A0"/>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F8F5"/>
                </a:solidFill>
                <a:latin typeface="Arial" pitchFamily="34" charset="0"/>
                <a:ea typeface="Arial" pitchFamily="34" charset="-122"/>
                <a:cs typeface="Arial" pitchFamily="34" charset="-120"/>
              </a:rPr>
              <a:t>Content-Addressed Object Storage</a:t>
            </a:r>
            <a:endParaRPr lang="en-US" sz="3200" dirty="0"/>
          </a:p>
        </p:txBody>
      </p:sp>
      <p:sp>
        <p:nvSpPr>
          <p:cNvPr id="4" name="Text 2"/>
          <p:cNvSpPr/>
          <p:nvPr/>
        </p:nvSpPr>
        <p:spPr>
          <a:xfrm>
            <a:off x="819150" y="1530350"/>
            <a:ext cx="3103007" cy="483870"/>
          </a:xfrm>
          <a:prstGeom prst="roundRect">
            <a:avLst>
              <a:gd name="adj" fmla="val 17060"/>
            </a:avLst>
          </a:prstGeom>
          <a:solidFill>
            <a:srgbClr val="0F3329"/>
          </a:solidFill>
          <a:ln w="12700">
            <a:solidFill>
              <a:srgbClr val="1F5244"/>
            </a:solidFill>
            <a:prstDash val="solid"/>
          </a:ln>
        </p:spPr>
        <p:txBody>
          <a:bodyPr wrap="square" lIns="132032" tIns="106632" rIns="48314" bIns="81232" rtlCol="0" anchor="t">
            <a:normAutofit/>
          </a:bodyPr>
          <a:lstStyle/>
          <a:p>
            <a:pPr marL="0" indent="0" algn="l">
              <a:lnSpc>
                <a:spcPts val="1750"/>
              </a:lnSpc>
              <a:buNone/>
            </a:pPr>
            <a:r>
              <a:rPr lang="en-US" sz="1400" b="1" dirty="0">
                <a:solidFill>
                  <a:srgbClr val="E6F2EC"/>
                </a:solidFill>
                <a:latin typeface="Arial" pitchFamily="34" charset="0"/>
                <a:ea typeface="Arial" pitchFamily="34" charset="-122"/>
                <a:cs typeface="Arial" pitchFamily="34" charset="-120"/>
              </a:rPr>
              <a:t>Serialized object bytes</a:t>
            </a:r>
            <a:endParaRPr lang="en-US" sz="1400" dirty="0"/>
          </a:p>
        </p:txBody>
      </p:sp>
      <p:pic>
        <p:nvPicPr>
          <p:cNvPr id="5" name="Image 0" descr="arrow-right"/>
          <p:cNvPicPr>
            <a:picLocks noChangeAspect="1"/>
          </p:cNvPicPr>
          <p:nvPr/>
        </p:nvPicPr>
        <p:blipFill>
          <a:blip r:embed="rId3"/>
          <a:srcRect/>
          <a:stretch/>
        </p:blipFill>
        <p:spPr>
          <a:xfrm>
            <a:off x="4055507" y="1670683"/>
            <a:ext cx="355600" cy="203200"/>
          </a:xfrm>
          <a:prstGeom prst="rect">
            <a:avLst/>
          </a:prstGeom>
        </p:spPr>
      </p:pic>
      <p:sp>
        <p:nvSpPr>
          <p:cNvPr id="6" name="Text 3"/>
          <p:cNvSpPr/>
          <p:nvPr/>
        </p:nvSpPr>
        <p:spPr>
          <a:xfrm>
            <a:off x="4544457" y="1530350"/>
            <a:ext cx="3103086" cy="483870"/>
          </a:xfrm>
          <a:prstGeom prst="roundRect">
            <a:avLst>
              <a:gd name="adj" fmla="val 17060"/>
            </a:avLst>
          </a:prstGeom>
          <a:solidFill>
            <a:srgbClr val="0F3329"/>
          </a:solidFill>
          <a:ln w="12700">
            <a:solidFill>
              <a:srgbClr val="1F5244"/>
            </a:solidFill>
            <a:prstDash val="solid"/>
          </a:ln>
        </p:spPr>
        <p:txBody>
          <a:bodyPr wrap="square" lIns="132032" tIns="106632" rIns="48312" bIns="81232" rtlCol="0" anchor="t">
            <a:normAutofit/>
          </a:bodyPr>
          <a:lstStyle/>
          <a:p>
            <a:pPr marL="0" indent="0" algn="l">
              <a:lnSpc>
                <a:spcPts val="1750"/>
              </a:lnSpc>
              <a:buNone/>
            </a:pPr>
            <a:r>
              <a:rPr lang="en-US" sz="1400" b="1" dirty="0">
                <a:solidFill>
                  <a:srgbClr val="E6F2EC"/>
                </a:solidFill>
                <a:latin typeface="Arial" pitchFamily="34" charset="0"/>
                <a:ea typeface="Arial" pitchFamily="34" charset="-122"/>
                <a:cs typeface="Arial" pitchFamily="34" charset="-120"/>
              </a:rPr>
              <a:t>SHA-1 over the complete bytes</a:t>
            </a:r>
            <a:endParaRPr lang="en-US" sz="1400" dirty="0"/>
          </a:p>
        </p:txBody>
      </p:sp>
      <p:pic>
        <p:nvPicPr>
          <p:cNvPr id="7" name="Image 1" descr="arrow-right"/>
          <p:cNvPicPr>
            <a:picLocks noChangeAspect="1"/>
          </p:cNvPicPr>
          <p:nvPr/>
        </p:nvPicPr>
        <p:blipFill>
          <a:blip r:embed="rId3"/>
          <a:srcRect/>
          <a:stretch/>
        </p:blipFill>
        <p:spPr>
          <a:xfrm>
            <a:off x="7780893" y="1670683"/>
            <a:ext cx="355600" cy="203200"/>
          </a:xfrm>
          <a:prstGeom prst="rect">
            <a:avLst/>
          </a:prstGeom>
        </p:spPr>
      </p:pic>
      <p:sp>
        <p:nvSpPr>
          <p:cNvPr id="8" name="Text 4"/>
          <p:cNvSpPr/>
          <p:nvPr/>
        </p:nvSpPr>
        <p:spPr>
          <a:xfrm>
            <a:off x="8269843" y="1530350"/>
            <a:ext cx="3103007" cy="483870"/>
          </a:xfrm>
          <a:prstGeom prst="roundRect">
            <a:avLst>
              <a:gd name="adj" fmla="val 17060"/>
            </a:avLst>
          </a:prstGeom>
          <a:solidFill>
            <a:srgbClr val="0F3329"/>
          </a:solidFill>
          <a:ln w="12700">
            <a:solidFill>
              <a:srgbClr val="4FD6A0"/>
            </a:solidFill>
            <a:prstDash val="solid"/>
          </a:ln>
        </p:spPr>
        <p:txBody>
          <a:bodyPr wrap="square" lIns="132032" tIns="106632" rIns="48315" bIns="81232" rtlCol="0" anchor="t">
            <a:normAutofit/>
          </a:bodyPr>
          <a:lstStyle/>
          <a:p>
            <a:pPr marL="0" indent="0" algn="l">
              <a:lnSpc>
                <a:spcPts val="1750"/>
              </a:lnSpc>
              <a:buNone/>
            </a:pPr>
            <a:r>
              <a:rPr lang="en-US" sz="1400" b="1" dirty="0">
                <a:solidFill>
                  <a:srgbClr val="E6F2EC"/>
                </a:solidFill>
                <a:latin typeface="Arial" pitchFamily="34" charset="0"/>
                <a:ea typeface="Arial" pitchFamily="34" charset="-122"/>
                <a:cs typeface="Arial" pitchFamily="34" charset="-120"/>
              </a:rPr>
              <a:t>Object ID (40 hex characters)</a:t>
            </a:r>
            <a:endParaRPr lang="en-US" sz="1400" dirty="0"/>
          </a:p>
        </p:txBody>
      </p:sp>
      <p:sp>
        <p:nvSpPr>
          <p:cNvPr id="9" name="Shape 5"/>
          <p:cNvSpPr/>
          <p:nvPr/>
        </p:nvSpPr>
        <p:spPr>
          <a:xfrm>
            <a:off x="819150" y="2230127"/>
            <a:ext cx="10553700" cy="995680"/>
          </a:xfrm>
          <a:prstGeom prst="roundRect">
            <a:avLst>
              <a:gd name="adj" fmla="val 8291"/>
            </a:avLst>
          </a:prstGeom>
          <a:solidFill>
            <a:srgbClr val="0F3329"/>
          </a:solidFill>
          <a:ln w="12700">
            <a:solidFill>
              <a:srgbClr val="1F5244"/>
            </a:solidFill>
            <a:prstDash val="solid"/>
          </a:ln>
        </p:spPr>
      </p:sp>
      <p:sp>
        <p:nvSpPr>
          <p:cNvPr id="10" name="Text 6"/>
          <p:cNvSpPr/>
          <p:nvPr/>
        </p:nvSpPr>
        <p:spPr>
          <a:xfrm>
            <a:off x="1026160" y="2411735"/>
            <a:ext cx="1044387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C8BB"/>
                </a:solidFill>
                <a:latin typeface="Arial" pitchFamily="34" charset="0"/>
                <a:ea typeface="Arial" pitchFamily="34" charset="-122"/>
                <a:cs typeface="Arial" pitchFamily="34" charset="-120"/>
              </a:rPr>
              <a:t>STORAGE PATH PATTERN</a:t>
            </a:r>
            <a:endParaRPr lang="en-US" sz="1200" dirty="0"/>
          </a:p>
        </p:txBody>
      </p:sp>
      <p:sp>
        <p:nvSpPr>
          <p:cNvPr id="11" name="Text 7"/>
          <p:cNvSpPr/>
          <p:nvPr/>
        </p:nvSpPr>
        <p:spPr>
          <a:xfrm>
            <a:off x="1026160" y="2688592"/>
            <a:ext cx="10443871" cy="381000"/>
          </a:xfrm>
          <a:prstGeom prst="rect">
            <a:avLst/>
          </a:prstGeom>
          <a:noFill/>
          <a:ln/>
        </p:spPr>
        <p:txBody>
          <a:bodyPr wrap="none" lIns="0" tIns="0" rIns="0" bIns="0" rtlCol="0" anchor="t">
            <a:normAutofit/>
          </a:bodyPr>
          <a:lstStyle/>
          <a:p>
            <a:pPr marL="0" indent="0" algn="l">
              <a:lnSpc>
                <a:spcPts val="2800"/>
              </a:lnSpc>
              <a:buNone/>
            </a:pPr>
            <a:r>
              <a:rPr lang="en-US" sz="2000" b="1" dirty="0">
                <a:solidFill>
                  <a:srgbClr val="E6F2EC"/>
                </a:solidFill>
                <a:latin typeface="Courier New" pitchFamily="49" charset="0"/>
                <a:ea typeface="Courier New" pitchFamily="49" charset="-122"/>
                <a:cs typeface="Courier New" pitchFamily="49" charset="-120"/>
              </a:rPr>
              <a:t>.loki/objects/</a:t>
            </a:r>
            <a:r>
              <a:rPr lang="en-US" sz="2000" b="1" dirty="0">
                <a:solidFill>
                  <a:srgbClr val="4FD6A0"/>
                </a:solidFill>
                <a:latin typeface="Courier New" pitchFamily="49" charset="0"/>
                <a:ea typeface="Courier New" pitchFamily="49" charset="-122"/>
                <a:cs typeface="Courier New" pitchFamily="49" charset="-120"/>
              </a:rPr>
              <a:t>&lt;first-2-hex&gt;</a:t>
            </a:r>
            <a:r>
              <a:rPr lang="en-US" sz="2000" b="1" dirty="0">
                <a:solidFill>
                  <a:srgbClr val="E6F2EC"/>
                </a:solidFill>
                <a:latin typeface="Courier New" pitchFamily="49" charset="0"/>
                <a:ea typeface="Courier New" pitchFamily="49" charset="-122"/>
                <a:cs typeface="Courier New" pitchFamily="49" charset="-120"/>
              </a:rPr>
              <a:t>/</a:t>
            </a:r>
            <a:r>
              <a:rPr lang="en-US" sz="2000" b="1" dirty="0">
                <a:solidFill>
                  <a:srgbClr val="E6B94A"/>
                </a:solidFill>
                <a:latin typeface="Courier New" pitchFamily="49" charset="0"/>
                <a:ea typeface="Courier New" pitchFamily="49" charset="-122"/>
                <a:cs typeface="Courier New" pitchFamily="49" charset="-120"/>
              </a:rPr>
              <a:t>&lt;remaining-38-hex&gt;</a:t>
            </a:r>
            <a:endParaRPr lang="en-US" sz="2000" dirty="0"/>
          </a:p>
        </p:txBody>
      </p:sp>
      <p:sp>
        <p:nvSpPr>
          <p:cNvPr id="12" name="Shape 8"/>
          <p:cNvSpPr/>
          <p:nvPr/>
        </p:nvSpPr>
        <p:spPr>
          <a:xfrm>
            <a:off x="812800" y="3435350"/>
            <a:ext cx="3437414" cy="970280"/>
          </a:xfrm>
          <a:prstGeom prst="roundRect">
            <a:avLst>
              <a:gd name="adj" fmla="val 9162"/>
            </a:avLst>
          </a:prstGeom>
          <a:solidFill>
            <a:srgbClr val="0F3329"/>
          </a:solidFill>
          <a:ln/>
        </p:spPr>
      </p:sp>
      <p:sp>
        <p:nvSpPr>
          <p:cNvPr id="13" name="Text 9"/>
          <p:cNvSpPr/>
          <p:nvPr/>
        </p:nvSpPr>
        <p:spPr>
          <a:xfrm>
            <a:off x="965200" y="3562350"/>
            <a:ext cx="32265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Arial" pitchFamily="34" charset="0"/>
                <a:ea typeface="Arial" pitchFamily="34" charset="-122"/>
                <a:cs typeface="Arial" pitchFamily="34" charset="-120"/>
              </a:rPr>
              <a:t>The ID is the location</a:t>
            </a:r>
            <a:endParaRPr lang="en-US" sz="1400" dirty="0"/>
          </a:p>
        </p:txBody>
      </p:sp>
      <p:sp>
        <p:nvSpPr>
          <p:cNvPr id="14" name="Text 10"/>
          <p:cNvSpPr/>
          <p:nvPr/>
        </p:nvSpPr>
        <p:spPr>
          <a:xfrm>
            <a:off x="965200" y="3849377"/>
            <a:ext cx="322659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6F2EC"/>
                </a:solidFill>
                <a:latin typeface="Arial" pitchFamily="34" charset="0"/>
                <a:ea typeface="Arial" pitchFamily="34" charset="-122"/>
                <a:cs typeface="Arial" pitchFamily="34" charset="-120"/>
              </a:rPr>
              <a:t>The hash tells Loki where to find the object.</a:t>
            </a:r>
            <a:endParaRPr lang="en-US" sz="1300" dirty="0"/>
          </a:p>
        </p:txBody>
      </p:sp>
      <p:sp>
        <p:nvSpPr>
          <p:cNvPr id="15" name="Shape 11"/>
          <p:cNvSpPr/>
          <p:nvPr/>
        </p:nvSpPr>
        <p:spPr>
          <a:xfrm>
            <a:off x="4377214" y="3435350"/>
            <a:ext cx="3437493" cy="970280"/>
          </a:xfrm>
          <a:prstGeom prst="roundRect">
            <a:avLst>
              <a:gd name="adj" fmla="val 9162"/>
            </a:avLst>
          </a:prstGeom>
          <a:solidFill>
            <a:srgbClr val="0F3329"/>
          </a:solidFill>
          <a:ln/>
        </p:spPr>
      </p:sp>
      <p:sp>
        <p:nvSpPr>
          <p:cNvPr id="16" name="Text 12"/>
          <p:cNvSpPr/>
          <p:nvPr/>
        </p:nvSpPr>
        <p:spPr>
          <a:xfrm>
            <a:off x="4529614" y="3562350"/>
            <a:ext cx="322667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Arial" pitchFamily="34" charset="0"/>
                <a:ea typeface="Arial" pitchFamily="34" charset="-122"/>
                <a:cs typeface="Arial" pitchFamily="34" charset="-120"/>
              </a:rPr>
              <a:t>Not encryption</a:t>
            </a:r>
            <a:endParaRPr lang="en-US" sz="1400" dirty="0"/>
          </a:p>
        </p:txBody>
      </p:sp>
      <p:sp>
        <p:nvSpPr>
          <p:cNvPr id="17" name="Text 13"/>
          <p:cNvSpPr/>
          <p:nvPr/>
        </p:nvSpPr>
        <p:spPr>
          <a:xfrm>
            <a:off x="4529614" y="3849377"/>
            <a:ext cx="3226674"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6F2EC"/>
                </a:solidFill>
                <a:latin typeface="Arial" pitchFamily="34" charset="0"/>
                <a:ea typeface="Arial" pitchFamily="34" charset="-122"/>
                <a:cs typeface="Arial" pitchFamily="34" charset="-120"/>
              </a:rPr>
              <a:t>Content addressing names data; it does not hide or authenticate it.</a:t>
            </a:r>
            <a:endParaRPr lang="en-US" sz="1300" dirty="0"/>
          </a:p>
        </p:txBody>
      </p:sp>
      <p:sp>
        <p:nvSpPr>
          <p:cNvPr id="18" name="Shape 14"/>
          <p:cNvSpPr/>
          <p:nvPr/>
        </p:nvSpPr>
        <p:spPr>
          <a:xfrm>
            <a:off x="7941707" y="3435350"/>
            <a:ext cx="3437493" cy="970280"/>
          </a:xfrm>
          <a:prstGeom prst="roundRect">
            <a:avLst>
              <a:gd name="adj" fmla="val 9162"/>
            </a:avLst>
          </a:prstGeom>
          <a:solidFill>
            <a:srgbClr val="0F3329"/>
          </a:solidFill>
          <a:ln/>
        </p:spPr>
      </p:sp>
      <p:sp>
        <p:nvSpPr>
          <p:cNvPr id="19" name="Text 15"/>
          <p:cNvSpPr/>
          <p:nvPr/>
        </p:nvSpPr>
        <p:spPr>
          <a:xfrm>
            <a:off x="8094107" y="3562350"/>
            <a:ext cx="322667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Arial" pitchFamily="34" charset="0"/>
                <a:ea typeface="Arial" pitchFamily="34" charset="-122"/>
                <a:cs typeface="Arial" pitchFamily="34" charset="-120"/>
              </a:rPr>
              <a:t>SHA-1 as an identifier</a:t>
            </a:r>
            <a:endParaRPr lang="en-US" sz="1400" dirty="0"/>
          </a:p>
        </p:txBody>
      </p:sp>
      <p:sp>
        <p:nvSpPr>
          <p:cNvPr id="20" name="Text 16"/>
          <p:cNvSpPr/>
          <p:nvPr/>
        </p:nvSpPr>
        <p:spPr>
          <a:xfrm>
            <a:off x="8094107" y="3849377"/>
            <a:ext cx="3226674"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6F2EC"/>
                </a:solidFill>
                <a:latin typeface="Arial" pitchFamily="34" charset="0"/>
                <a:ea typeface="Arial" pitchFamily="34" charset="-122"/>
                <a:cs typeface="Arial" pitchFamily="34" charset="-120"/>
              </a:rPr>
              <a:t>Not a modern collision-resistance guarantee.</a:t>
            </a:r>
            <a:endParaRPr lang="en-US" sz="1300" dirty="0"/>
          </a:p>
        </p:txBody>
      </p:sp>
      <p:pic>
        <p:nvPicPr>
          <p:cNvPr id="21"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2" name="Text 17"/>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3" name="Text 1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8C8BB"/>
                </a:solidFill>
                <a:latin typeface="Arial" pitchFamily="34" charset="0"/>
                <a:ea typeface="Arial" pitchFamily="34" charset="-122"/>
                <a:cs typeface="Arial" pitchFamily="34" charset="-120"/>
              </a:rPr>
              <a:t>Loki VCS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Object Serialization and Compression</a:t>
            </a:r>
            <a:endParaRPr lang="en-US" sz="3200" dirty="0"/>
          </a:p>
        </p:txBody>
      </p:sp>
      <p:sp>
        <p:nvSpPr>
          <p:cNvPr id="4" name="Text 2"/>
          <p:cNvSpPr/>
          <p:nvPr/>
        </p:nvSpPr>
        <p:spPr>
          <a:xfrm>
            <a:off x="812800" y="1524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WRITING AN OBJECT, IN THE DOCUMENTED ORDER</a:t>
            </a:r>
            <a:endParaRPr lang="en-US" sz="1200" dirty="0"/>
          </a:p>
        </p:txBody>
      </p:sp>
      <p:sp>
        <p:nvSpPr>
          <p:cNvPr id="5" name="Shape 3"/>
          <p:cNvSpPr/>
          <p:nvPr/>
        </p:nvSpPr>
        <p:spPr>
          <a:xfrm>
            <a:off x="819150" y="2054225"/>
            <a:ext cx="2266950" cy="1320800"/>
          </a:xfrm>
          <a:prstGeom prst="roundRect">
            <a:avLst>
              <a:gd name="adj" fmla="val 7212"/>
            </a:avLst>
          </a:prstGeom>
          <a:solidFill>
            <a:srgbClr val="FBFCFE"/>
          </a:solidFill>
          <a:ln w="12700">
            <a:solidFill>
              <a:srgbClr val="C7D8CE"/>
            </a:solidFill>
            <a:prstDash val="solid"/>
          </a:ln>
        </p:spPr>
      </p:sp>
      <p:sp>
        <p:nvSpPr>
          <p:cNvPr id="6" name="Text 4"/>
          <p:cNvSpPr/>
          <p:nvPr/>
        </p:nvSpPr>
        <p:spPr>
          <a:xfrm>
            <a:off x="962660" y="2185033"/>
            <a:ext cx="203932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1</a:t>
            </a:r>
            <a:endParaRPr lang="en-US" sz="1600" dirty="0"/>
          </a:p>
        </p:txBody>
      </p:sp>
      <p:sp>
        <p:nvSpPr>
          <p:cNvPr id="7" name="Text 5"/>
          <p:cNvSpPr/>
          <p:nvPr/>
        </p:nvSpPr>
        <p:spPr>
          <a:xfrm>
            <a:off x="962660" y="2520317"/>
            <a:ext cx="20393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Serialize</a:t>
            </a:r>
            <a:endParaRPr lang="en-US" sz="1600" dirty="0"/>
          </a:p>
        </p:txBody>
      </p:sp>
      <p:sp>
        <p:nvSpPr>
          <p:cNvPr id="8" name="Text 6"/>
          <p:cNvSpPr/>
          <p:nvPr/>
        </p:nvSpPr>
        <p:spPr>
          <a:xfrm>
            <a:off x="962660" y="2814960"/>
            <a:ext cx="2039328"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The model turns the object into bytes.</a:t>
            </a:r>
            <a:endParaRPr lang="en-US" sz="1300" dirty="0"/>
          </a:p>
        </p:txBody>
      </p:sp>
      <p:pic>
        <p:nvPicPr>
          <p:cNvPr id="9" name="Image 0" descr="arrow-right"/>
          <p:cNvPicPr>
            <a:picLocks noChangeAspect="1"/>
          </p:cNvPicPr>
          <p:nvPr/>
        </p:nvPicPr>
        <p:blipFill>
          <a:blip r:embed="rId3"/>
          <a:srcRect/>
          <a:stretch/>
        </p:blipFill>
        <p:spPr>
          <a:xfrm>
            <a:off x="3194050" y="2632075"/>
            <a:ext cx="279400" cy="165100"/>
          </a:xfrm>
          <a:prstGeom prst="rect">
            <a:avLst/>
          </a:prstGeom>
        </p:spPr>
      </p:pic>
      <p:sp>
        <p:nvSpPr>
          <p:cNvPr id="10" name="Shape 7"/>
          <p:cNvSpPr/>
          <p:nvPr/>
        </p:nvSpPr>
        <p:spPr>
          <a:xfrm>
            <a:off x="3581400" y="1946908"/>
            <a:ext cx="2266950" cy="1535430"/>
          </a:xfrm>
          <a:prstGeom prst="roundRect">
            <a:avLst>
              <a:gd name="adj" fmla="val 6203"/>
            </a:avLst>
          </a:prstGeom>
          <a:solidFill>
            <a:srgbClr val="FBFCFE"/>
          </a:solidFill>
          <a:ln w="12700">
            <a:solidFill>
              <a:srgbClr val="C7D8CE"/>
            </a:solidFill>
            <a:prstDash val="solid"/>
          </a:ln>
        </p:spPr>
      </p:sp>
      <p:sp>
        <p:nvSpPr>
          <p:cNvPr id="11" name="Text 8"/>
          <p:cNvSpPr/>
          <p:nvPr/>
        </p:nvSpPr>
        <p:spPr>
          <a:xfrm>
            <a:off x="3724910" y="2077727"/>
            <a:ext cx="203932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2</a:t>
            </a:r>
            <a:endParaRPr lang="en-US" sz="1600" dirty="0"/>
          </a:p>
        </p:txBody>
      </p:sp>
      <p:sp>
        <p:nvSpPr>
          <p:cNvPr id="12" name="Text 9"/>
          <p:cNvSpPr/>
          <p:nvPr/>
        </p:nvSpPr>
        <p:spPr>
          <a:xfrm>
            <a:off x="3724910" y="2413000"/>
            <a:ext cx="20393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Hash</a:t>
            </a:r>
            <a:endParaRPr lang="en-US" sz="1600" dirty="0"/>
          </a:p>
        </p:txBody>
      </p:sp>
      <p:sp>
        <p:nvSpPr>
          <p:cNvPr id="13" name="Text 10"/>
          <p:cNvSpPr/>
          <p:nvPr/>
        </p:nvSpPr>
        <p:spPr>
          <a:xfrm>
            <a:off x="3724910" y="2707642"/>
            <a:ext cx="2039328" cy="66929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SHA-1 over the complete serialized bytes gives the object ID.</a:t>
            </a:r>
            <a:endParaRPr lang="en-US" sz="1300" dirty="0"/>
          </a:p>
        </p:txBody>
      </p:sp>
      <p:pic>
        <p:nvPicPr>
          <p:cNvPr id="14" name="Image 1" descr="arrow-right"/>
          <p:cNvPicPr>
            <a:picLocks noChangeAspect="1"/>
          </p:cNvPicPr>
          <p:nvPr/>
        </p:nvPicPr>
        <p:blipFill>
          <a:blip r:embed="rId3"/>
          <a:srcRect/>
          <a:stretch/>
        </p:blipFill>
        <p:spPr>
          <a:xfrm>
            <a:off x="5956300" y="2632075"/>
            <a:ext cx="279400" cy="165100"/>
          </a:xfrm>
          <a:prstGeom prst="rect">
            <a:avLst/>
          </a:prstGeom>
        </p:spPr>
      </p:pic>
      <p:sp>
        <p:nvSpPr>
          <p:cNvPr id="15" name="Shape 11"/>
          <p:cNvSpPr/>
          <p:nvPr/>
        </p:nvSpPr>
        <p:spPr>
          <a:xfrm>
            <a:off x="6343650" y="2054225"/>
            <a:ext cx="2266950" cy="1320800"/>
          </a:xfrm>
          <a:prstGeom prst="roundRect">
            <a:avLst>
              <a:gd name="adj" fmla="val 7212"/>
            </a:avLst>
          </a:prstGeom>
          <a:solidFill>
            <a:srgbClr val="FBFCFE"/>
          </a:solidFill>
          <a:ln w="12700">
            <a:solidFill>
              <a:srgbClr val="C7D8CE"/>
            </a:solidFill>
            <a:prstDash val="solid"/>
          </a:ln>
        </p:spPr>
      </p:sp>
      <p:sp>
        <p:nvSpPr>
          <p:cNvPr id="16" name="Text 12"/>
          <p:cNvSpPr/>
          <p:nvPr/>
        </p:nvSpPr>
        <p:spPr>
          <a:xfrm>
            <a:off x="6487160" y="2185033"/>
            <a:ext cx="203932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3</a:t>
            </a:r>
            <a:endParaRPr lang="en-US" sz="1600" dirty="0"/>
          </a:p>
        </p:txBody>
      </p:sp>
      <p:sp>
        <p:nvSpPr>
          <p:cNvPr id="17" name="Text 13"/>
          <p:cNvSpPr/>
          <p:nvPr/>
        </p:nvSpPr>
        <p:spPr>
          <a:xfrm>
            <a:off x="6487160" y="2520317"/>
            <a:ext cx="20393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Compress</a:t>
            </a:r>
            <a:endParaRPr lang="en-US" sz="1600" dirty="0"/>
          </a:p>
        </p:txBody>
      </p:sp>
      <p:sp>
        <p:nvSpPr>
          <p:cNvPr id="18" name="Text 14"/>
          <p:cNvSpPr/>
          <p:nvPr/>
        </p:nvSpPr>
        <p:spPr>
          <a:xfrm>
            <a:off x="6487160" y="2814960"/>
            <a:ext cx="2039328"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zlib compresses the bytes for storage.</a:t>
            </a:r>
            <a:endParaRPr lang="en-US" sz="1300" dirty="0"/>
          </a:p>
        </p:txBody>
      </p:sp>
      <p:pic>
        <p:nvPicPr>
          <p:cNvPr id="19" name="Image 2" descr="arrow-right"/>
          <p:cNvPicPr>
            <a:picLocks noChangeAspect="1"/>
          </p:cNvPicPr>
          <p:nvPr/>
        </p:nvPicPr>
        <p:blipFill>
          <a:blip r:embed="rId3"/>
          <a:srcRect/>
          <a:stretch/>
        </p:blipFill>
        <p:spPr>
          <a:xfrm>
            <a:off x="8718550" y="2632075"/>
            <a:ext cx="279400" cy="165100"/>
          </a:xfrm>
          <a:prstGeom prst="rect">
            <a:avLst/>
          </a:prstGeom>
        </p:spPr>
      </p:pic>
      <p:sp>
        <p:nvSpPr>
          <p:cNvPr id="20" name="Shape 15"/>
          <p:cNvSpPr/>
          <p:nvPr/>
        </p:nvSpPr>
        <p:spPr>
          <a:xfrm>
            <a:off x="9105900" y="2054225"/>
            <a:ext cx="2266950" cy="1320800"/>
          </a:xfrm>
          <a:prstGeom prst="roundRect">
            <a:avLst>
              <a:gd name="adj" fmla="val 7212"/>
            </a:avLst>
          </a:prstGeom>
          <a:solidFill>
            <a:srgbClr val="FBFCFE"/>
          </a:solidFill>
          <a:ln w="12700">
            <a:solidFill>
              <a:srgbClr val="C7D8CE"/>
            </a:solidFill>
            <a:prstDash val="solid"/>
          </a:ln>
        </p:spPr>
      </p:sp>
      <p:sp>
        <p:nvSpPr>
          <p:cNvPr id="21" name="Text 16"/>
          <p:cNvSpPr/>
          <p:nvPr/>
        </p:nvSpPr>
        <p:spPr>
          <a:xfrm>
            <a:off x="9249410" y="2185033"/>
            <a:ext cx="203932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4</a:t>
            </a:r>
            <a:endParaRPr lang="en-US" sz="1600" dirty="0"/>
          </a:p>
        </p:txBody>
      </p:sp>
      <p:sp>
        <p:nvSpPr>
          <p:cNvPr id="22" name="Text 17"/>
          <p:cNvSpPr/>
          <p:nvPr/>
        </p:nvSpPr>
        <p:spPr>
          <a:xfrm>
            <a:off x="9249410" y="2520317"/>
            <a:ext cx="20393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Store</a:t>
            </a:r>
            <a:endParaRPr lang="en-US" sz="1600" dirty="0"/>
          </a:p>
        </p:txBody>
      </p:sp>
      <p:sp>
        <p:nvSpPr>
          <p:cNvPr id="23" name="Text 18"/>
          <p:cNvSpPr/>
          <p:nvPr/>
        </p:nvSpPr>
        <p:spPr>
          <a:xfrm>
            <a:off x="9249410" y="2814960"/>
            <a:ext cx="2039328"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Written under .loki/objects/ using the ID as the path.</a:t>
            </a:r>
            <a:endParaRPr lang="en-US" sz="1300" dirty="0"/>
          </a:p>
        </p:txBody>
      </p:sp>
      <p:sp>
        <p:nvSpPr>
          <p:cNvPr id="24" name="Shape 19"/>
          <p:cNvSpPr/>
          <p:nvPr/>
        </p:nvSpPr>
        <p:spPr>
          <a:xfrm>
            <a:off x="819150" y="3698242"/>
            <a:ext cx="5207000" cy="1010920"/>
          </a:xfrm>
          <a:prstGeom prst="roundRect">
            <a:avLst>
              <a:gd name="adj" fmla="val 9422"/>
            </a:avLst>
          </a:prstGeom>
          <a:solidFill>
            <a:srgbClr val="E0F2EA"/>
          </a:solidFill>
          <a:ln w="12700">
            <a:solidFill>
              <a:srgbClr val="A8D6C2"/>
            </a:solidFill>
            <a:prstDash val="solid"/>
          </a:ln>
        </p:spPr>
      </p:sp>
      <p:sp>
        <p:nvSpPr>
          <p:cNvPr id="25" name="Text 20"/>
          <p:cNvSpPr/>
          <p:nvPr/>
        </p:nvSpPr>
        <p:spPr>
          <a:xfrm>
            <a:off x="988060" y="3841750"/>
            <a:ext cx="501525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ID is independent of compression</a:t>
            </a:r>
            <a:endParaRPr lang="en-US" sz="1600" dirty="0"/>
          </a:p>
        </p:txBody>
      </p:sp>
      <p:sp>
        <p:nvSpPr>
          <p:cNvPr id="26" name="Text 21"/>
          <p:cNvSpPr/>
          <p:nvPr/>
        </p:nvSpPr>
        <p:spPr>
          <a:xfrm>
            <a:off x="988060" y="4136392"/>
            <a:ext cx="5015255"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Compression changes the disk representation, not the object ID.</a:t>
            </a:r>
            <a:endParaRPr lang="en-US" sz="1300" dirty="0"/>
          </a:p>
        </p:txBody>
      </p:sp>
      <p:sp>
        <p:nvSpPr>
          <p:cNvPr id="27" name="Shape 22"/>
          <p:cNvSpPr/>
          <p:nvPr/>
        </p:nvSpPr>
        <p:spPr>
          <a:xfrm>
            <a:off x="6165850" y="3698242"/>
            <a:ext cx="5207000" cy="1010920"/>
          </a:xfrm>
          <a:prstGeom prst="roundRect">
            <a:avLst>
              <a:gd name="adj" fmla="val 9422"/>
            </a:avLst>
          </a:prstGeom>
          <a:solidFill>
            <a:srgbClr val="FDF0E1"/>
          </a:solidFill>
          <a:ln w="12700">
            <a:solidFill>
              <a:srgbClr val="E8B27A"/>
            </a:solidFill>
            <a:prstDash val="solid"/>
          </a:ln>
        </p:spPr>
      </p:sp>
      <p:sp>
        <p:nvSpPr>
          <p:cNvPr id="28" name="Text 23"/>
          <p:cNvSpPr/>
          <p:nvPr/>
        </p:nvSpPr>
        <p:spPr>
          <a:xfrm>
            <a:off x="6334760" y="3841750"/>
            <a:ext cx="501525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Reading an object</a:t>
            </a:r>
            <a:endParaRPr lang="en-US" sz="1600" dirty="0"/>
          </a:p>
        </p:txBody>
      </p:sp>
      <p:sp>
        <p:nvSpPr>
          <p:cNvPr id="29" name="Text 24"/>
          <p:cNvSpPr/>
          <p:nvPr/>
        </p:nvSpPr>
        <p:spPr>
          <a:xfrm>
            <a:off x="6334760" y="4136392"/>
            <a:ext cx="5015255"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C3410"/>
                </a:solidFill>
                <a:latin typeface="Arial" pitchFamily="34" charset="0"/>
                <a:ea typeface="Arial" pitchFamily="34" charset="-122"/>
                <a:cs typeface="Arial" pitchFamily="34" charset="-120"/>
              </a:rPr>
              <a:t>Objects are decompressed, but the hash is not recomputed to verify the ID.</a:t>
            </a:r>
            <a:endParaRPr lang="en-US" sz="1300" dirty="0"/>
          </a:p>
        </p:txBody>
      </p:sp>
      <p:pic>
        <p:nvPicPr>
          <p:cNvPr id="30" name="Image 3"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31" name="Text 25"/>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2" name="Text 26"/>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The Staging Area and Index</a:t>
            </a:r>
            <a:endParaRPr lang="en-US" sz="3200" dirty="0"/>
          </a:p>
        </p:txBody>
      </p:sp>
      <p:sp>
        <p:nvSpPr>
          <p:cNvPr id="4" name="Shape 2"/>
          <p:cNvSpPr/>
          <p:nvPr/>
        </p:nvSpPr>
        <p:spPr>
          <a:xfrm>
            <a:off x="819150" y="1530350"/>
            <a:ext cx="3103007" cy="762000"/>
          </a:xfrm>
          <a:prstGeom prst="roundRect">
            <a:avLst>
              <a:gd name="adj" fmla="val 12500"/>
            </a:avLst>
          </a:prstGeom>
          <a:solidFill>
            <a:srgbClr val="FBFCFE"/>
          </a:solidFill>
          <a:ln w="12700">
            <a:solidFill>
              <a:srgbClr val="C7D8CE"/>
            </a:solidFill>
            <a:prstDash val="solid"/>
          </a:ln>
        </p:spPr>
      </p:sp>
      <p:sp>
        <p:nvSpPr>
          <p:cNvPr id="5" name="Text 3"/>
          <p:cNvSpPr/>
          <p:nvPr/>
        </p:nvSpPr>
        <p:spPr>
          <a:xfrm>
            <a:off x="975360" y="1661158"/>
            <a:ext cx="28743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Arial" pitchFamily="34" charset="0"/>
                <a:ea typeface="Arial" pitchFamily="34" charset="-122"/>
                <a:cs typeface="Arial" pitchFamily="34" charset="-120"/>
              </a:rPr>
              <a:t>Working file</a:t>
            </a:r>
            <a:endParaRPr lang="en-US" sz="1200" dirty="0"/>
          </a:p>
        </p:txBody>
      </p:sp>
      <p:sp>
        <p:nvSpPr>
          <p:cNvPr id="6" name="Text 4"/>
          <p:cNvSpPr/>
          <p:nvPr/>
        </p:nvSpPr>
        <p:spPr>
          <a:xfrm>
            <a:off x="975360" y="1912627"/>
            <a:ext cx="28743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loki add README.md</a:t>
            </a:r>
            <a:endParaRPr lang="en-US" sz="1400" dirty="0"/>
          </a:p>
        </p:txBody>
      </p:sp>
      <p:pic>
        <p:nvPicPr>
          <p:cNvPr id="7" name="Image 0" descr="arrow-right"/>
          <p:cNvPicPr>
            <a:picLocks noChangeAspect="1"/>
          </p:cNvPicPr>
          <p:nvPr/>
        </p:nvPicPr>
        <p:blipFill>
          <a:blip r:embed="rId3"/>
          <a:srcRect/>
          <a:stretch/>
        </p:blipFill>
        <p:spPr>
          <a:xfrm>
            <a:off x="4055507" y="1809750"/>
            <a:ext cx="355600" cy="203200"/>
          </a:xfrm>
          <a:prstGeom prst="rect">
            <a:avLst/>
          </a:prstGeom>
        </p:spPr>
      </p:pic>
      <p:sp>
        <p:nvSpPr>
          <p:cNvPr id="8" name="Shape 5"/>
          <p:cNvSpPr/>
          <p:nvPr/>
        </p:nvSpPr>
        <p:spPr>
          <a:xfrm>
            <a:off x="4544457" y="1530350"/>
            <a:ext cx="3103086" cy="762000"/>
          </a:xfrm>
          <a:prstGeom prst="roundRect">
            <a:avLst>
              <a:gd name="adj" fmla="val 12500"/>
            </a:avLst>
          </a:prstGeom>
          <a:solidFill>
            <a:srgbClr val="F6EFD6"/>
          </a:solidFill>
          <a:ln w="12700">
            <a:solidFill>
              <a:srgbClr val="D9BE6A"/>
            </a:solidFill>
            <a:prstDash val="solid"/>
          </a:ln>
        </p:spPr>
      </p:sp>
      <p:sp>
        <p:nvSpPr>
          <p:cNvPr id="9" name="Text 6"/>
          <p:cNvSpPr/>
          <p:nvPr/>
        </p:nvSpPr>
        <p:spPr>
          <a:xfrm>
            <a:off x="4700667" y="1661158"/>
            <a:ext cx="28743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5A0C"/>
                </a:solidFill>
                <a:latin typeface="Arial" pitchFamily="34" charset="0"/>
                <a:ea typeface="Arial" pitchFamily="34" charset="-122"/>
                <a:cs typeface="Arial" pitchFamily="34" charset="-120"/>
              </a:rPr>
              <a:t>Blob object</a:t>
            </a:r>
            <a:endParaRPr lang="en-US" sz="1200" dirty="0"/>
          </a:p>
        </p:txBody>
      </p:sp>
      <p:sp>
        <p:nvSpPr>
          <p:cNvPr id="10" name="Text 7"/>
          <p:cNvSpPr/>
          <p:nvPr/>
        </p:nvSpPr>
        <p:spPr>
          <a:xfrm>
            <a:off x="4700667" y="1912627"/>
            <a:ext cx="287438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stored in .loki/objects/</a:t>
            </a:r>
            <a:endParaRPr lang="en-US" sz="1400" dirty="0"/>
          </a:p>
        </p:txBody>
      </p:sp>
      <p:pic>
        <p:nvPicPr>
          <p:cNvPr id="11" name="Image 1" descr="arrow-right"/>
          <p:cNvPicPr>
            <a:picLocks noChangeAspect="1"/>
          </p:cNvPicPr>
          <p:nvPr/>
        </p:nvPicPr>
        <p:blipFill>
          <a:blip r:embed="rId3"/>
          <a:srcRect/>
          <a:stretch/>
        </p:blipFill>
        <p:spPr>
          <a:xfrm>
            <a:off x="7780893" y="1809750"/>
            <a:ext cx="355600" cy="203200"/>
          </a:xfrm>
          <a:prstGeom prst="rect">
            <a:avLst/>
          </a:prstGeom>
        </p:spPr>
      </p:pic>
      <p:sp>
        <p:nvSpPr>
          <p:cNvPr id="12" name="Shape 8"/>
          <p:cNvSpPr/>
          <p:nvPr/>
        </p:nvSpPr>
        <p:spPr>
          <a:xfrm>
            <a:off x="8269843" y="1530350"/>
            <a:ext cx="3103007" cy="762000"/>
          </a:xfrm>
          <a:prstGeom prst="roundRect">
            <a:avLst>
              <a:gd name="adj" fmla="val 12500"/>
            </a:avLst>
          </a:prstGeom>
          <a:solidFill>
            <a:srgbClr val="E0F2EA"/>
          </a:solidFill>
          <a:ln w="12700">
            <a:solidFill>
              <a:srgbClr val="8CCBB0"/>
            </a:solidFill>
            <a:prstDash val="solid"/>
          </a:ln>
        </p:spPr>
      </p:sp>
      <p:sp>
        <p:nvSpPr>
          <p:cNvPr id="13" name="Text 9"/>
          <p:cNvSpPr/>
          <p:nvPr/>
        </p:nvSpPr>
        <p:spPr>
          <a:xfrm>
            <a:off x="8426053" y="1661158"/>
            <a:ext cx="28743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Index entry</a:t>
            </a:r>
            <a:endParaRPr lang="en-US" sz="1200" dirty="0"/>
          </a:p>
        </p:txBody>
      </p:sp>
      <p:sp>
        <p:nvSpPr>
          <p:cNvPr id="14" name="Text 10"/>
          <p:cNvSpPr/>
          <p:nvPr/>
        </p:nvSpPr>
        <p:spPr>
          <a:xfrm>
            <a:off x="8426053" y="1912627"/>
            <a:ext cx="28743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path → blob hash in .loki/index</a:t>
            </a:r>
            <a:endParaRPr lang="en-US" sz="1400" dirty="0"/>
          </a:p>
        </p:txBody>
      </p:sp>
      <p:sp>
        <p:nvSpPr>
          <p:cNvPr id="15" name="Shape 11"/>
          <p:cNvSpPr/>
          <p:nvPr/>
        </p:nvSpPr>
        <p:spPr>
          <a:xfrm>
            <a:off x="812800" y="2501900"/>
            <a:ext cx="4826000" cy="1684020"/>
          </a:xfrm>
          <a:prstGeom prst="roundRect">
            <a:avLst>
              <a:gd name="adj" fmla="val 6033"/>
            </a:avLst>
          </a:prstGeom>
          <a:solidFill>
            <a:srgbClr val="07201A"/>
          </a:solidFill>
          <a:ln/>
        </p:spPr>
      </p:sp>
      <p:sp>
        <p:nvSpPr>
          <p:cNvPr id="16" name="Text 12"/>
          <p:cNvSpPr/>
          <p:nvPr/>
        </p:nvSpPr>
        <p:spPr>
          <a:xfrm>
            <a:off x="990600" y="2654300"/>
            <a:ext cx="46045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A0"/>
                </a:solidFill>
                <a:latin typeface="Arial" pitchFamily="34" charset="0"/>
                <a:ea typeface="Arial" pitchFamily="34" charset="-122"/>
                <a:cs typeface="Arial" pitchFamily="34" charset="-120"/>
              </a:rPr>
              <a:t>ILLUSTRATIVE .LOKI/INDEX (JSON)</a:t>
            </a:r>
            <a:endParaRPr lang="en-US" sz="1200" dirty="0"/>
          </a:p>
        </p:txBody>
      </p:sp>
      <p:sp>
        <p:nvSpPr>
          <p:cNvPr id="17" name="Text 13"/>
          <p:cNvSpPr/>
          <p:nvPr/>
        </p:nvSpPr>
        <p:spPr>
          <a:xfrm>
            <a:off x="990600" y="2943858"/>
            <a:ext cx="4604512" cy="8255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a:t>
            </a:r>
            <a:endParaRPr lang="en-US" sz="1400" dirty="0"/>
          </a:p>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  "README.md": "&lt;blob hash&gt;"</a:t>
            </a:r>
            <a:endParaRPr lang="en-US" sz="1400" dirty="0"/>
          </a:p>
          <a:p>
            <a:pPr marL="0" indent="0" algn="l">
              <a:lnSpc>
                <a:spcPts val="2100"/>
              </a:lnSpc>
              <a:buNone/>
            </a:pPr>
            <a:r>
              <a:rPr lang="en-US" sz="1400" dirty="0">
                <a:solidFill>
                  <a:srgbClr val="E6F2EC"/>
                </a:solidFill>
                <a:latin typeface="Courier New" pitchFamily="49" charset="0"/>
                <a:ea typeface="Courier New" pitchFamily="49" charset="-122"/>
                <a:cs typeface="Courier New" pitchFamily="49" charset="-120"/>
              </a:rPr>
              <a:t>}</a:t>
            </a:r>
            <a:endParaRPr lang="en-US" sz="1400" dirty="0"/>
          </a:p>
        </p:txBody>
      </p:sp>
      <p:sp>
        <p:nvSpPr>
          <p:cNvPr id="18" name="Text 14"/>
          <p:cNvSpPr/>
          <p:nvPr/>
        </p:nvSpPr>
        <p:spPr>
          <a:xfrm>
            <a:off x="990600" y="3820158"/>
            <a:ext cx="46045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A custom JSON mapping, not Git's index format.</a:t>
            </a:r>
            <a:endParaRPr lang="en-US" sz="1200" dirty="0"/>
          </a:p>
        </p:txBody>
      </p:sp>
      <p:sp>
        <p:nvSpPr>
          <p:cNvPr id="19" name="Shape 15"/>
          <p:cNvSpPr/>
          <p:nvPr/>
        </p:nvSpPr>
        <p:spPr>
          <a:xfrm>
            <a:off x="5797550" y="2508250"/>
            <a:ext cx="5575300" cy="758190"/>
          </a:xfrm>
          <a:prstGeom prst="roundRect">
            <a:avLst>
              <a:gd name="adj" fmla="val 12563"/>
            </a:avLst>
          </a:prstGeom>
          <a:solidFill>
            <a:srgbClr val="FBFCFE"/>
          </a:solidFill>
          <a:ln w="12700">
            <a:solidFill>
              <a:srgbClr val="C7D8CE"/>
            </a:solidFill>
            <a:prstDash val="solid"/>
          </a:ln>
        </p:spPr>
      </p:sp>
      <p:sp>
        <p:nvSpPr>
          <p:cNvPr id="20" name="Text 16"/>
          <p:cNvSpPr/>
          <p:nvPr/>
        </p:nvSpPr>
        <p:spPr>
          <a:xfrm>
            <a:off x="5953760" y="2639058"/>
            <a:ext cx="542076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Staging</a:t>
            </a:r>
            <a:endParaRPr lang="en-US" sz="1600" dirty="0"/>
          </a:p>
        </p:txBody>
      </p:sp>
      <p:sp>
        <p:nvSpPr>
          <p:cNvPr id="21" name="Text 17"/>
          <p:cNvSpPr/>
          <p:nvPr/>
        </p:nvSpPr>
        <p:spPr>
          <a:xfrm>
            <a:off x="5953760" y="2921000"/>
            <a:ext cx="542076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loki add stores file snapshots as blobs and updates the index.</a:t>
            </a:r>
            <a:endParaRPr lang="en-US" sz="1300" dirty="0"/>
          </a:p>
        </p:txBody>
      </p:sp>
      <p:sp>
        <p:nvSpPr>
          <p:cNvPr id="22" name="Shape 18"/>
          <p:cNvSpPr/>
          <p:nvPr/>
        </p:nvSpPr>
        <p:spPr>
          <a:xfrm>
            <a:off x="5797550" y="3380742"/>
            <a:ext cx="5575300" cy="758190"/>
          </a:xfrm>
          <a:prstGeom prst="roundRect">
            <a:avLst>
              <a:gd name="adj" fmla="val 12563"/>
            </a:avLst>
          </a:prstGeom>
          <a:solidFill>
            <a:srgbClr val="FBFCFE"/>
          </a:solidFill>
          <a:ln w="12700">
            <a:solidFill>
              <a:srgbClr val="C7D8CE"/>
            </a:solidFill>
            <a:prstDash val="solid"/>
          </a:ln>
        </p:spPr>
      </p:sp>
      <p:sp>
        <p:nvSpPr>
          <p:cNvPr id="23" name="Text 19"/>
          <p:cNvSpPr/>
          <p:nvPr/>
        </p:nvSpPr>
        <p:spPr>
          <a:xfrm>
            <a:off x="5953760" y="3511550"/>
            <a:ext cx="542076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Committing is separate</a:t>
            </a:r>
            <a:endParaRPr lang="en-US" sz="1600" dirty="0"/>
          </a:p>
        </p:txBody>
      </p:sp>
      <p:sp>
        <p:nvSpPr>
          <p:cNvPr id="24" name="Text 20"/>
          <p:cNvSpPr/>
          <p:nvPr/>
        </p:nvSpPr>
        <p:spPr>
          <a:xfrm>
            <a:off x="5953760" y="3793492"/>
            <a:ext cx="542076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loki commit creates a commit from the staged content.</a:t>
            </a:r>
            <a:endParaRPr lang="en-US" sz="1300" dirty="0"/>
          </a:p>
        </p:txBody>
      </p:sp>
      <p:pic>
        <p:nvPicPr>
          <p:cNvPr id="25"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6" name="Text 21"/>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7" name="Text 22"/>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C · REPOSITORY STRUCTURE AND OBJECT MODEL</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Commit History Representation</a:t>
            </a:r>
            <a:endParaRPr lang="en-US" sz="3200" dirty="0"/>
          </a:p>
        </p:txBody>
      </p:sp>
      <p:sp>
        <p:nvSpPr>
          <p:cNvPr id="4" name="Shape 2"/>
          <p:cNvSpPr/>
          <p:nvPr/>
        </p:nvSpPr>
        <p:spPr>
          <a:xfrm>
            <a:off x="819150" y="1530350"/>
            <a:ext cx="5168900" cy="2484120"/>
          </a:xfrm>
          <a:prstGeom prst="roundRect">
            <a:avLst>
              <a:gd name="adj" fmla="val 3834"/>
            </a:avLst>
          </a:prstGeom>
          <a:solidFill>
            <a:srgbClr val="E0F2EA"/>
          </a:solidFill>
          <a:ln w="12700">
            <a:solidFill>
              <a:srgbClr val="8CCBB0"/>
            </a:solidFill>
            <a:prstDash val="solid"/>
          </a:ln>
        </p:spPr>
      </p:sp>
      <p:sp>
        <p:nvSpPr>
          <p:cNvPr id="5" name="Text 3"/>
          <p:cNvSpPr/>
          <p:nvPr/>
        </p:nvSpPr>
        <p:spPr>
          <a:xfrm>
            <a:off x="1000760" y="1686558"/>
            <a:ext cx="49498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WHAT LOKI LOG READS</a:t>
            </a:r>
            <a:endParaRPr lang="en-US" sz="1200" dirty="0"/>
          </a:p>
        </p:txBody>
      </p:sp>
      <p:sp>
        <p:nvSpPr>
          <p:cNvPr id="6" name="Text 4"/>
          <p:cNvSpPr/>
          <p:nvPr/>
        </p:nvSpPr>
        <p:spPr>
          <a:xfrm>
            <a:off x="1000760" y="1988827"/>
            <a:ext cx="494985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Courier New" pitchFamily="49" charset="0"/>
                <a:ea typeface="Courier New" pitchFamily="49" charset="-122"/>
                <a:cs typeface="Courier New" pitchFamily="49" charset="-120"/>
              </a:rPr>
              <a:t>.loki/commits.log</a:t>
            </a:r>
            <a:endParaRPr lang="en-US" sz="1600" dirty="0"/>
          </a:p>
        </p:txBody>
      </p:sp>
      <p:sp>
        <p:nvSpPr>
          <p:cNvPr id="7" name="Text 5"/>
          <p:cNvSpPr/>
          <p:nvPr/>
        </p:nvSpPr>
        <p:spPr>
          <a:xfrm>
            <a:off x="1000760" y="2321558"/>
            <a:ext cx="4949850" cy="25654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25403A"/>
                </a:solidFill>
                <a:latin typeface="Arial" pitchFamily="34" charset="0"/>
                <a:ea typeface="Arial" pitchFamily="34" charset="-122"/>
                <a:cs typeface="Arial" pitchFamily="34" charset="-120"/>
              </a:rPr>
              <a:t>An append-only log of recorded commits.</a:t>
            </a:r>
            <a:endParaRPr lang="en-US" sz="1400" dirty="0"/>
          </a:p>
        </p:txBody>
      </p:sp>
      <p:sp>
        <p:nvSpPr>
          <p:cNvPr id="8" name="Text 6"/>
          <p:cNvSpPr/>
          <p:nvPr/>
        </p:nvSpPr>
        <p:spPr>
          <a:xfrm>
            <a:off x="1007110" y="2647950"/>
            <a:ext cx="4792980" cy="365760"/>
          </a:xfrm>
          <a:prstGeom prst="roundRect">
            <a:avLst>
              <a:gd name="adj" fmla="val 15625"/>
            </a:avLst>
          </a:prstGeom>
          <a:solidFill>
            <a:srgbClr val="FBFCFE"/>
          </a:solidFill>
          <a:ln w="12700">
            <a:solidFill>
              <a:srgbClr val="8CCBB0"/>
            </a:solidFill>
            <a:prstDash val="solid"/>
          </a:ln>
        </p:spPr>
        <p:txBody>
          <a:bodyPr wrap="square" lIns="88671" tIns="50571" rIns="0" bIns="25171" rtlCol="0" anchor="t">
            <a:normAutofit/>
          </a:bodyPr>
          <a:lstStyle/>
          <a:p>
            <a:pPr marL="0" indent="0" algn="l">
              <a:lnSpc>
                <a:spcPts val="1820"/>
              </a:lnSpc>
              <a:buNone/>
            </a:pPr>
            <a:r>
              <a:rPr lang="en-US" sz="1300" dirty="0">
                <a:solidFill>
                  <a:srgbClr val="07201A"/>
                </a:solidFill>
                <a:latin typeface="Courier New" pitchFamily="49" charset="0"/>
                <a:ea typeface="Courier New" pitchFamily="49" charset="-122"/>
                <a:cs typeface="Courier New" pitchFamily="49" charset="-120"/>
              </a:rPr>
              <a:t>entry 1</a:t>
            </a:r>
            <a:endParaRPr lang="en-US" sz="1300" dirty="0"/>
          </a:p>
        </p:txBody>
      </p:sp>
      <p:sp>
        <p:nvSpPr>
          <p:cNvPr id="9" name="Text 7"/>
          <p:cNvSpPr/>
          <p:nvPr/>
        </p:nvSpPr>
        <p:spPr>
          <a:xfrm>
            <a:off x="1007110" y="3077208"/>
            <a:ext cx="4792980" cy="365760"/>
          </a:xfrm>
          <a:prstGeom prst="roundRect">
            <a:avLst>
              <a:gd name="adj" fmla="val 15625"/>
            </a:avLst>
          </a:prstGeom>
          <a:solidFill>
            <a:srgbClr val="FBFCFE"/>
          </a:solidFill>
          <a:ln w="12700">
            <a:solidFill>
              <a:srgbClr val="8CCBB0"/>
            </a:solidFill>
            <a:prstDash val="solid"/>
          </a:ln>
        </p:spPr>
        <p:txBody>
          <a:bodyPr wrap="square" lIns="88671" tIns="50571" rIns="0" bIns="25171" rtlCol="0" anchor="t">
            <a:normAutofit/>
          </a:bodyPr>
          <a:lstStyle/>
          <a:p>
            <a:pPr marL="0" indent="0" algn="l">
              <a:lnSpc>
                <a:spcPts val="1820"/>
              </a:lnSpc>
              <a:buNone/>
            </a:pPr>
            <a:r>
              <a:rPr lang="en-US" sz="1300" dirty="0">
                <a:solidFill>
                  <a:srgbClr val="07201A"/>
                </a:solidFill>
                <a:latin typeface="Courier New" pitchFamily="49" charset="0"/>
                <a:ea typeface="Courier New" pitchFamily="49" charset="-122"/>
                <a:cs typeface="Courier New" pitchFamily="49" charset="-120"/>
              </a:rPr>
              <a:t>entry 2</a:t>
            </a:r>
            <a:endParaRPr lang="en-US" sz="1300" dirty="0"/>
          </a:p>
        </p:txBody>
      </p:sp>
      <p:sp>
        <p:nvSpPr>
          <p:cNvPr id="10" name="Text 8"/>
          <p:cNvSpPr/>
          <p:nvPr/>
        </p:nvSpPr>
        <p:spPr>
          <a:xfrm>
            <a:off x="1000760" y="3500127"/>
            <a:ext cx="4805680" cy="358140"/>
          </a:xfrm>
          <a:prstGeom prst="roundRect">
            <a:avLst>
              <a:gd name="adj" fmla="val 17730"/>
            </a:avLst>
          </a:prstGeom>
          <a:solidFill>
            <a:srgbClr val="0F7B54"/>
          </a:solidFill>
          <a:ln/>
        </p:spPr>
        <p:txBody>
          <a:bodyPr wrap="square" lIns="83001" tIns="44901" rIns="0" bIns="19501" rtlCol="0" anchor="t">
            <a:normAutofit/>
          </a:bodyPr>
          <a:lstStyle/>
          <a:p>
            <a:pPr marL="0" indent="0" algn="l">
              <a:lnSpc>
                <a:spcPts val="1820"/>
              </a:lnSpc>
              <a:buNone/>
            </a:pPr>
            <a:r>
              <a:rPr lang="en-US" sz="1300" dirty="0">
                <a:solidFill>
                  <a:srgbClr val="F3F8F5"/>
                </a:solidFill>
                <a:latin typeface="Courier New" pitchFamily="49" charset="0"/>
                <a:ea typeface="Courier New" pitchFamily="49" charset="-122"/>
                <a:cs typeface="Courier New" pitchFamily="49" charset="-120"/>
              </a:rPr>
              <a:t>new commit → appended at the end</a:t>
            </a:r>
            <a:endParaRPr lang="en-US" sz="1300" dirty="0"/>
          </a:p>
        </p:txBody>
      </p:sp>
      <p:sp>
        <p:nvSpPr>
          <p:cNvPr id="11" name="Shape 9"/>
          <p:cNvSpPr/>
          <p:nvPr/>
        </p:nvSpPr>
        <p:spPr>
          <a:xfrm>
            <a:off x="6203950" y="1530350"/>
            <a:ext cx="5168900" cy="2484120"/>
          </a:xfrm>
          <a:prstGeom prst="roundRect">
            <a:avLst>
              <a:gd name="adj" fmla="val 3834"/>
            </a:avLst>
          </a:prstGeom>
          <a:solidFill>
            <a:srgbClr val="FBFCFE"/>
          </a:solidFill>
          <a:ln w="12700">
            <a:solidFill>
              <a:srgbClr val="9DB5A9"/>
            </a:solidFill>
            <a:prstDash val="dash"/>
          </a:ln>
        </p:spPr>
      </p:sp>
      <p:sp>
        <p:nvSpPr>
          <p:cNvPr id="12" name="Text 10"/>
          <p:cNvSpPr/>
          <p:nvPr/>
        </p:nvSpPr>
        <p:spPr>
          <a:xfrm>
            <a:off x="6385560" y="1686558"/>
            <a:ext cx="49498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09"/>
                </a:solidFill>
                <a:latin typeface="Arial" pitchFamily="34" charset="0"/>
                <a:ea typeface="Arial" pitchFamily="34" charset="-122"/>
                <a:cs typeface="Arial" pitchFamily="34" charset="-120"/>
              </a:rPr>
              <a:t>WHAT LOKI LOG DOES NOT DO</a:t>
            </a:r>
            <a:endParaRPr lang="en-US" sz="1200" dirty="0"/>
          </a:p>
        </p:txBody>
      </p:sp>
      <p:sp>
        <p:nvSpPr>
          <p:cNvPr id="13" name="Text 11"/>
          <p:cNvSpPr/>
          <p:nvPr/>
        </p:nvSpPr>
        <p:spPr>
          <a:xfrm>
            <a:off x="6385560" y="1988827"/>
            <a:ext cx="494985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Walk commit ancestry from HEAD</a:t>
            </a:r>
            <a:endParaRPr lang="en-US" sz="1600" dirty="0"/>
          </a:p>
        </p:txBody>
      </p:sp>
      <p:sp>
        <p:nvSpPr>
          <p:cNvPr id="14" name="Text 12"/>
          <p:cNvSpPr/>
          <p:nvPr/>
        </p:nvSpPr>
        <p:spPr>
          <a:xfrm>
            <a:off x="6385560" y="2321558"/>
            <a:ext cx="494985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5568"/>
                </a:solidFill>
                <a:latin typeface="Arial" pitchFamily="34" charset="0"/>
                <a:ea typeface="Arial" pitchFamily="34" charset="-122"/>
                <a:cs typeface="Arial" pitchFamily="34" charset="-120"/>
              </a:rPr>
              <a:t>It does not follow parent commit IDs backwards through the history graph.</a:t>
            </a:r>
            <a:endParaRPr lang="en-US" sz="1400" dirty="0"/>
          </a:p>
        </p:txBody>
      </p:sp>
      <p:sp>
        <p:nvSpPr>
          <p:cNvPr id="15" name="Text 13"/>
          <p:cNvSpPr/>
          <p:nvPr/>
        </p:nvSpPr>
        <p:spPr>
          <a:xfrm>
            <a:off x="6391910" y="2879092"/>
            <a:ext cx="607139" cy="365760"/>
          </a:xfrm>
          <a:prstGeom prst="roundRect">
            <a:avLst>
              <a:gd name="adj" fmla="val 15625"/>
            </a:avLst>
          </a:prstGeom>
          <a:solidFill>
            <a:srgbClr val="F3F8F5"/>
          </a:solidFill>
          <a:ln w="12700">
            <a:solidFill>
              <a:srgbClr val="9DB5A9"/>
            </a:solidFill>
            <a:prstDash val="dash"/>
          </a:ln>
        </p:spPr>
        <p:txBody>
          <a:bodyPr wrap="none" lIns="0" tIns="0" rIns="0" bIns="0" rtlCol="0" anchor="ctr">
            <a:normAutofit/>
          </a:bodyPr>
          <a:lstStyle/>
          <a:p>
            <a:pPr marL="0" indent="0" algn="ctr">
              <a:lnSpc>
                <a:spcPts val="1820"/>
              </a:lnSpc>
              <a:buNone/>
            </a:pPr>
            <a:r>
              <a:rPr lang="en-US" sz="1300" dirty="0">
                <a:solidFill>
                  <a:srgbClr val="4A5568"/>
                </a:solidFill>
                <a:latin typeface="Courier New" pitchFamily="49" charset="0"/>
                <a:ea typeface="Courier New" pitchFamily="49" charset="-122"/>
                <a:cs typeface="Courier New" pitchFamily="49" charset="-120"/>
              </a:rPr>
              <a:t>HEAD</a:t>
            </a:r>
            <a:endParaRPr lang="en-US" sz="1300" dirty="0"/>
          </a:p>
        </p:txBody>
      </p:sp>
      <p:pic>
        <p:nvPicPr>
          <p:cNvPr id="16" name="Image 0" descr="arrow-right"/>
          <p:cNvPicPr>
            <a:picLocks noChangeAspect="1"/>
          </p:cNvPicPr>
          <p:nvPr/>
        </p:nvPicPr>
        <p:blipFill>
          <a:blip r:embed="rId3"/>
          <a:srcRect/>
          <a:stretch/>
        </p:blipFill>
        <p:spPr>
          <a:xfrm>
            <a:off x="7068900" y="2985777"/>
            <a:ext cx="254000" cy="152400"/>
          </a:xfrm>
          <a:prstGeom prst="rect">
            <a:avLst/>
          </a:prstGeom>
        </p:spPr>
      </p:pic>
      <p:sp>
        <p:nvSpPr>
          <p:cNvPr id="17" name="Text 14"/>
          <p:cNvSpPr/>
          <p:nvPr/>
        </p:nvSpPr>
        <p:spPr>
          <a:xfrm>
            <a:off x="7392750" y="2879092"/>
            <a:ext cx="805339" cy="365760"/>
          </a:xfrm>
          <a:prstGeom prst="roundRect">
            <a:avLst>
              <a:gd name="adj" fmla="val 15625"/>
            </a:avLst>
          </a:prstGeom>
          <a:solidFill>
            <a:srgbClr val="F3F8F5"/>
          </a:solidFill>
          <a:ln w="12700">
            <a:solidFill>
              <a:srgbClr val="9DB5A9"/>
            </a:solidFill>
            <a:prstDash val="dash"/>
          </a:ln>
        </p:spPr>
        <p:txBody>
          <a:bodyPr wrap="none" lIns="0" tIns="0" rIns="0" bIns="0" rtlCol="0" anchor="ctr">
            <a:normAutofit/>
          </a:bodyPr>
          <a:lstStyle/>
          <a:p>
            <a:pPr marL="0" indent="0" algn="ctr">
              <a:lnSpc>
                <a:spcPts val="1820"/>
              </a:lnSpc>
              <a:buNone/>
            </a:pPr>
            <a:r>
              <a:rPr lang="en-US" sz="1300" dirty="0">
                <a:solidFill>
                  <a:srgbClr val="4A5568"/>
                </a:solidFill>
                <a:latin typeface="Courier New" pitchFamily="49" charset="0"/>
                <a:ea typeface="Courier New" pitchFamily="49" charset="-122"/>
                <a:cs typeface="Courier New" pitchFamily="49" charset="-120"/>
              </a:rPr>
              <a:t>commit</a:t>
            </a:r>
            <a:endParaRPr lang="en-US" sz="1300" dirty="0"/>
          </a:p>
        </p:txBody>
      </p:sp>
      <p:pic>
        <p:nvPicPr>
          <p:cNvPr id="18" name="Image 1" descr="arrow-right"/>
          <p:cNvPicPr>
            <a:picLocks noChangeAspect="1"/>
          </p:cNvPicPr>
          <p:nvPr/>
        </p:nvPicPr>
        <p:blipFill>
          <a:blip r:embed="rId3"/>
          <a:srcRect/>
          <a:stretch/>
        </p:blipFill>
        <p:spPr>
          <a:xfrm>
            <a:off x="8267938" y="2985777"/>
            <a:ext cx="254000" cy="152400"/>
          </a:xfrm>
          <a:prstGeom prst="rect">
            <a:avLst/>
          </a:prstGeom>
        </p:spPr>
      </p:pic>
      <p:sp>
        <p:nvSpPr>
          <p:cNvPr id="19" name="Text 15"/>
          <p:cNvSpPr/>
          <p:nvPr/>
        </p:nvSpPr>
        <p:spPr>
          <a:xfrm>
            <a:off x="8591788" y="2879092"/>
            <a:ext cx="805339" cy="365760"/>
          </a:xfrm>
          <a:prstGeom prst="roundRect">
            <a:avLst>
              <a:gd name="adj" fmla="val 15625"/>
            </a:avLst>
          </a:prstGeom>
          <a:solidFill>
            <a:srgbClr val="F3F8F5"/>
          </a:solidFill>
          <a:ln w="12700">
            <a:solidFill>
              <a:srgbClr val="9DB5A9"/>
            </a:solidFill>
            <a:prstDash val="dash"/>
          </a:ln>
        </p:spPr>
        <p:txBody>
          <a:bodyPr wrap="none" lIns="1" tIns="0" rIns="0" bIns="0" rtlCol="0" anchor="ctr">
            <a:normAutofit/>
          </a:bodyPr>
          <a:lstStyle/>
          <a:p>
            <a:pPr marL="0" indent="0" algn="ctr">
              <a:lnSpc>
                <a:spcPts val="1820"/>
              </a:lnSpc>
              <a:buNone/>
            </a:pPr>
            <a:r>
              <a:rPr lang="en-US" sz="1300" dirty="0">
                <a:solidFill>
                  <a:srgbClr val="4A5568"/>
                </a:solidFill>
                <a:latin typeface="Courier New" pitchFamily="49" charset="0"/>
                <a:ea typeface="Courier New" pitchFamily="49" charset="-122"/>
                <a:cs typeface="Courier New" pitchFamily="49" charset="-120"/>
              </a:rPr>
              <a:t>parent</a:t>
            </a:r>
            <a:endParaRPr lang="en-US" sz="1300" dirty="0"/>
          </a:p>
        </p:txBody>
      </p:sp>
      <p:sp>
        <p:nvSpPr>
          <p:cNvPr id="20" name="Text 16"/>
          <p:cNvSpPr/>
          <p:nvPr/>
        </p:nvSpPr>
        <p:spPr>
          <a:xfrm>
            <a:off x="6385560" y="3340100"/>
            <a:ext cx="49498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Not used by loki log.</a:t>
            </a:r>
            <a:endParaRPr lang="en-US" sz="1200" dirty="0"/>
          </a:p>
        </p:txBody>
      </p:sp>
      <p:sp>
        <p:nvSpPr>
          <p:cNvPr id="21" name="Text 17"/>
          <p:cNvSpPr/>
          <p:nvPr/>
        </p:nvSpPr>
        <p:spPr>
          <a:xfrm>
            <a:off x="812800" y="422402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Commit objects still record parent commit IDs; loki log simply does not use them to build its output.</a:t>
            </a:r>
            <a:endParaRPr lang="en-US" sz="1200" dirty="0"/>
          </a:p>
        </p:txBody>
      </p:sp>
      <p:pic>
        <p:nvPicPr>
          <p:cNvPr id="22"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3" name="Text 18"/>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4" name="Text 19"/>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201A"/>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FD6A0"/>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F8F5"/>
                </a:solidFill>
                <a:latin typeface="Arial" pitchFamily="34" charset="0"/>
                <a:ea typeface="Arial" pitchFamily="34" charset="-122"/>
                <a:cs typeface="Arial" pitchFamily="34" charset="-120"/>
              </a:rPr>
              <a:t>Basic Loki Workflow</a:t>
            </a:r>
            <a:endParaRPr lang="en-US" sz="3200" dirty="0"/>
          </a:p>
        </p:txBody>
      </p:sp>
      <p:sp>
        <p:nvSpPr>
          <p:cNvPr id="4" name="Shape 2"/>
          <p:cNvSpPr/>
          <p:nvPr/>
        </p:nvSpPr>
        <p:spPr>
          <a:xfrm>
            <a:off x="819150" y="1530350"/>
            <a:ext cx="5702300" cy="2611120"/>
          </a:xfrm>
          <a:prstGeom prst="roundRect">
            <a:avLst>
              <a:gd name="adj" fmla="val 3648"/>
            </a:avLst>
          </a:prstGeom>
          <a:solidFill>
            <a:srgbClr val="0F3329"/>
          </a:solidFill>
          <a:ln w="12700">
            <a:solidFill>
              <a:srgbClr val="1F5244"/>
            </a:solidFill>
            <a:prstDash val="solid"/>
          </a:ln>
        </p:spPr>
      </p:sp>
      <p:sp>
        <p:nvSpPr>
          <p:cNvPr id="5" name="Text 3"/>
          <p:cNvSpPr/>
          <p:nvPr/>
        </p:nvSpPr>
        <p:spPr>
          <a:xfrm>
            <a:off x="1026160" y="17119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init</a:t>
            </a:r>
            <a:endParaRPr lang="en-US" sz="1400" dirty="0"/>
          </a:p>
        </p:txBody>
      </p:sp>
      <p:sp>
        <p:nvSpPr>
          <p:cNvPr id="6" name="Text 4"/>
          <p:cNvSpPr/>
          <p:nvPr/>
        </p:nvSpPr>
        <p:spPr>
          <a:xfrm>
            <a:off x="1026160" y="20421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echo "hello" &gt; notes.txt</a:t>
            </a:r>
            <a:endParaRPr lang="en-US" sz="1400" dirty="0"/>
          </a:p>
        </p:txBody>
      </p:sp>
      <p:sp>
        <p:nvSpPr>
          <p:cNvPr id="7" name="Text 5"/>
          <p:cNvSpPr/>
          <p:nvPr/>
        </p:nvSpPr>
        <p:spPr>
          <a:xfrm>
            <a:off x="1026160" y="23723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add notes.txt</a:t>
            </a:r>
            <a:endParaRPr lang="en-US" sz="1400" dirty="0"/>
          </a:p>
        </p:txBody>
      </p:sp>
      <p:sp>
        <p:nvSpPr>
          <p:cNvPr id="8" name="Text 6"/>
          <p:cNvSpPr/>
          <p:nvPr/>
        </p:nvSpPr>
        <p:spPr>
          <a:xfrm>
            <a:off x="1026160" y="27025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status</a:t>
            </a:r>
            <a:endParaRPr lang="en-US" sz="1400" dirty="0"/>
          </a:p>
        </p:txBody>
      </p:sp>
      <p:sp>
        <p:nvSpPr>
          <p:cNvPr id="9" name="Text 7"/>
          <p:cNvSpPr/>
          <p:nvPr/>
        </p:nvSpPr>
        <p:spPr>
          <a:xfrm>
            <a:off x="1026160" y="30327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diff</a:t>
            </a:r>
            <a:endParaRPr lang="en-US" sz="1400" dirty="0"/>
          </a:p>
        </p:txBody>
      </p:sp>
      <p:sp>
        <p:nvSpPr>
          <p:cNvPr id="10" name="Text 8"/>
          <p:cNvSpPr/>
          <p:nvPr/>
        </p:nvSpPr>
        <p:spPr>
          <a:xfrm>
            <a:off x="1026160" y="33629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commit -m "Add notes"</a:t>
            </a:r>
            <a:endParaRPr lang="en-US" sz="1400" dirty="0"/>
          </a:p>
        </p:txBody>
      </p:sp>
      <p:sp>
        <p:nvSpPr>
          <p:cNvPr id="11" name="Text 9"/>
          <p:cNvSpPr/>
          <p:nvPr/>
        </p:nvSpPr>
        <p:spPr>
          <a:xfrm>
            <a:off x="1026160" y="3693158"/>
            <a:ext cx="5446928"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a:t>
            </a:r>
            <a:r>
              <a:rPr lang="en-US" sz="1400" dirty="0">
                <a:solidFill>
                  <a:srgbClr val="E6F2EC"/>
                </a:solidFill>
                <a:latin typeface="Courier New" pitchFamily="49" charset="0"/>
                <a:ea typeface="Courier New" pitchFamily="49" charset="-122"/>
                <a:cs typeface="Courier New" pitchFamily="49" charset="-120"/>
              </a:rPr>
              <a:t> loki log</a:t>
            </a:r>
            <a:endParaRPr lang="en-US" sz="1400" dirty="0"/>
          </a:p>
        </p:txBody>
      </p:sp>
      <p:sp>
        <p:nvSpPr>
          <p:cNvPr id="12" name="Text 10"/>
          <p:cNvSpPr/>
          <p:nvPr/>
        </p:nvSpPr>
        <p:spPr>
          <a:xfrm>
            <a:off x="6731000" y="1544327"/>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1</a:t>
            </a:r>
            <a:endParaRPr lang="en-US" sz="1400" dirty="0"/>
          </a:p>
        </p:txBody>
      </p:sp>
      <p:sp>
        <p:nvSpPr>
          <p:cNvPr id="13" name="Text 11"/>
          <p:cNvSpPr/>
          <p:nvPr/>
        </p:nvSpPr>
        <p:spPr>
          <a:xfrm>
            <a:off x="6939359" y="1524000"/>
            <a:ext cx="212283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Initialize the repository</a:t>
            </a:r>
            <a:endParaRPr lang="en-US" sz="1400" dirty="0"/>
          </a:p>
        </p:txBody>
      </p:sp>
      <p:sp>
        <p:nvSpPr>
          <p:cNvPr id="14" name="Text 12"/>
          <p:cNvSpPr/>
          <p:nvPr/>
        </p:nvSpPr>
        <p:spPr>
          <a:xfrm>
            <a:off x="6731000" y="1889758"/>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2</a:t>
            </a:r>
            <a:endParaRPr lang="en-US" sz="1400" dirty="0"/>
          </a:p>
        </p:txBody>
      </p:sp>
      <p:sp>
        <p:nvSpPr>
          <p:cNvPr id="15" name="Text 13"/>
          <p:cNvSpPr/>
          <p:nvPr/>
        </p:nvSpPr>
        <p:spPr>
          <a:xfrm>
            <a:off x="6939359" y="1869442"/>
            <a:ext cx="208711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Create or modify a file</a:t>
            </a:r>
            <a:endParaRPr lang="en-US" sz="1400" dirty="0"/>
          </a:p>
        </p:txBody>
      </p:sp>
      <p:sp>
        <p:nvSpPr>
          <p:cNvPr id="16" name="Text 14"/>
          <p:cNvSpPr/>
          <p:nvPr/>
        </p:nvSpPr>
        <p:spPr>
          <a:xfrm>
            <a:off x="6731000" y="2235200"/>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3</a:t>
            </a:r>
            <a:endParaRPr lang="en-US" sz="1400" dirty="0"/>
          </a:p>
        </p:txBody>
      </p:sp>
      <p:sp>
        <p:nvSpPr>
          <p:cNvPr id="17" name="Text 15"/>
          <p:cNvSpPr/>
          <p:nvPr/>
        </p:nvSpPr>
        <p:spPr>
          <a:xfrm>
            <a:off x="6939359" y="2214885"/>
            <a:ext cx="157753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Stage it with add</a:t>
            </a:r>
            <a:endParaRPr lang="en-US" sz="1400" dirty="0"/>
          </a:p>
        </p:txBody>
      </p:sp>
      <p:sp>
        <p:nvSpPr>
          <p:cNvPr id="18" name="Text 16"/>
          <p:cNvSpPr/>
          <p:nvPr/>
        </p:nvSpPr>
        <p:spPr>
          <a:xfrm>
            <a:off x="6731000" y="2580642"/>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4</a:t>
            </a:r>
            <a:endParaRPr lang="en-US" sz="1400" dirty="0"/>
          </a:p>
        </p:txBody>
      </p:sp>
      <p:sp>
        <p:nvSpPr>
          <p:cNvPr id="19" name="Text 17"/>
          <p:cNvSpPr/>
          <p:nvPr/>
        </p:nvSpPr>
        <p:spPr>
          <a:xfrm>
            <a:off x="6939359" y="2560327"/>
            <a:ext cx="17667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Review with status</a:t>
            </a:r>
            <a:endParaRPr lang="en-US" sz="1400" dirty="0"/>
          </a:p>
        </p:txBody>
      </p:sp>
      <p:sp>
        <p:nvSpPr>
          <p:cNvPr id="20" name="Text 18"/>
          <p:cNvSpPr/>
          <p:nvPr/>
        </p:nvSpPr>
        <p:spPr>
          <a:xfrm>
            <a:off x="6731000" y="2926085"/>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5</a:t>
            </a:r>
            <a:endParaRPr lang="en-US" sz="1400" dirty="0"/>
          </a:p>
        </p:txBody>
      </p:sp>
      <p:sp>
        <p:nvSpPr>
          <p:cNvPr id="21" name="Text 19"/>
          <p:cNvSpPr/>
          <p:nvPr/>
        </p:nvSpPr>
        <p:spPr>
          <a:xfrm>
            <a:off x="6939359" y="2905758"/>
            <a:ext cx="41936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Compare with diff (--staged: index vs HEAD)</a:t>
            </a:r>
            <a:endParaRPr lang="en-US" sz="1400" dirty="0"/>
          </a:p>
        </p:txBody>
      </p:sp>
      <p:sp>
        <p:nvSpPr>
          <p:cNvPr id="22" name="Text 20"/>
          <p:cNvSpPr/>
          <p:nvPr/>
        </p:nvSpPr>
        <p:spPr>
          <a:xfrm>
            <a:off x="6731000" y="3271527"/>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6</a:t>
            </a:r>
            <a:endParaRPr lang="en-US" sz="1400" dirty="0"/>
          </a:p>
        </p:txBody>
      </p:sp>
      <p:sp>
        <p:nvSpPr>
          <p:cNvPr id="23" name="Text 21"/>
          <p:cNvSpPr/>
          <p:nvPr/>
        </p:nvSpPr>
        <p:spPr>
          <a:xfrm>
            <a:off x="6939359" y="3251200"/>
            <a:ext cx="227657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Commit with a message</a:t>
            </a:r>
            <a:endParaRPr lang="en-US" sz="1400" dirty="0"/>
          </a:p>
        </p:txBody>
      </p:sp>
      <p:sp>
        <p:nvSpPr>
          <p:cNvPr id="24" name="Text 22"/>
          <p:cNvSpPr/>
          <p:nvPr/>
        </p:nvSpPr>
        <p:spPr>
          <a:xfrm>
            <a:off x="6731000" y="3616958"/>
            <a:ext cx="15755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Courier New" pitchFamily="49" charset="0"/>
                <a:ea typeface="Courier New" pitchFamily="49" charset="-122"/>
                <a:cs typeface="Courier New" pitchFamily="49" charset="-120"/>
              </a:rPr>
              <a:t>7</a:t>
            </a:r>
            <a:endParaRPr lang="en-US" sz="1400" dirty="0"/>
          </a:p>
        </p:txBody>
      </p:sp>
      <p:sp>
        <p:nvSpPr>
          <p:cNvPr id="25" name="Text 23"/>
          <p:cNvSpPr/>
          <p:nvPr/>
        </p:nvSpPr>
        <p:spPr>
          <a:xfrm>
            <a:off x="6939359" y="3596642"/>
            <a:ext cx="21113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2EC"/>
                </a:solidFill>
                <a:latin typeface="Arial" pitchFamily="34" charset="0"/>
                <a:ea typeface="Arial" pitchFamily="34" charset="-122"/>
                <a:cs typeface="Arial" pitchFamily="34" charset="-120"/>
              </a:rPr>
              <a:t>Read the recorded log</a:t>
            </a:r>
            <a:endParaRPr lang="en-US" sz="1400" dirty="0"/>
          </a:p>
        </p:txBody>
      </p:sp>
      <p:sp>
        <p:nvSpPr>
          <p:cNvPr id="26" name="Text 24"/>
          <p:cNvSpPr/>
          <p:nvPr/>
        </p:nvSpPr>
        <p:spPr>
          <a:xfrm>
            <a:off x="812800" y="435102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Command output is not shown: the supplied documentation does not give exact messages. notes.txt is an example file.</a:t>
            </a:r>
            <a:endParaRPr lang="en-US" sz="1200" dirty="0"/>
          </a:p>
        </p:txBody>
      </p:sp>
      <p:pic>
        <p:nvPicPr>
          <p:cNvPr id="27"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28" name="Text 25"/>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9" name="Text 26"/>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8C8BB"/>
                </a:solidFill>
                <a:latin typeface="Arial" pitchFamily="34" charset="0"/>
                <a:ea typeface="Arial" pitchFamily="34" charset="-122"/>
                <a:cs typeface="Arial" pitchFamily="34" charset="-120"/>
              </a:rPr>
              <a:t>Loki VCS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File Staging Workflow</a:t>
            </a:r>
            <a:endParaRPr lang="en-US" sz="3200" dirty="0"/>
          </a:p>
        </p:txBody>
      </p:sp>
      <p:sp>
        <p:nvSpPr>
          <p:cNvPr id="4" name="Shape 2"/>
          <p:cNvSpPr/>
          <p:nvPr/>
        </p:nvSpPr>
        <p:spPr>
          <a:xfrm>
            <a:off x="819150" y="1530350"/>
            <a:ext cx="3187700" cy="1346200"/>
          </a:xfrm>
          <a:prstGeom prst="roundRect">
            <a:avLst>
              <a:gd name="adj" fmla="val 7075"/>
            </a:avLst>
          </a:prstGeom>
          <a:solidFill>
            <a:srgbClr val="FBFCFE"/>
          </a:solidFill>
          <a:ln w="12700">
            <a:solidFill>
              <a:srgbClr val="C7D8CE"/>
            </a:solidFill>
            <a:prstDash val="solid"/>
          </a:ln>
        </p:spPr>
      </p:sp>
      <p:sp>
        <p:nvSpPr>
          <p:cNvPr id="5" name="Text 3"/>
          <p:cNvSpPr/>
          <p:nvPr/>
        </p:nvSpPr>
        <p:spPr>
          <a:xfrm>
            <a:off x="975360" y="1673858"/>
            <a:ext cx="2961539"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1</a:t>
            </a:r>
            <a:endParaRPr lang="en-US" sz="1600" dirty="0"/>
          </a:p>
        </p:txBody>
      </p:sp>
      <p:sp>
        <p:nvSpPr>
          <p:cNvPr id="6" name="Text 4"/>
          <p:cNvSpPr/>
          <p:nvPr/>
        </p:nvSpPr>
        <p:spPr>
          <a:xfrm>
            <a:off x="975360" y="2009142"/>
            <a:ext cx="296153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Paths are given</a:t>
            </a:r>
            <a:endParaRPr lang="en-US" sz="1600" dirty="0"/>
          </a:p>
        </p:txBody>
      </p:sp>
      <p:sp>
        <p:nvSpPr>
          <p:cNvPr id="7" name="Text 5"/>
          <p:cNvSpPr/>
          <p:nvPr/>
        </p:nvSpPr>
        <p:spPr>
          <a:xfrm>
            <a:off x="975360" y="2303785"/>
            <a:ext cx="2961539"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loki add takes one or more paths.</a:t>
            </a:r>
            <a:endParaRPr lang="en-US" sz="1300" dirty="0"/>
          </a:p>
        </p:txBody>
      </p:sp>
      <p:pic>
        <p:nvPicPr>
          <p:cNvPr id="8" name="Image 0" descr="arrow-right"/>
          <p:cNvPicPr>
            <a:picLocks noChangeAspect="1"/>
          </p:cNvPicPr>
          <p:nvPr/>
        </p:nvPicPr>
        <p:blipFill>
          <a:blip r:embed="rId3"/>
          <a:srcRect/>
          <a:stretch/>
        </p:blipFill>
        <p:spPr>
          <a:xfrm>
            <a:off x="4114800" y="2120900"/>
            <a:ext cx="279400" cy="165100"/>
          </a:xfrm>
          <a:prstGeom prst="rect">
            <a:avLst/>
          </a:prstGeom>
        </p:spPr>
      </p:pic>
      <p:sp>
        <p:nvSpPr>
          <p:cNvPr id="9" name="Shape 6"/>
          <p:cNvSpPr/>
          <p:nvPr/>
        </p:nvSpPr>
        <p:spPr>
          <a:xfrm>
            <a:off x="4502150" y="1530350"/>
            <a:ext cx="3187700" cy="1346200"/>
          </a:xfrm>
          <a:prstGeom prst="roundRect">
            <a:avLst>
              <a:gd name="adj" fmla="val 7075"/>
            </a:avLst>
          </a:prstGeom>
          <a:solidFill>
            <a:srgbClr val="FBFCFE"/>
          </a:solidFill>
          <a:ln w="12700">
            <a:solidFill>
              <a:srgbClr val="C7D8CE"/>
            </a:solidFill>
            <a:prstDash val="solid"/>
          </a:ln>
        </p:spPr>
      </p:sp>
      <p:sp>
        <p:nvSpPr>
          <p:cNvPr id="10" name="Text 7"/>
          <p:cNvSpPr/>
          <p:nvPr/>
        </p:nvSpPr>
        <p:spPr>
          <a:xfrm>
            <a:off x="4658360" y="1673858"/>
            <a:ext cx="2961539"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2</a:t>
            </a:r>
            <a:endParaRPr lang="en-US" sz="1600" dirty="0"/>
          </a:p>
        </p:txBody>
      </p:sp>
      <p:sp>
        <p:nvSpPr>
          <p:cNvPr id="11" name="Text 8"/>
          <p:cNvSpPr/>
          <p:nvPr/>
        </p:nvSpPr>
        <p:spPr>
          <a:xfrm>
            <a:off x="4658360" y="2009142"/>
            <a:ext cx="296153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Blob is stored</a:t>
            </a:r>
            <a:endParaRPr lang="en-US" sz="1600" dirty="0"/>
          </a:p>
        </p:txBody>
      </p:sp>
      <p:sp>
        <p:nvSpPr>
          <p:cNvPr id="12" name="Text 9"/>
          <p:cNvSpPr/>
          <p:nvPr/>
        </p:nvSpPr>
        <p:spPr>
          <a:xfrm>
            <a:off x="4658360" y="2303785"/>
            <a:ext cx="2961539"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Identical bytes produce the same object ID.</a:t>
            </a:r>
            <a:endParaRPr lang="en-US" sz="1300" dirty="0"/>
          </a:p>
        </p:txBody>
      </p:sp>
      <p:pic>
        <p:nvPicPr>
          <p:cNvPr id="13" name="Image 1" descr="arrow-right"/>
          <p:cNvPicPr>
            <a:picLocks noChangeAspect="1"/>
          </p:cNvPicPr>
          <p:nvPr/>
        </p:nvPicPr>
        <p:blipFill>
          <a:blip r:embed="rId3"/>
          <a:srcRect/>
          <a:stretch/>
        </p:blipFill>
        <p:spPr>
          <a:xfrm>
            <a:off x="7797800" y="2120900"/>
            <a:ext cx="279400" cy="165100"/>
          </a:xfrm>
          <a:prstGeom prst="rect">
            <a:avLst/>
          </a:prstGeom>
        </p:spPr>
      </p:pic>
      <p:sp>
        <p:nvSpPr>
          <p:cNvPr id="14" name="Shape 10"/>
          <p:cNvSpPr/>
          <p:nvPr/>
        </p:nvSpPr>
        <p:spPr>
          <a:xfrm>
            <a:off x="8185150" y="1530350"/>
            <a:ext cx="3187700" cy="1346200"/>
          </a:xfrm>
          <a:prstGeom prst="roundRect">
            <a:avLst>
              <a:gd name="adj" fmla="val 7075"/>
            </a:avLst>
          </a:prstGeom>
          <a:solidFill>
            <a:srgbClr val="FBFCFE"/>
          </a:solidFill>
          <a:ln w="12700">
            <a:solidFill>
              <a:srgbClr val="C7D8CE"/>
            </a:solidFill>
            <a:prstDash val="solid"/>
          </a:ln>
        </p:spPr>
      </p:sp>
      <p:sp>
        <p:nvSpPr>
          <p:cNvPr id="15" name="Text 11"/>
          <p:cNvSpPr/>
          <p:nvPr/>
        </p:nvSpPr>
        <p:spPr>
          <a:xfrm>
            <a:off x="8341360" y="1673858"/>
            <a:ext cx="2961539"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7B54"/>
                </a:solidFill>
                <a:latin typeface="Courier New" pitchFamily="49" charset="0"/>
                <a:ea typeface="Courier New" pitchFamily="49" charset="-122"/>
                <a:cs typeface="Courier New" pitchFamily="49" charset="-120"/>
              </a:rPr>
              <a:t>3</a:t>
            </a:r>
            <a:endParaRPr lang="en-US" sz="1600" dirty="0"/>
          </a:p>
        </p:txBody>
      </p:sp>
      <p:sp>
        <p:nvSpPr>
          <p:cNvPr id="16" name="Text 12"/>
          <p:cNvSpPr/>
          <p:nvPr/>
        </p:nvSpPr>
        <p:spPr>
          <a:xfrm>
            <a:off x="8341360" y="2009142"/>
            <a:ext cx="296153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Index is updated</a:t>
            </a:r>
            <a:endParaRPr lang="en-US" sz="1600" dirty="0"/>
          </a:p>
        </p:txBody>
      </p:sp>
      <p:sp>
        <p:nvSpPr>
          <p:cNvPr id="17" name="Text 13"/>
          <p:cNvSpPr/>
          <p:nvPr/>
        </p:nvSpPr>
        <p:spPr>
          <a:xfrm>
            <a:off x="8341360" y="2303785"/>
            <a:ext cx="2961539"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The path maps to the blob hash.</a:t>
            </a:r>
            <a:endParaRPr lang="en-US" sz="1300" dirty="0"/>
          </a:p>
        </p:txBody>
      </p:sp>
      <p:sp>
        <p:nvSpPr>
          <p:cNvPr id="18" name="Shape 14"/>
          <p:cNvSpPr/>
          <p:nvPr/>
        </p:nvSpPr>
        <p:spPr>
          <a:xfrm>
            <a:off x="819150" y="3092450"/>
            <a:ext cx="5194300" cy="1049020"/>
          </a:xfrm>
          <a:prstGeom prst="roundRect">
            <a:avLst>
              <a:gd name="adj" fmla="val 9080"/>
            </a:avLst>
          </a:prstGeom>
          <a:solidFill>
            <a:srgbClr val="FDF0E1"/>
          </a:solidFill>
          <a:ln w="12700">
            <a:solidFill>
              <a:srgbClr val="E8B27A"/>
            </a:solidFill>
            <a:prstDash val="solid"/>
          </a:ln>
        </p:spPr>
      </p:sp>
      <p:sp>
        <p:nvSpPr>
          <p:cNvPr id="19" name="Text 15"/>
          <p:cNvSpPr/>
          <p:nvPr/>
        </p:nvSpPr>
        <p:spPr>
          <a:xfrm>
            <a:off x="1000760" y="3248658"/>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Working-tree modification</a:t>
            </a:r>
            <a:endParaRPr lang="en-US" sz="1600" dirty="0"/>
          </a:p>
        </p:txBody>
      </p:sp>
      <p:sp>
        <p:nvSpPr>
          <p:cNvPr id="20" name="Text 16"/>
          <p:cNvSpPr/>
          <p:nvPr/>
        </p:nvSpPr>
        <p:spPr>
          <a:xfrm>
            <a:off x="1000760" y="3556000"/>
            <a:ext cx="497601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C3410"/>
                </a:solidFill>
                <a:latin typeface="Arial" pitchFamily="34" charset="0"/>
                <a:ea typeface="Arial" pitchFamily="34" charset="-122"/>
                <a:cs typeface="Arial" pitchFamily="34" charset="-120"/>
              </a:rPr>
              <a:t>The file changed on disk. Nothing is staged yet; loki diff compares it with the index.</a:t>
            </a:r>
            <a:endParaRPr lang="en-US" sz="1300" dirty="0"/>
          </a:p>
        </p:txBody>
      </p:sp>
      <p:sp>
        <p:nvSpPr>
          <p:cNvPr id="21" name="Shape 17"/>
          <p:cNvSpPr/>
          <p:nvPr/>
        </p:nvSpPr>
        <p:spPr>
          <a:xfrm>
            <a:off x="6178550" y="3092450"/>
            <a:ext cx="5194300" cy="1049020"/>
          </a:xfrm>
          <a:prstGeom prst="roundRect">
            <a:avLst>
              <a:gd name="adj" fmla="val 9080"/>
            </a:avLst>
          </a:prstGeom>
          <a:solidFill>
            <a:srgbClr val="E0F2EA"/>
          </a:solidFill>
          <a:ln w="12700">
            <a:solidFill>
              <a:srgbClr val="8CCBB0"/>
            </a:solidFill>
            <a:prstDash val="solid"/>
          </a:ln>
        </p:spPr>
      </p:sp>
      <p:sp>
        <p:nvSpPr>
          <p:cNvPr id="22" name="Text 18"/>
          <p:cNvSpPr/>
          <p:nvPr/>
        </p:nvSpPr>
        <p:spPr>
          <a:xfrm>
            <a:off x="6360160" y="3248658"/>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Staged change</a:t>
            </a:r>
            <a:endParaRPr lang="en-US" sz="1600" dirty="0"/>
          </a:p>
        </p:txBody>
      </p:sp>
      <p:sp>
        <p:nvSpPr>
          <p:cNvPr id="23" name="Text 19"/>
          <p:cNvSpPr/>
          <p:nvPr/>
        </p:nvSpPr>
        <p:spPr>
          <a:xfrm>
            <a:off x="6360160" y="3556000"/>
            <a:ext cx="497601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The blob exists and the index points to it; loki diff --staged compares the index with HEAD.</a:t>
            </a:r>
            <a:endParaRPr lang="en-US" sz="1300" dirty="0"/>
          </a:p>
        </p:txBody>
      </p:sp>
      <p:pic>
        <p:nvPicPr>
          <p:cNvPr id="24"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5" name="Text 20"/>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6" name="Text 21"/>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Status and Diff</a:t>
            </a:r>
            <a:endParaRPr lang="en-US" sz="3200" dirty="0"/>
          </a:p>
        </p:txBody>
      </p:sp>
      <p:sp>
        <p:nvSpPr>
          <p:cNvPr id="4" name="Shape 2"/>
          <p:cNvSpPr/>
          <p:nvPr/>
        </p:nvSpPr>
        <p:spPr>
          <a:xfrm>
            <a:off x="819150" y="1530350"/>
            <a:ext cx="2400300" cy="744220"/>
          </a:xfrm>
          <a:prstGeom prst="roundRect">
            <a:avLst>
              <a:gd name="adj" fmla="val 12799"/>
            </a:avLst>
          </a:prstGeom>
          <a:solidFill>
            <a:srgbClr val="FBFCFE"/>
          </a:solidFill>
          <a:ln w="12700">
            <a:solidFill>
              <a:srgbClr val="C7D8CE"/>
            </a:solidFill>
            <a:prstDash val="solid"/>
          </a:ln>
        </p:spPr>
      </p:sp>
      <p:sp>
        <p:nvSpPr>
          <p:cNvPr id="5" name="Text 3"/>
          <p:cNvSpPr/>
          <p:nvPr/>
        </p:nvSpPr>
        <p:spPr>
          <a:xfrm>
            <a:off x="975360" y="1661158"/>
            <a:ext cx="21505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Working tree</a:t>
            </a:r>
            <a:endParaRPr lang="en-US" sz="1600" dirty="0"/>
          </a:p>
        </p:txBody>
      </p:sp>
      <p:sp>
        <p:nvSpPr>
          <p:cNvPr id="6" name="Text 4"/>
          <p:cNvSpPr/>
          <p:nvPr/>
        </p:nvSpPr>
        <p:spPr>
          <a:xfrm>
            <a:off x="975360" y="1930400"/>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files on disk</a:t>
            </a:r>
            <a:endParaRPr lang="en-US" sz="1200" dirty="0"/>
          </a:p>
        </p:txBody>
      </p:sp>
      <p:sp>
        <p:nvSpPr>
          <p:cNvPr id="7" name="Text 5"/>
          <p:cNvSpPr/>
          <p:nvPr/>
        </p:nvSpPr>
        <p:spPr>
          <a:xfrm>
            <a:off x="3563779" y="1694185"/>
            <a:ext cx="987743"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7B54"/>
                </a:solidFill>
                <a:latin typeface="Courier New" pitchFamily="49" charset="0"/>
                <a:ea typeface="Courier New" pitchFamily="49" charset="-122"/>
                <a:cs typeface="Courier New" pitchFamily="49" charset="-120"/>
              </a:rPr>
              <a:t>loki diff</a:t>
            </a:r>
            <a:endParaRPr lang="en-US" sz="1200" dirty="0"/>
          </a:p>
        </p:txBody>
      </p:sp>
      <p:pic>
        <p:nvPicPr>
          <p:cNvPr id="8" name="Image 0" descr="arrow-left"/>
          <p:cNvPicPr>
            <a:picLocks noChangeAspect="1"/>
          </p:cNvPicPr>
          <p:nvPr/>
        </p:nvPicPr>
        <p:blipFill>
          <a:blip r:embed="rId3"/>
          <a:srcRect/>
          <a:stretch/>
        </p:blipFill>
        <p:spPr>
          <a:xfrm>
            <a:off x="3778250" y="1958342"/>
            <a:ext cx="254000" cy="152400"/>
          </a:xfrm>
          <a:prstGeom prst="rect">
            <a:avLst/>
          </a:prstGeom>
        </p:spPr>
      </p:pic>
      <p:pic>
        <p:nvPicPr>
          <p:cNvPr id="9" name="Image 1" descr="arrow-right"/>
          <p:cNvPicPr>
            <a:picLocks noChangeAspect="1"/>
          </p:cNvPicPr>
          <p:nvPr/>
        </p:nvPicPr>
        <p:blipFill>
          <a:blip r:embed="rId4"/>
          <a:srcRect/>
          <a:stretch/>
        </p:blipFill>
        <p:spPr>
          <a:xfrm>
            <a:off x="4083050" y="1958342"/>
            <a:ext cx="254000" cy="152400"/>
          </a:xfrm>
          <a:prstGeom prst="rect">
            <a:avLst/>
          </a:prstGeom>
        </p:spPr>
      </p:pic>
      <p:sp>
        <p:nvSpPr>
          <p:cNvPr id="10" name="Shape 6"/>
          <p:cNvSpPr/>
          <p:nvPr/>
        </p:nvSpPr>
        <p:spPr>
          <a:xfrm>
            <a:off x="4895850" y="1530350"/>
            <a:ext cx="2400300" cy="744220"/>
          </a:xfrm>
          <a:prstGeom prst="roundRect">
            <a:avLst>
              <a:gd name="adj" fmla="val 12799"/>
            </a:avLst>
          </a:prstGeom>
          <a:solidFill>
            <a:srgbClr val="E0F2EA"/>
          </a:solidFill>
          <a:ln w="12700">
            <a:solidFill>
              <a:srgbClr val="8CCBB0"/>
            </a:solidFill>
            <a:prstDash val="solid"/>
          </a:ln>
        </p:spPr>
      </p:sp>
      <p:sp>
        <p:nvSpPr>
          <p:cNvPr id="11" name="Text 7"/>
          <p:cNvSpPr/>
          <p:nvPr/>
        </p:nvSpPr>
        <p:spPr>
          <a:xfrm>
            <a:off x="5052060" y="1661158"/>
            <a:ext cx="21505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Index</a:t>
            </a:r>
            <a:endParaRPr lang="en-US" sz="1600" dirty="0"/>
          </a:p>
        </p:txBody>
      </p:sp>
      <p:sp>
        <p:nvSpPr>
          <p:cNvPr id="12" name="Text 8"/>
          <p:cNvSpPr/>
          <p:nvPr/>
        </p:nvSpPr>
        <p:spPr>
          <a:xfrm>
            <a:off x="5052060" y="1930400"/>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403A"/>
                </a:solidFill>
                <a:latin typeface="Arial" pitchFamily="34" charset="0"/>
                <a:ea typeface="Arial" pitchFamily="34" charset="-122"/>
                <a:cs typeface="Arial" pitchFamily="34" charset="-120"/>
              </a:rPr>
              <a:t>staged: .loki/index</a:t>
            </a:r>
            <a:endParaRPr lang="en-US" sz="1200" dirty="0"/>
          </a:p>
        </p:txBody>
      </p:sp>
      <p:sp>
        <p:nvSpPr>
          <p:cNvPr id="13" name="Text 9"/>
          <p:cNvSpPr/>
          <p:nvPr/>
        </p:nvSpPr>
        <p:spPr>
          <a:xfrm>
            <a:off x="7420935" y="1694185"/>
            <a:ext cx="14267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7B54"/>
                </a:solidFill>
                <a:latin typeface="Courier New" pitchFamily="49" charset="0"/>
                <a:ea typeface="Courier New" pitchFamily="49" charset="-122"/>
                <a:cs typeface="Courier New" pitchFamily="49" charset="-120"/>
              </a:rPr>
              <a:t>diff --staged</a:t>
            </a:r>
            <a:endParaRPr lang="en-US" sz="1200" dirty="0"/>
          </a:p>
        </p:txBody>
      </p:sp>
      <p:pic>
        <p:nvPicPr>
          <p:cNvPr id="14" name="Image 2" descr="arrow-left"/>
          <p:cNvPicPr>
            <a:picLocks noChangeAspect="1"/>
          </p:cNvPicPr>
          <p:nvPr/>
        </p:nvPicPr>
        <p:blipFill>
          <a:blip r:embed="rId3"/>
          <a:srcRect/>
          <a:stretch/>
        </p:blipFill>
        <p:spPr>
          <a:xfrm>
            <a:off x="7854950" y="1958342"/>
            <a:ext cx="254000" cy="152400"/>
          </a:xfrm>
          <a:prstGeom prst="rect">
            <a:avLst/>
          </a:prstGeom>
        </p:spPr>
      </p:pic>
      <p:pic>
        <p:nvPicPr>
          <p:cNvPr id="15" name="Image 3" descr="arrow-right"/>
          <p:cNvPicPr>
            <a:picLocks noChangeAspect="1"/>
          </p:cNvPicPr>
          <p:nvPr/>
        </p:nvPicPr>
        <p:blipFill>
          <a:blip r:embed="rId4"/>
          <a:srcRect/>
          <a:stretch/>
        </p:blipFill>
        <p:spPr>
          <a:xfrm>
            <a:off x="8159750" y="1958342"/>
            <a:ext cx="254000" cy="152400"/>
          </a:xfrm>
          <a:prstGeom prst="rect">
            <a:avLst/>
          </a:prstGeom>
        </p:spPr>
      </p:pic>
      <p:sp>
        <p:nvSpPr>
          <p:cNvPr id="16" name="Shape 10"/>
          <p:cNvSpPr/>
          <p:nvPr/>
        </p:nvSpPr>
        <p:spPr>
          <a:xfrm>
            <a:off x="8966200" y="1534158"/>
            <a:ext cx="2413000" cy="736600"/>
          </a:xfrm>
          <a:prstGeom prst="roundRect">
            <a:avLst>
              <a:gd name="adj" fmla="val 13793"/>
            </a:avLst>
          </a:prstGeom>
          <a:solidFill>
            <a:srgbClr val="0F7B54"/>
          </a:solidFill>
          <a:ln/>
        </p:spPr>
      </p:sp>
      <p:sp>
        <p:nvSpPr>
          <p:cNvPr id="17" name="Text 11"/>
          <p:cNvSpPr/>
          <p:nvPr/>
        </p:nvSpPr>
        <p:spPr>
          <a:xfrm>
            <a:off x="9118600" y="1661158"/>
            <a:ext cx="21714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8F5"/>
                </a:solidFill>
                <a:latin typeface="Arial" pitchFamily="34" charset="0"/>
                <a:ea typeface="Arial" pitchFamily="34" charset="-122"/>
                <a:cs typeface="Arial" pitchFamily="34" charset="-120"/>
              </a:rPr>
              <a:t>HEAD</a:t>
            </a:r>
            <a:endParaRPr lang="en-US" sz="1600" dirty="0"/>
          </a:p>
        </p:txBody>
      </p:sp>
      <p:sp>
        <p:nvSpPr>
          <p:cNvPr id="18" name="Text 12"/>
          <p:cNvSpPr/>
          <p:nvPr/>
        </p:nvSpPr>
        <p:spPr>
          <a:xfrm>
            <a:off x="9118600" y="1930400"/>
            <a:ext cx="21714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F2EA"/>
                </a:solidFill>
                <a:latin typeface="Arial" pitchFamily="34" charset="0"/>
                <a:ea typeface="Arial" pitchFamily="34" charset="-122"/>
                <a:cs typeface="Arial" pitchFamily="34" charset="-120"/>
              </a:rPr>
              <a:t>last committed state</a:t>
            </a:r>
            <a:endParaRPr lang="en-US" sz="1200" dirty="0"/>
          </a:p>
        </p:txBody>
      </p:sp>
      <p:sp>
        <p:nvSpPr>
          <p:cNvPr id="19" name="Shape 13"/>
          <p:cNvSpPr/>
          <p:nvPr/>
        </p:nvSpPr>
        <p:spPr>
          <a:xfrm>
            <a:off x="812800" y="2484127"/>
            <a:ext cx="5196840" cy="1455420"/>
          </a:xfrm>
          <a:prstGeom prst="roundRect">
            <a:avLst>
              <a:gd name="adj" fmla="val 6981"/>
            </a:avLst>
          </a:prstGeom>
          <a:solidFill>
            <a:srgbClr val="07201A"/>
          </a:solidFill>
          <a:ln/>
        </p:spPr>
      </p:sp>
      <p:sp>
        <p:nvSpPr>
          <p:cNvPr id="20" name="Text 14"/>
          <p:cNvSpPr/>
          <p:nvPr/>
        </p:nvSpPr>
        <p:spPr>
          <a:xfrm>
            <a:off x="990600" y="2636527"/>
            <a:ext cx="498647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A0"/>
                </a:solidFill>
                <a:latin typeface="Arial" pitchFamily="34" charset="0"/>
                <a:ea typeface="Arial" pitchFamily="34" charset="-122"/>
                <a:cs typeface="Arial" pitchFamily="34" charset="-120"/>
              </a:rPr>
              <a:t>ILLUSTRATIVE TEXT-LINE DIFF</a:t>
            </a:r>
            <a:endParaRPr lang="en-US" sz="1200" dirty="0"/>
          </a:p>
        </p:txBody>
      </p:sp>
      <p:sp>
        <p:nvSpPr>
          <p:cNvPr id="21" name="Text 15"/>
          <p:cNvSpPr/>
          <p:nvPr/>
        </p:nvSpPr>
        <p:spPr>
          <a:xfrm>
            <a:off x="990600" y="2913385"/>
            <a:ext cx="4986477"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F59E5B"/>
                </a:solidFill>
                <a:latin typeface="Courier New" pitchFamily="49" charset="0"/>
                <a:ea typeface="Courier New" pitchFamily="49" charset="-122"/>
                <a:cs typeface="Courier New" pitchFamily="49" charset="-120"/>
              </a:rPr>
              <a:t>- version = 1</a:t>
            </a:r>
            <a:endParaRPr lang="en-US" sz="1400" dirty="0"/>
          </a:p>
        </p:txBody>
      </p:sp>
      <p:sp>
        <p:nvSpPr>
          <p:cNvPr id="22" name="Text 16"/>
          <p:cNvSpPr/>
          <p:nvPr/>
        </p:nvSpPr>
        <p:spPr>
          <a:xfrm>
            <a:off x="990600" y="3243585"/>
            <a:ext cx="4986477" cy="292100"/>
          </a:xfrm>
          <a:prstGeom prst="rect">
            <a:avLst/>
          </a:prstGeom>
          <a:noFill/>
          <a:ln/>
        </p:spPr>
        <p:txBody>
          <a:bodyPr wrap="none" lIns="0" tIns="0" rIns="0" bIns="0" rtlCol="0" anchor="t">
            <a:normAutofit/>
          </a:bodyPr>
          <a:lstStyle/>
          <a:p>
            <a:pPr marL="0" indent="0" algn="l">
              <a:lnSpc>
                <a:spcPts val="2100"/>
              </a:lnSpc>
              <a:buNone/>
            </a:pPr>
            <a:r>
              <a:rPr lang="en-US" sz="1400" dirty="0">
                <a:solidFill>
                  <a:srgbClr val="4FD6A0"/>
                </a:solidFill>
                <a:latin typeface="Courier New" pitchFamily="49" charset="0"/>
                <a:ea typeface="Courier New" pitchFamily="49" charset="-122"/>
                <a:cs typeface="Courier New" pitchFamily="49" charset="-120"/>
              </a:rPr>
              <a:t>+ version = 2</a:t>
            </a:r>
            <a:endParaRPr lang="en-US" sz="1400" dirty="0"/>
          </a:p>
        </p:txBody>
      </p:sp>
      <p:sp>
        <p:nvSpPr>
          <p:cNvPr id="23" name="Text 17"/>
          <p:cNvSpPr/>
          <p:nvPr/>
        </p:nvSpPr>
        <p:spPr>
          <a:xfrm>
            <a:off x="990600" y="3573785"/>
            <a:ext cx="49864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Diff utilities generate and format text-line diffs.</a:t>
            </a:r>
            <a:endParaRPr lang="en-US" sz="1200" dirty="0"/>
          </a:p>
        </p:txBody>
      </p:sp>
      <p:sp>
        <p:nvSpPr>
          <p:cNvPr id="24" name="Shape 18"/>
          <p:cNvSpPr/>
          <p:nvPr/>
        </p:nvSpPr>
        <p:spPr>
          <a:xfrm>
            <a:off x="6168390" y="2490477"/>
            <a:ext cx="5204460" cy="1442720"/>
          </a:xfrm>
          <a:prstGeom prst="roundRect">
            <a:avLst>
              <a:gd name="adj" fmla="val 6602"/>
            </a:avLst>
          </a:prstGeom>
          <a:solidFill>
            <a:srgbClr val="FBFCFE"/>
          </a:solidFill>
          <a:ln w="12700">
            <a:solidFill>
              <a:srgbClr val="C7D8CE"/>
            </a:solidFill>
            <a:prstDash val="solid"/>
          </a:ln>
        </p:spPr>
      </p:sp>
      <p:sp>
        <p:nvSpPr>
          <p:cNvPr id="25" name="Text 19"/>
          <p:cNvSpPr/>
          <p:nvPr/>
        </p:nvSpPr>
        <p:spPr>
          <a:xfrm>
            <a:off x="6350000" y="264668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loki status</a:t>
            </a:r>
            <a:endParaRPr lang="en-US" sz="1600" dirty="0"/>
          </a:p>
        </p:txBody>
      </p:sp>
      <p:sp>
        <p:nvSpPr>
          <p:cNvPr id="26" name="Text 20"/>
          <p:cNvSpPr/>
          <p:nvPr/>
        </p:nvSpPr>
        <p:spPr>
          <a:xfrm>
            <a:off x="6350000" y="2954027"/>
            <a:ext cx="498647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Displays tracked, staged, modified, deleted and untracked files for the repository.</a:t>
            </a:r>
            <a:endParaRPr lang="en-US" sz="1300" dirty="0"/>
          </a:p>
        </p:txBody>
      </p:sp>
      <p:pic>
        <p:nvPicPr>
          <p:cNvPr id="27" name="Image 4" descr="Loki logo"/>
          <p:cNvPicPr>
            <a:picLocks noChangeAspect="1"/>
          </p:cNvPicPr>
          <p:nvPr/>
        </p:nvPicPr>
        <p:blipFill>
          <a:blip r:embed="rId5"/>
          <a:srcRect t="88" b="88"/>
          <a:stretch/>
        </p:blipFill>
        <p:spPr>
          <a:xfrm>
            <a:off x="812800" y="6159500"/>
            <a:ext cx="279400" cy="368300"/>
          </a:xfrm>
          <a:prstGeom prst="roundRect">
            <a:avLst>
              <a:gd name="adj" fmla="val 18182"/>
            </a:avLst>
          </a:prstGeom>
        </p:spPr>
      </p:pic>
      <p:sp>
        <p:nvSpPr>
          <p:cNvPr id="28" name="Text 21"/>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9" name="Text 22"/>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Commit and History</a:t>
            </a:r>
            <a:endParaRPr lang="en-US" sz="3200" dirty="0"/>
          </a:p>
        </p:txBody>
      </p:sp>
      <p:sp>
        <p:nvSpPr>
          <p:cNvPr id="4" name="Text 2"/>
          <p:cNvSpPr/>
          <p:nvPr/>
        </p:nvSpPr>
        <p:spPr>
          <a:xfrm>
            <a:off x="812800" y="1524000"/>
            <a:ext cx="3327956" cy="419100"/>
          </a:xfrm>
          <a:prstGeom prst="roundRect">
            <a:avLst>
              <a:gd name="adj" fmla="val 18182"/>
            </a:avLst>
          </a:prstGeom>
          <a:solidFill>
            <a:srgbClr val="07201A"/>
          </a:solidFill>
          <a:ln/>
        </p:spPr>
        <p:txBody>
          <a:bodyPr wrap="none" lIns="0" tIns="0" rIns="0" bIns="0" rtlCol="0" anchor="ctr">
            <a:normAutofit/>
          </a:bodyPr>
          <a:lstStyle/>
          <a:p>
            <a:pPr marL="0" indent="0" algn="ctr">
              <a:lnSpc>
                <a:spcPts val="2100"/>
              </a:lnSpc>
              <a:buNone/>
            </a:pPr>
            <a:r>
              <a:rPr lang="en-US" sz="1500" b="1" dirty="0">
                <a:solidFill>
                  <a:srgbClr val="4FD6A0"/>
                </a:solidFill>
                <a:latin typeface="Courier New" pitchFamily="49" charset="0"/>
                <a:ea typeface="Courier New" pitchFamily="49" charset="-122"/>
                <a:cs typeface="Courier New" pitchFamily="49" charset="-120"/>
              </a:rPr>
              <a:t>$ loki commit -m "message"</a:t>
            </a:r>
            <a:endParaRPr lang="en-US" sz="1500" dirty="0"/>
          </a:p>
        </p:txBody>
      </p:sp>
      <p:sp>
        <p:nvSpPr>
          <p:cNvPr id="5" name="Shape 3"/>
          <p:cNvSpPr/>
          <p:nvPr/>
        </p:nvSpPr>
        <p:spPr>
          <a:xfrm>
            <a:off x="819150" y="2152650"/>
            <a:ext cx="2305050" cy="1287780"/>
          </a:xfrm>
          <a:prstGeom prst="roundRect">
            <a:avLst>
              <a:gd name="adj" fmla="val 7396"/>
            </a:avLst>
          </a:prstGeom>
          <a:solidFill>
            <a:srgbClr val="FBFCFE"/>
          </a:solidFill>
          <a:ln w="12700">
            <a:solidFill>
              <a:srgbClr val="C7D8CE"/>
            </a:solidFill>
            <a:prstDash val="solid"/>
          </a:ln>
        </p:spPr>
      </p:sp>
      <p:sp>
        <p:nvSpPr>
          <p:cNvPr id="6" name="Text 4"/>
          <p:cNvSpPr/>
          <p:nvPr/>
        </p:nvSpPr>
        <p:spPr>
          <a:xfrm>
            <a:off x="962660" y="2283458"/>
            <a:ext cx="207857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1</a:t>
            </a:r>
            <a:endParaRPr lang="en-US" sz="1500" dirty="0"/>
          </a:p>
        </p:txBody>
      </p:sp>
      <p:sp>
        <p:nvSpPr>
          <p:cNvPr id="7" name="Text 5"/>
          <p:cNvSpPr/>
          <p:nvPr/>
        </p:nvSpPr>
        <p:spPr>
          <a:xfrm>
            <a:off x="962660" y="2600958"/>
            <a:ext cx="20785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7201A"/>
                </a:solidFill>
                <a:latin typeface="Arial" pitchFamily="34" charset="0"/>
                <a:ea typeface="Arial" pitchFamily="34" charset="-122"/>
                <a:cs typeface="Arial" pitchFamily="34" charset="-120"/>
              </a:rPr>
              <a:t>Staged content</a:t>
            </a:r>
            <a:endParaRPr lang="en-US" sz="1500" dirty="0"/>
          </a:p>
        </p:txBody>
      </p:sp>
      <p:sp>
        <p:nvSpPr>
          <p:cNvPr id="8" name="Text 6"/>
          <p:cNvSpPr/>
          <p:nvPr/>
        </p:nvSpPr>
        <p:spPr>
          <a:xfrm>
            <a:off x="962660" y="2880358"/>
            <a:ext cx="2078571"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What is in the index.</a:t>
            </a:r>
            <a:endParaRPr lang="en-US" sz="1300" dirty="0"/>
          </a:p>
        </p:txBody>
      </p:sp>
      <p:pic>
        <p:nvPicPr>
          <p:cNvPr id="9" name="Image 0" descr="arrow-right"/>
          <p:cNvPicPr>
            <a:picLocks noChangeAspect="1"/>
          </p:cNvPicPr>
          <p:nvPr/>
        </p:nvPicPr>
        <p:blipFill>
          <a:blip r:embed="rId3"/>
          <a:srcRect/>
          <a:stretch/>
        </p:blipFill>
        <p:spPr>
          <a:xfrm>
            <a:off x="3219450" y="2720342"/>
            <a:ext cx="254000" cy="152400"/>
          </a:xfrm>
          <a:prstGeom prst="rect">
            <a:avLst/>
          </a:prstGeom>
        </p:spPr>
      </p:pic>
      <p:sp>
        <p:nvSpPr>
          <p:cNvPr id="10" name="Shape 7"/>
          <p:cNvSpPr/>
          <p:nvPr/>
        </p:nvSpPr>
        <p:spPr>
          <a:xfrm>
            <a:off x="3568700" y="2152650"/>
            <a:ext cx="2305050" cy="1287780"/>
          </a:xfrm>
          <a:prstGeom prst="roundRect">
            <a:avLst>
              <a:gd name="adj" fmla="val 7396"/>
            </a:avLst>
          </a:prstGeom>
          <a:solidFill>
            <a:srgbClr val="FBFCFE"/>
          </a:solidFill>
          <a:ln w="12700">
            <a:solidFill>
              <a:srgbClr val="C7D8CE"/>
            </a:solidFill>
            <a:prstDash val="solid"/>
          </a:ln>
        </p:spPr>
      </p:sp>
      <p:sp>
        <p:nvSpPr>
          <p:cNvPr id="11" name="Text 8"/>
          <p:cNvSpPr/>
          <p:nvPr/>
        </p:nvSpPr>
        <p:spPr>
          <a:xfrm>
            <a:off x="3712210" y="2283458"/>
            <a:ext cx="207857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2</a:t>
            </a:r>
            <a:endParaRPr lang="en-US" sz="1500" dirty="0"/>
          </a:p>
        </p:txBody>
      </p:sp>
      <p:sp>
        <p:nvSpPr>
          <p:cNvPr id="12" name="Text 9"/>
          <p:cNvSpPr/>
          <p:nvPr/>
        </p:nvSpPr>
        <p:spPr>
          <a:xfrm>
            <a:off x="3712210" y="2600958"/>
            <a:ext cx="20785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7201A"/>
                </a:solidFill>
                <a:latin typeface="Arial" pitchFamily="34" charset="0"/>
                <a:ea typeface="Arial" pitchFamily="34" charset="-122"/>
                <a:cs typeface="Arial" pitchFamily="34" charset="-120"/>
              </a:rPr>
              <a:t>Commit created</a:t>
            </a:r>
            <a:endParaRPr lang="en-US" sz="1500" dirty="0"/>
          </a:p>
        </p:txBody>
      </p:sp>
      <p:sp>
        <p:nvSpPr>
          <p:cNvPr id="13" name="Text 10"/>
          <p:cNvSpPr/>
          <p:nvPr/>
        </p:nvSpPr>
        <p:spPr>
          <a:xfrm>
            <a:off x="3712210" y="2880358"/>
            <a:ext cx="2078571"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Tree ID, parent ID(s), author, message.</a:t>
            </a:r>
            <a:endParaRPr lang="en-US" sz="1300" dirty="0"/>
          </a:p>
        </p:txBody>
      </p:sp>
      <p:pic>
        <p:nvPicPr>
          <p:cNvPr id="14" name="Image 1" descr="arrow-right"/>
          <p:cNvPicPr>
            <a:picLocks noChangeAspect="1"/>
          </p:cNvPicPr>
          <p:nvPr/>
        </p:nvPicPr>
        <p:blipFill>
          <a:blip r:embed="rId3"/>
          <a:srcRect/>
          <a:stretch/>
        </p:blipFill>
        <p:spPr>
          <a:xfrm>
            <a:off x="5969000" y="2720342"/>
            <a:ext cx="254000" cy="152400"/>
          </a:xfrm>
          <a:prstGeom prst="rect">
            <a:avLst/>
          </a:prstGeom>
        </p:spPr>
      </p:pic>
      <p:sp>
        <p:nvSpPr>
          <p:cNvPr id="15" name="Shape 11"/>
          <p:cNvSpPr/>
          <p:nvPr/>
        </p:nvSpPr>
        <p:spPr>
          <a:xfrm>
            <a:off x="6318250" y="2152650"/>
            <a:ext cx="2305050" cy="1287780"/>
          </a:xfrm>
          <a:prstGeom prst="roundRect">
            <a:avLst>
              <a:gd name="adj" fmla="val 7396"/>
            </a:avLst>
          </a:prstGeom>
          <a:solidFill>
            <a:srgbClr val="FBFCFE"/>
          </a:solidFill>
          <a:ln w="12700">
            <a:solidFill>
              <a:srgbClr val="C7D8CE"/>
            </a:solidFill>
            <a:prstDash val="solid"/>
          </a:ln>
        </p:spPr>
      </p:sp>
      <p:sp>
        <p:nvSpPr>
          <p:cNvPr id="16" name="Text 12"/>
          <p:cNvSpPr/>
          <p:nvPr/>
        </p:nvSpPr>
        <p:spPr>
          <a:xfrm>
            <a:off x="6461760" y="2283458"/>
            <a:ext cx="207857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3</a:t>
            </a:r>
            <a:endParaRPr lang="en-US" sz="1500" dirty="0"/>
          </a:p>
        </p:txBody>
      </p:sp>
      <p:sp>
        <p:nvSpPr>
          <p:cNvPr id="17" name="Text 13"/>
          <p:cNvSpPr/>
          <p:nvPr/>
        </p:nvSpPr>
        <p:spPr>
          <a:xfrm>
            <a:off x="6461760" y="2600958"/>
            <a:ext cx="20785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7201A"/>
                </a:solidFill>
                <a:latin typeface="Arial" pitchFamily="34" charset="0"/>
                <a:ea typeface="Arial" pitchFamily="34" charset="-122"/>
                <a:cs typeface="Arial" pitchFamily="34" charset="-120"/>
              </a:rPr>
              <a:t>Objects stored</a:t>
            </a:r>
            <a:endParaRPr lang="en-US" sz="1500" dirty="0"/>
          </a:p>
        </p:txBody>
      </p:sp>
      <p:sp>
        <p:nvSpPr>
          <p:cNvPr id="18" name="Text 14"/>
          <p:cNvSpPr/>
          <p:nvPr/>
        </p:nvSpPr>
        <p:spPr>
          <a:xfrm>
            <a:off x="6461760" y="2880358"/>
            <a:ext cx="2078571"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Commit, tree and blobs in the object store.</a:t>
            </a:r>
            <a:endParaRPr lang="en-US" sz="1300" dirty="0"/>
          </a:p>
        </p:txBody>
      </p:sp>
      <p:pic>
        <p:nvPicPr>
          <p:cNvPr id="19" name="Image 2" descr="arrow-right"/>
          <p:cNvPicPr>
            <a:picLocks noChangeAspect="1"/>
          </p:cNvPicPr>
          <p:nvPr/>
        </p:nvPicPr>
        <p:blipFill>
          <a:blip r:embed="rId3"/>
          <a:srcRect/>
          <a:stretch/>
        </p:blipFill>
        <p:spPr>
          <a:xfrm>
            <a:off x="8718550" y="2720342"/>
            <a:ext cx="254000" cy="152400"/>
          </a:xfrm>
          <a:prstGeom prst="rect">
            <a:avLst/>
          </a:prstGeom>
        </p:spPr>
      </p:pic>
      <p:sp>
        <p:nvSpPr>
          <p:cNvPr id="20" name="Shape 15"/>
          <p:cNvSpPr/>
          <p:nvPr/>
        </p:nvSpPr>
        <p:spPr>
          <a:xfrm>
            <a:off x="9067800" y="2152650"/>
            <a:ext cx="2305050" cy="1287780"/>
          </a:xfrm>
          <a:prstGeom prst="roundRect">
            <a:avLst>
              <a:gd name="adj" fmla="val 7396"/>
            </a:avLst>
          </a:prstGeom>
          <a:solidFill>
            <a:srgbClr val="FBFCFE"/>
          </a:solidFill>
          <a:ln w="12700">
            <a:solidFill>
              <a:srgbClr val="C7D8CE"/>
            </a:solidFill>
            <a:prstDash val="solid"/>
          </a:ln>
        </p:spPr>
      </p:sp>
      <p:sp>
        <p:nvSpPr>
          <p:cNvPr id="21" name="Text 16"/>
          <p:cNvSpPr/>
          <p:nvPr/>
        </p:nvSpPr>
        <p:spPr>
          <a:xfrm>
            <a:off x="9211310" y="2283458"/>
            <a:ext cx="207857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4</a:t>
            </a:r>
            <a:endParaRPr lang="en-US" sz="1500" dirty="0"/>
          </a:p>
        </p:txBody>
      </p:sp>
      <p:sp>
        <p:nvSpPr>
          <p:cNvPr id="22" name="Text 17"/>
          <p:cNvSpPr/>
          <p:nvPr/>
        </p:nvSpPr>
        <p:spPr>
          <a:xfrm>
            <a:off x="9211310" y="2600958"/>
            <a:ext cx="20785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7201A"/>
                </a:solidFill>
                <a:latin typeface="Arial" pitchFamily="34" charset="0"/>
                <a:ea typeface="Arial" pitchFamily="34" charset="-122"/>
                <a:cs typeface="Arial" pitchFamily="34" charset="-120"/>
              </a:rPr>
              <a:t>Commit recorded</a:t>
            </a:r>
            <a:endParaRPr lang="en-US" sz="1500" dirty="0"/>
          </a:p>
        </p:txBody>
      </p:sp>
      <p:sp>
        <p:nvSpPr>
          <p:cNvPr id="23" name="Text 18"/>
          <p:cNvSpPr/>
          <p:nvPr/>
        </p:nvSpPr>
        <p:spPr>
          <a:xfrm>
            <a:off x="9211310" y="2880358"/>
            <a:ext cx="2078571"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In the append-only commits.log.</a:t>
            </a:r>
            <a:endParaRPr lang="en-US" sz="1300" dirty="0"/>
          </a:p>
        </p:txBody>
      </p:sp>
      <p:sp>
        <p:nvSpPr>
          <p:cNvPr id="24" name="Shape 19"/>
          <p:cNvSpPr/>
          <p:nvPr/>
        </p:nvSpPr>
        <p:spPr>
          <a:xfrm>
            <a:off x="819150" y="3656335"/>
            <a:ext cx="5194300" cy="770890"/>
          </a:xfrm>
          <a:prstGeom prst="roundRect">
            <a:avLst>
              <a:gd name="adj" fmla="val 12356"/>
            </a:avLst>
          </a:prstGeom>
          <a:solidFill>
            <a:srgbClr val="E0F2EA"/>
          </a:solidFill>
          <a:ln w="12700">
            <a:solidFill>
              <a:srgbClr val="8CCBB0"/>
            </a:solidFill>
            <a:prstDash val="solid"/>
          </a:ln>
        </p:spPr>
      </p:sp>
      <p:sp>
        <p:nvSpPr>
          <p:cNvPr id="25" name="Text 20"/>
          <p:cNvSpPr/>
          <p:nvPr/>
        </p:nvSpPr>
        <p:spPr>
          <a:xfrm>
            <a:off x="975360" y="3787142"/>
            <a:ext cx="50283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loki log</a:t>
            </a:r>
            <a:endParaRPr lang="en-US" sz="1600" dirty="0"/>
          </a:p>
        </p:txBody>
      </p:sp>
      <p:sp>
        <p:nvSpPr>
          <p:cNvPr id="26" name="Text 21"/>
          <p:cNvSpPr/>
          <p:nvPr/>
        </p:nvSpPr>
        <p:spPr>
          <a:xfrm>
            <a:off x="975360" y="4081785"/>
            <a:ext cx="502833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Displays the repository's recorded commit log.</a:t>
            </a:r>
            <a:endParaRPr lang="en-US" sz="1300" dirty="0"/>
          </a:p>
        </p:txBody>
      </p:sp>
      <p:sp>
        <p:nvSpPr>
          <p:cNvPr id="27" name="Shape 22"/>
          <p:cNvSpPr/>
          <p:nvPr/>
        </p:nvSpPr>
        <p:spPr>
          <a:xfrm>
            <a:off x="6178550" y="3656335"/>
            <a:ext cx="5194300" cy="770890"/>
          </a:xfrm>
          <a:prstGeom prst="roundRect">
            <a:avLst>
              <a:gd name="adj" fmla="val 12356"/>
            </a:avLst>
          </a:prstGeom>
          <a:solidFill>
            <a:srgbClr val="FDF0E1"/>
          </a:solidFill>
          <a:ln w="12700">
            <a:solidFill>
              <a:srgbClr val="E8B27A"/>
            </a:solidFill>
            <a:prstDash val="solid"/>
          </a:ln>
        </p:spPr>
      </p:sp>
      <p:sp>
        <p:nvSpPr>
          <p:cNvPr id="28" name="Text 23"/>
          <p:cNvSpPr/>
          <p:nvPr/>
        </p:nvSpPr>
        <p:spPr>
          <a:xfrm>
            <a:off x="6334760" y="3787142"/>
            <a:ext cx="50283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Not an ancestry walk</a:t>
            </a:r>
            <a:endParaRPr lang="en-US" sz="1600" dirty="0"/>
          </a:p>
        </p:txBody>
      </p:sp>
      <p:sp>
        <p:nvSpPr>
          <p:cNvPr id="29" name="Text 24"/>
          <p:cNvSpPr/>
          <p:nvPr/>
        </p:nvSpPr>
        <p:spPr>
          <a:xfrm>
            <a:off x="6334760" y="4081785"/>
            <a:ext cx="502833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C3410"/>
                </a:solidFill>
                <a:latin typeface="Arial" pitchFamily="34" charset="0"/>
                <a:ea typeface="Arial" pitchFamily="34" charset="-122"/>
                <a:cs typeface="Arial" pitchFamily="34" charset="-120"/>
              </a:rPr>
              <a:t>It reads the log file; it does not traverse commits from HEAD.</a:t>
            </a:r>
            <a:endParaRPr lang="en-US" sz="1300" dirty="0"/>
          </a:p>
        </p:txBody>
      </p:sp>
      <p:pic>
        <p:nvPicPr>
          <p:cNvPr id="30" name="Image 3"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31" name="Text 25"/>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2" name="Text 26"/>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Branching and Checkout</a:t>
            </a:r>
            <a:endParaRPr lang="en-US" sz="3200" dirty="0"/>
          </a:p>
        </p:txBody>
      </p:sp>
      <p:sp>
        <p:nvSpPr>
          <p:cNvPr id="4" name="Shape 2"/>
          <p:cNvSpPr/>
          <p:nvPr/>
        </p:nvSpPr>
        <p:spPr>
          <a:xfrm>
            <a:off x="819150" y="1530350"/>
            <a:ext cx="4940300" cy="725170"/>
          </a:xfrm>
          <a:prstGeom prst="roundRect">
            <a:avLst>
              <a:gd name="adj" fmla="val 13135"/>
            </a:avLst>
          </a:prstGeom>
          <a:solidFill>
            <a:srgbClr val="FBFCFE"/>
          </a:solidFill>
          <a:ln w="12700">
            <a:solidFill>
              <a:srgbClr val="C7D8CE"/>
            </a:solidFill>
            <a:prstDash val="solid"/>
          </a:ln>
        </p:spPr>
      </p:sp>
      <p:sp>
        <p:nvSpPr>
          <p:cNvPr id="5" name="Text 3"/>
          <p:cNvSpPr/>
          <p:nvPr/>
        </p:nvSpPr>
        <p:spPr>
          <a:xfrm>
            <a:off x="975360" y="1648458"/>
            <a:ext cx="476671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Courier New" pitchFamily="49" charset="0"/>
                <a:ea typeface="Courier New" pitchFamily="49" charset="-122"/>
                <a:cs typeface="Courier New" pitchFamily="49" charset="-120"/>
              </a:rPr>
              <a:t>loki branch</a:t>
            </a:r>
            <a:endParaRPr lang="en-US" sz="1400" dirty="0"/>
          </a:p>
        </p:txBody>
      </p:sp>
      <p:sp>
        <p:nvSpPr>
          <p:cNvPr id="6" name="Text 4"/>
          <p:cNvSpPr/>
          <p:nvPr/>
        </p:nvSpPr>
        <p:spPr>
          <a:xfrm>
            <a:off x="975360" y="1922785"/>
            <a:ext cx="476671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Lists or creates local branches.</a:t>
            </a:r>
            <a:endParaRPr lang="en-US" sz="1300" dirty="0"/>
          </a:p>
        </p:txBody>
      </p:sp>
      <p:sp>
        <p:nvSpPr>
          <p:cNvPr id="7" name="Shape 5"/>
          <p:cNvSpPr/>
          <p:nvPr/>
        </p:nvSpPr>
        <p:spPr>
          <a:xfrm>
            <a:off x="819150" y="2357127"/>
            <a:ext cx="4940300" cy="725170"/>
          </a:xfrm>
          <a:prstGeom prst="roundRect">
            <a:avLst>
              <a:gd name="adj" fmla="val 13135"/>
            </a:avLst>
          </a:prstGeom>
          <a:solidFill>
            <a:srgbClr val="FBFCFE"/>
          </a:solidFill>
          <a:ln w="12700">
            <a:solidFill>
              <a:srgbClr val="C7D8CE"/>
            </a:solidFill>
            <a:prstDash val="solid"/>
          </a:ln>
        </p:spPr>
      </p:sp>
      <p:sp>
        <p:nvSpPr>
          <p:cNvPr id="8" name="Text 6"/>
          <p:cNvSpPr/>
          <p:nvPr/>
        </p:nvSpPr>
        <p:spPr>
          <a:xfrm>
            <a:off x="975360" y="2475235"/>
            <a:ext cx="476671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Courier New" pitchFamily="49" charset="0"/>
                <a:ea typeface="Courier New" pitchFamily="49" charset="-122"/>
                <a:cs typeface="Courier New" pitchFamily="49" charset="-120"/>
              </a:rPr>
              <a:t>loki checkout</a:t>
            </a:r>
            <a:endParaRPr lang="en-US" sz="1400" dirty="0"/>
          </a:p>
        </p:txBody>
      </p:sp>
      <p:sp>
        <p:nvSpPr>
          <p:cNvPr id="9" name="Text 7"/>
          <p:cNvSpPr/>
          <p:nvPr/>
        </p:nvSpPr>
        <p:spPr>
          <a:xfrm>
            <a:off x="975360" y="2749550"/>
            <a:ext cx="476671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Switches the working state to a branch, tag or commit.</a:t>
            </a:r>
            <a:endParaRPr lang="en-US" sz="1300" dirty="0"/>
          </a:p>
        </p:txBody>
      </p:sp>
      <p:sp>
        <p:nvSpPr>
          <p:cNvPr id="10" name="Shape 8"/>
          <p:cNvSpPr/>
          <p:nvPr/>
        </p:nvSpPr>
        <p:spPr>
          <a:xfrm>
            <a:off x="819150" y="3183892"/>
            <a:ext cx="4940300" cy="725170"/>
          </a:xfrm>
          <a:prstGeom prst="roundRect">
            <a:avLst>
              <a:gd name="adj" fmla="val 13135"/>
            </a:avLst>
          </a:prstGeom>
          <a:solidFill>
            <a:srgbClr val="FBFCFE"/>
          </a:solidFill>
          <a:ln w="12700">
            <a:solidFill>
              <a:srgbClr val="C7D8CE"/>
            </a:solidFill>
            <a:prstDash val="solid"/>
          </a:ln>
        </p:spPr>
      </p:sp>
      <p:sp>
        <p:nvSpPr>
          <p:cNvPr id="11" name="Text 9"/>
          <p:cNvSpPr/>
          <p:nvPr/>
        </p:nvSpPr>
        <p:spPr>
          <a:xfrm>
            <a:off x="975360" y="3302000"/>
            <a:ext cx="476671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B54"/>
                </a:solidFill>
                <a:latin typeface="Arial" pitchFamily="34" charset="0"/>
                <a:ea typeface="Arial" pitchFamily="34" charset="-122"/>
                <a:cs typeface="Arial" pitchFamily="34" charset="-120"/>
              </a:rPr>
              <a:t>Detached HEAD</a:t>
            </a:r>
            <a:endParaRPr lang="en-US" sz="1400" dirty="0"/>
          </a:p>
        </p:txBody>
      </p:sp>
      <p:sp>
        <p:nvSpPr>
          <p:cNvPr id="12" name="Text 10"/>
          <p:cNvSpPr/>
          <p:nvPr/>
        </p:nvSpPr>
        <p:spPr>
          <a:xfrm>
            <a:off x="975360" y="3576327"/>
            <a:ext cx="476671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Checking out a tag or a commit detaches HEAD.</a:t>
            </a:r>
            <a:endParaRPr lang="en-US" sz="1300" dirty="0"/>
          </a:p>
        </p:txBody>
      </p:sp>
      <p:sp>
        <p:nvSpPr>
          <p:cNvPr id="13" name="Shape 11"/>
          <p:cNvSpPr/>
          <p:nvPr/>
        </p:nvSpPr>
        <p:spPr>
          <a:xfrm>
            <a:off x="819150" y="4010658"/>
            <a:ext cx="4940300" cy="939800"/>
          </a:xfrm>
          <a:prstGeom prst="roundRect">
            <a:avLst>
              <a:gd name="adj" fmla="val 10135"/>
            </a:avLst>
          </a:prstGeom>
          <a:solidFill>
            <a:srgbClr val="FBFCFE"/>
          </a:solidFill>
          <a:ln w="12700">
            <a:solidFill>
              <a:srgbClr val="C7D8CE"/>
            </a:solidFill>
            <a:prstDash val="solid"/>
          </a:ln>
        </p:spPr>
      </p:sp>
      <p:sp>
        <p:nvSpPr>
          <p:cNvPr id="14" name="Text 12"/>
          <p:cNvSpPr/>
          <p:nvPr/>
        </p:nvSpPr>
        <p:spPr>
          <a:xfrm>
            <a:off x="975360" y="4128777"/>
            <a:ext cx="476671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309"/>
                </a:solidFill>
                <a:latin typeface="Arial" pitchFamily="34" charset="0"/>
                <a:ea typeface="Arial" pitchFamily="34" charset="-122"/>
                <a:cs typeface="Arial" pitchFamily="34" charset="-120"/>
              </a:rPr>
              <a:t>Local only</a:t>
            </a:r>
            <a:endParaRPr lang="en-US" sz="1400" dirty="0"/>
          </a:p>
        </p:txBody>
      </p:sp>
      <p:sp>
        <p:nvSpPr>
          <p:cNvPr id="15" name="Text 13"/>
          <p:cNvSpPr/>
          <p:nvPr/>
        </p:nvSpPr>
        <p:spPr>
          <a:xfrm>
            <a:off x="975360" y="4403092"/>
            <a:ext cx="4766716"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Branches are files in refs/heads/. There are no remote branches.</a:t>
            </a:r>
            <a:endParaRPr lang="en-US" sz="1300" dirty="0"/>
          </a:p>
        </p:txBody>
      </p:sp>
      <p:sp>
        <p:nvSpPr>
          <p:cNvPr id="16" name="Text 14"/>
          <p:cNvSpPr/>
          <p:nvPr/>
        </p:nvSpPr>
        <p:spPr>
          <a:xfrm>
            <a:off x="6096000" y="1600200"/>
            <a:ext cx="544169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ILLUSTRATIVE TWO-BRANCH HISTORY</a:t>
            </a:r>
            <a:endParaRPr lang="en-US" sz="1200" dirty="0"/>
          </a:p>
        </p:txBody>
      </p:sp>
      <p:pic>
        <p:nvPicPr>
          <p:cNvPr id="17" name="Image 0" descr="connector"/>
          <p:cNvPicPr>
            <a:picLocks noChangeAspect="1"/>
          </p:cNvPicPr>
          <p:nvPr/>
        </p:nvPicPr>
        <p:blipFill>
          <a:blip r:embed="rId3"/>
          <a:srcRect/>
          <a:stretch/>
        </p:blipFill>
        <p:spPr>
          <a:xfrm>
            <a:off x="6819900" y="2984500"/>
            <a:ext cx="838200" cy="127000"/>
          </a:xfrm>
          <a:prstGeom prst="rect">
            <a:avLst/>
          </a:prstGeom>
        </p:spPr>
      </p:pic>
      <p:pic>
        <p:nvPicPr>
          <p:cNvPr id="18" name="Image 1" descr="connector"/>
          <p:cNvPicPr>
            <a:picLocks noChangeAspect="1"/>
          </p:cNvPicPr>
          <p:nvPr/>
        </p:nvPicPr>
        <p:blipFill>
          <a:blip r:embed="rId3"/>
          <a:srcRect/>
          <a:stretch/>
        </p:blipFill>
        <p:spPr>
          <a:xfrm>
            <a:off x="8089900" y="2984500"/>
            <a:ext cx="838200" cy="127000"/>
          </a:xfrm>
          <a:prstGeom prst="rect">
            <a:avLst/>
          </a:prstGeom>
        </p:spPr>
      </p:pic>
      <p:pic>
        <p:nvPicPr>
          <p:cNvPr id="19" name="Image 2" descr="connector"/>
          <p:cNvPicPr>
            <a:picLocks noChangeAspect="1"/>
          </p:cNvPicPr>
          <p:nvPr/>
        </p:nvPicPr>
        <p:blipFill>
          <a:blip r:embed="rId4"/>
          <a:srcRect/>
          <a:stretch/>
        </p:blipFill>
        <p:spPr>
          <a:xfrm>
            <a:off x="8007350" y="3187700"/>
            <a:ext cx="1003300" cy="971550"/>
          </a:xfrm>
          <a:prstGeom prst="rect">
            <a:avLst/>
          </a:prstGeom>
        </p:spPr>
      </p:pic>
      <p:sp>
        <p:nvSpPr>
          <p:cNvPr id="20" name="Text 15"/>
          <p:cNvSpPr/>
          <p:nvPr/>
        </p:nvSpPr>
        <p:spPr>
          <a:xfrm>
            <a:off x="6324600" y="2768600"/>
            <a:ext cx="558800" cy="5588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C1</a:t>
            </a:r>
            <a:endParaRPr lang="en-US" sz="1300" dirty="0"/>
          </a:p>
        </p:txBody>
      </p:sp>
      <p:sp>
        <p:nvSpPr>
          <p:cNvPr id="21" name="Text 16"/>
          <p:cNvSpPr/>
          <p:nvPr/>
        </p:nvSpPr>
        <p:spPr>
          <a:xfrm>
            <a:off x="7594600" y="2768600"/>
            <a:ext cx="558800" cy="5588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C2</a:t>
            </a:r>
            <a:endParaRPr lang="en-US" sz="1300" dirty="0"/>
          </a:p>
        </p:txBody>
      </p:sp>
      <p:sp>
        <p:nvSpPr>
          <p:cNvPr id="22" name="Text 17"/>
          <p:cNvSpPr/>
          <p:nvPr/>
        </p:nvSpPr>
        <p:spPr>
          <a:xfrm>
            <a:off x="8864600" y="2768600"/>
            <a:ext cx="558800" cy="5588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C3</a:t>
            </a:r>
            <a:endParaRPr lang="en-US" sz="1300" dirty="0"/>
          </a:p>
        </p:txBody>
      </p:sp>
      <p:sp>
        <p:nvSpPr>
          <p:cNvPr id="23" name="Text 18"/>
          <p:cNvSpPr/>
          <p:nvPr/>
        </p:nvSpPr>
        <p:spPr>
          <a:xfrm>
            <a:off x="8864600" y="4038600"/>
            <a:ext cx="558800" cy="558800"/>
          </a:xfrm>
          <a:prstGeom prst="roundRect">
            <a:avLst>
              <a:gd name="adj" fmla="val 50000"/>
            </a:avLst>
          </a:prstGeom>
          <a:solidFill>
            <a:srgbClr val="B45309"/>
          </a:solidFill>
          <a:ln/>
        </p:spPr>
        <p:txBody>
          <a:bodyPr wrap="square" lIns="0" tIns="0" rIns="0" bIns="0" rtlCol="0" anchor="ctr">
            <a:normAutofit/>
          </a:bodyPr>
          <a:lstStyle/>
          <a:p>
            <a:pPr marL="0" indent="0" algn="ctr">
              <a:lnSpc>
                <a:spcPts val="1820"/>
              </a:lnSpc>
              <a:buNone/>
            </a:pPr>
            <a:r>
              <a:rPr lang="en-US" sz="1300" b="1" dirty="0">
                <a:solidFill>
                  <a:srgbClr val="FFF7EE"/>
                </a:solidFill>
                <a:latin typeface="Courier New" pitchFamily="49" charset="0"/>
                <a:ea typeface="Courier New" pitchFamily="49" charset="-122"/>
                <a:cs typeface="Courier New" pitchFamily="49" charset="-120"/>
              </a:rPr>
              <a:t>C4</a:t>
            </a:r>
            <a:endParaRPr lang="en-US" sz="1300" dirty="0"/>
          </a:p>
        </p:txBody>
      </p:sp>
      <p:sp>
        <p:nvSpPr>
          <p:cNvPr id="24" name="Text 19"/>
          <p:cNvSpPr/>
          <p:nvPr/>
        </p:nvSpPr>
        <p:spPr>
          <a:xfrm>
            <a:off x="8832850" y="2368550"/>
            <a:ext cx="622300" cy="266700"/>
          </a:xfrm>
          <a:custGeom>
            <a:avLst/>
            <a:gdLst/>
            <a:ahLst/>
            <a:cxnLst/>
            <a:rect l="l" t="t" r="r" b="b"/>
            <a:pathLst>
              <a:path w="622300" h="266700">
                <a:moveTo>
                  <a:pt x="133350" y="0"/>
                </a:moveTo>
                <a:lnTo>
                  <a:pt x="488950" y="0"/>
                </a:lnTo>
                <a:arcTo wR="133350" hR="133350" stAng="16200000" swAng="5400000"/>
                <a:lnTo>
                  <a:pt x="622300" y="133350"/>
                </a:lnTo>
                <a:arcTo wR="133350" hR="133350" stAng="0" swAng="5400000"/>
                <a:lnTo>
                  <a:pt x="133350" y="266700"/>
                </a:lnTo>
                <a:arcTo wR="133350" hR="133350" stAng="5400000" swAng="5400000"/>
                <a:lnTo>
                  <a:pt x="0" y="133350"/>
                </a:lnTo>
                <a:arcTo wR="133350" hR="133350" stAng="10800000" swAng="5400000"/>
                <a:close/>
              </a:path>
            </a:pathLst>
          </a:custGeom>
          <a:solidFill>
            <a:srgbClr val="E0F2EA"/>
          </a:solidFill>
          <a:ln w="12700">
            <a:solidFill>
              <a:srgbClr val="8CCBB0"/>
            </a:solidFill>
            <a:prstDash val="solid"/>
          </a:ln>
        </p:spPr>
        <p:txBody>
          <a:bodyPr wrap="square" lIns="3810" tIns="3810" rIns="3810" bIns="381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main</a:t>
            </a:r>
            <a:endParaRPr lang="en-US" sz="1200" dirty="0"/>
          </a:p>
        </p:txBody>
      </p:sp>
      <p:sp>
        <p:nvSpPr>
          <p:cNvPr id="25" name="Text 20"/>
          <p:cNvSpPr/>
          <p:nvPr/>
        </p:nvSpPr>
        <p:spPr>
          <a:xfrm>
            <a:off x="9658350" y="4184650"/>
            <a:ext cx="876300" cy="266700"/>
          </a:xfrm>
          <a:custGeom>
            <a:avLst/>
            <a:gdLst/>
            <a:ahLst/>
            <a:cxnLst/>
            <a:rect l="l" t="t" r="r" b="b"/>
            <a:pathLst>
              <a:path w="876300" h="266700">
                <a:moveTo>
                  <a:pt x="133350" y="0"/>
                </a:moveTo>
                <a:lnTo>
                  <a:pt x="742950" y="0"/>
                </a:lnTo>
                <a:arcTo wR="133350" hR="133350" stAng="16200000" swAng="5400000"/>
                <a:lnTo>
                  <a:pt x="876300" y="133350"/>
                </a:lnTo>
                <a:arcTo wR="133350" hR="133350" stAng="0" swAng="5400000"/>
                <a:lnTo>
                  <a:pt x="133350" y="266700"/>
                </a:lnTo>
                <a:arcTo wR="133350" hR="133350" stAng="5400000" swAng="5400000"/>
                <a:lnTo>
                  <a:pt x="0" y="133350"/>
                </a:lnTo>
                <a:arcTo wR="133350" hR="133350" stAng="10800000" swAng="5400000"/>
                <a:close/>
              </a:path>
            </a:pathLst>
          </a:custGeom>
          <a:solidFill>
            <a:srgbClr val="FDF0E1"/>
          </a:solidFill>
          <a:ln w="12700">
            <a:solidFill>
              <a:srgbClr val="E8B27A"/>
            </a:solidFill>
            <a:prstDash val="solid"/>
          </a:ln>
        </p:spPr>
        <p:txBody>
          <a:bodyPr wrap="square" lIns="3810" tIns="3810" rIns="3810" bIns="381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feature</a:t>
            </a:r>
            <a:endParaRPr lang="en-US" sz="1200" dirty="0"/>
          </a:p>
        </p:txBody>
      </p:sp>
      <p:sp>
        <p:nvSpPr>
          <p:cNvPr id="26" name="Text 21"/>
          <p:cNvSpPr/>
          <p:nvPr/>
        </p:nvSpPr>
        <p:spPr>
          <a:xfrm>
            <a:off x="6096000" y="5080000"/>
            <a:ext cx="544169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Branch names and commits are illustrative. Each branch name is a local reference to a commit.</a:t>
            </a:r>
            <a:endParaRPr lang="en-US" sz="1200" dirty="0"/>
          </a:p>
        </p:txBody>
      </p:sp>
      <p:pic>
        <p:nvPicPr>
          <p:cNvPr id="27" name="Image 3" descr="Loki logo"/>
          <p:cNvPicPr>
            <a:picLocks noChangeAspect="1"/>
          </p:cNvPicPr>
          <p:nvPr/>
        </p:nvPicPr>
        <p:blipFill>
          <a:blip r:embed="rId5"/>
          <a:srcRect t="88" b="88"/>
          <a:stretch/>
        </p:blipFill>
        <p:spPr>
          <a:xfrm>
            <a:off x="812800" y="6159500"/>
            <a:ext cx="279400" cy="368300"/>
          </a:xfrm>
          <a:prstGeom prst="roundRect">
            <a:avLst>
              <a:gd name="adj" fmla="val 18182"/>
            </a:avLst>
          </a:prstGeom>
        </p:spPr>
      </p:pic>
      <p:sp>
        <p:nvSpPr>
          <p:cNvPr id="28" name="Text 22"/>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9" name="Text 23"/>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D · COMMAND WORKFLOWS</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Reset and Revert</a:t>
            </a:r>
            <a:endParaRPr lang="en-US" sz="3200" dirty="0"/>
          </a:p>
        </p:txBody>
      </p:sp>
      <p:sp>
        <p:nvSpPr>
          <p:cNvPr id="4" name="Shape 2"/>
          <p:cNvSpPr/>
          <p:nvPr/>
        </p:nvSpPr>
        <p:spPr>
          <a:xfrm>
            <a:off x="819150" y="1530350"/>
            <a:ext cx="5194300" cy="1868170"/>
          </a:xfrm>
          <a:prstGeom prst="roundRect">
            <a:avLst>
              <a:gd name="adj" fmla="val 5099"/>
            </a:avLst>
          </a:prstGeom>
          <a:solidFill>
            <a:srgbClr val="FBFCFE"/>
          </a:solidFill>
          <a:ln w="12700">
            <a:solidFill>
              <a:srgbClr val="C7D8CE"/>
            </a:solidFill>
            <a:prstDash val="solid"/>
          </a:ln>
        </p:spPr>
      </p:sp>
      <p:sp>
        <p:nvSpPr>
          <p:cNvPr id="5" name="Text 3"/>
          <p:cNvSpPr/>
          <p:nvPr/>
        </p:nvSpPr>
        <p:spPr>
          <a:xfrm>
            <a:off x="1000760" y="1686558"/>
            <a:ext cx="49760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7B54"/>
                </a:solidFill>
                <a:latin typeface="Courier New" pitchFamily="49" charset="0"/>
                <a:ea typeface="Courier New" pitchFamily="49" charset="-122"/>
                <a:cs typeface="Courier New" pitchFamily="49" charset="-120"/>
              </a:rPr>
              <a:t>loki reset</a:t>
            </a:r>
            <a:endParaRPr lang="en-US" sz="1700" dirty="0"/>
          </a:p>
        </p:txBody>
      </p:sp>
      <p:sp>
        <p:nvSpPr>
          <p:cNvPr id="6" name="Text 4"/>
          <p:cNvSpPr/>
          <p:nvPr/>
        </p:nvSpPr>
        <p:spPr>
          <a:xfrm>
            <a:off x="1000760" y="2034542"/>
            <a:ext cx="497601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Resets HEAD, the index or the working tree to a target commit or branch state.</a:t>
            </a:r>
            <a:endParaRPr lang="en-US" sz="1400" dirty="0"/>
          </a:p>
        </p:txBody>
      </p:sp>
      <p:sp>
        <p:nvSpPr>
          <p:cNvPr id="7" name="Text 5"/>
          <p:cNvSpPr/>
          <p:nvPr/>
        </p:nvSpPr>
        <p:spPr>
          <a:xfrm>
            <a:off x="1007110" y="2592077"/>
            <a:ext cx="805339" cy="340360"/>
          </a:xfrm>
          <a:prstGeom prst="roundRect">
            <a:avLst>
              <a:gd name="adj" fmla="val 16791"/>
            </a:avLst>
          </a:prstGeom>
          <a:solidFill>
            <a:srgbClr val="E0F2EA"/>
          </a:solidFill>
          <a:ln w="12700">
            <a:solidFill>
              <a:srgbClr val="8CCBB0"/>
            </a:solidFill>
            <a:prstDash val="solid"/>
          </a:ln>
        </p:spPr>
        <p:txBody>
          <a:bodyPr wrap="none" lIns="0" tIns="0" rIns="0" bIns="0" rtlCol="0" anchor="ctr">
            <a:normAutofit/>
          </a:bodyPr>
          <a:lstStyle/>
          <a:p>
            <a:pPr marL="0" indent="0" algn="ctr">
              <a:lnSpc>
                <a:spcPts val="1820"/>
              </a:lnSpc>
              <a:buNone/>
            </a:pPr>
            <a:r>
              <a:rPr lang="en-US" sz="1300" b="1" dirty="0">
                <a:solidFill>
                  <a:srgbClr val="07201A"/>
                </a:solidFill>
                <a:latin typeface="Courier New" pitchFamily="49" charset="0"/>
                <a:ea typeface="Courier New" pitchFamily="49" charset="-122"/>
                <a:cs typeface="Courier New" pitchFamily="49" charset="-120"/>
              </a:rPr>
              <a:t>--soft</a:t>
            </a:r>
            <a:endParaRPr lang="en-US" sz="1300" dirty="0"/>
          </a:p>
        </p:txBody>
      </p:sp>
      <p:sp>
        <p:nvSpPr>
          <p:cNvPr id="8" name="Text 6"/>
          <p:cNvSpPr/>
          <p:nvPr/>
        </p:nvSpPr>
        <p:spPr>
          <a:xfrm>
            <a:off x="1901349" y="2592077"/>
            <a:ext cx="904399" cy="340360"/>
          </a:xfrm>
          <a:prstGeom prst="roundRect">
            <a:avLst>
              <a:gd name="adj" fmla="val 16791"/>
            </a:avLst>
          </a:prstGeom>
          <a:solidFill>
            <a:srgbClr val="E0F2EA"/>
          </a:solidFill>
          <a:ln w="12700">
            <a:solidFill>
              <a:srgbClr val="8CCBB0"/>
            </a:solidFill>
            <a:prstDash val="solid"/>
          </a:ln>
        </p:spPr>
        <p:txBody>
          <a:bodyPr wrap="none" lIns="0" tIns="0" rIns="0" bIns="0" rtlCol="0" anchor="ctr">
            <a:normAutofit/>
          </a:bodyPr>
          <a:lstStyle/>
          <a:p>
            <a:pPr marL="0" indent="0" algn="ctr">
              <a:lnSpc>
                <a:spcPts val="1820"/>
              </a:lnSpc>
              <a:buNone/>
            </a:pPr>
            <a:r>
              <a:rPr lang="en-US" sz="1300" b="1" dirty="0">
                <a:solidFill>
                  <a:srgbClr val="07201A"/>
                </a:solidFill>
                <a:latin typeface="Courier New" pitchFamily="49" charset="0"/>
                <a:ea typeface="Courier New" pitchFamily="49" charset="-122"/>
                <a:cs typeface="Courier New" pitchFamily="49" charset="-120"/>
              </a:rPr>
              <a:t>--mixed</a:t>
            </a:r>
            <a:endParaRPr lang="en-US" sz="1300" dirty="0"/>
          </a:p>
        </p:txBody>
      </p:sp>
      <p:sp>
        <p:nvSpPr>
          <p:cNvPr id="9" name="Text 7"/>
          <p:cNvSpPr/>
          <p:nvPr/>
        </p:nvSpPr>
        <p:spPr>
          <a:xfrm>
            <a:off x="2894648" y="2592077"/>
            <a:ext cx="805339" cy="340360"/>
          </a:xfrm>
          <a:prstGeom prst="roundRect">
            <a:avLst>
              <a:gd name="adj" fmla="val 16791"/>
            </a:avLst>
          </a:prstGeom>
          <a:solidFill>
            <a:srgbClr val="E0F2EA"/>
          </a:solidFill>
          <a:ln w="12700">
            <a:solidFill>
              <a:srgbClr val="8CCBB0"/>
            </a:solidFill>
            <a:prstDash val="solid"/>
          </a:ln>
        </p:spPr>
        <p:txBody>
          <a:bodyPr wrap="none" lIns="0" tIns="0" rIns="0" bIns="0" rtlCol="0" anchor="ctr">
            <a:normAutofit/>
          </a:bodyPr>
          <a:lstStyle/>
          <a:p>
            <a:pPr marL="0" indent="0" algn="ctr">
              <a:lnSpc>
                <a:spcPts val="1820"/>
              </a:lnSpc>
              <a:buNone/>
            </a:pPr>
            <a:r>
              <a:rPr lang="en-US" sz="1300" b="1" dirty="0">
                <a:solidFill>
                  <a:srgbClr val="07201A"/>
                </a:solidFill>
                <a:latin typeface="Courier New" pitchFamily="49" charset="0"/>
                <a:ea typeface="Courier New" pitchFamily="49" charset="-122"/>
                <a:cs typeface="Courier New" pitchFamily="49" charset="-120"/>
              </a:rPr>
              <a:t>--hard</a:t>
            </a:r>
            <a:endParaRPr lang="en-US" sz="1300" dirty="0"/>
          </a:p>
        </p:txBody>
      </p:sp>
      <p:sp>
        <p:nvSpPr>
          <p:cNvPr id="10" name="Text 8"/>
          <p:cNvSpPr/>
          <p:nvPr/>
        </p:nvSpPr>
        <p:spPr>
          <a:xfrm>
            <a:off x="1000760" y="3027685"/>
            <a:ext cx="497601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The mode decides how far the reset reaches beyond HEAD.</a:t>
            </a:r>
            <a:endParaRPr lang="en-US" sz="1300" dirty="0"/>
          </a:p>
        </p:txBody>
      </p:sp>
      <p:sp>
        <p:nvSpPr>
          <p:cNvPr id="11" name="Shape 9"/>
          <p:cNvSpPr/>
          <p:nvPr/>
        </p:nvSpPr>
        <p:spPr>
          <a:xfrm>
            <a:off x="6178550" y="1530350"/>
            <a:ext cx="5194300" cy="1868170"/>
          </a:xfrm>
          <a:prstGeom prst="roundRect">
            <a:avLst>
              <a:gd name="adj" fmla="val 5099"/>
            </a:avLst>
          </a:prstGeom>
          <a:solidFill>
            <a:srgbClr val="FBFCFE"/>
          </a:solidFill>
          <a:ln w="12700">
            <a:solidFill>
              <a:srgbClr val="C7D8CE"/>
            </a:solidFill>
            <a:prstDash val="solid"/>
          </a:ln>
        </p:spPr>
      </p:sp>
      <p:sp>
        <p:nvSpPr>
          <p:cNvPr id="12" name="Text 10"/>
          <p:cNvSpPr/>
          <p:nvPr/>
        </p:nvSpPr>
        <p:spPr>
          <a:xfrm>
            <a:off x="6360160" y="1686558"/>
            <a:ext cx="49760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7B54"/>
                </a:solidFill>
                <a:latin typeface="Courier New" pitchFamily="49" charset="0"/>
                <a:ea typeface="Courier New" pitchFamily="49" charset="-122"/>
                <a:cs typeface="Courier New" pitchFamily="49" charset="-120"/>
              </a:rPr>
              <a:t>loki revert</a:t>
            </a:r>
            <a:endParaRPr lang="en-US" sz="1700" dirty="0"/>
          </a:p>
        </p:txBody>
      </p:sp>
      <p:sp>
        <p:nvSpPr>
          <p:cNvPr id="13" name="Text 11"/>
          <p:cNvSpPr/>
          <p:nvPr/>
        </p:nvSpPr>
        <p:spPr>
          <a:xfrm>
            <a:off x="6360160" y="2034542"/>
            <a:ext cx="497601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7201A"/>
                </a:solidFill>
                <a:latin typeface="Arial" pitchFamily="34" charset="0"/>
                <a:ea typeface="Arial" pitchFamily="34" charset="-122"/>
                <a:cs typeface="Arial" pitchFamily="34" charset="-120"/>
              </a:rPr>
              <a:t>Applies the inverse of a non-merge commit by creating a new commit when successful.</a:t>
            </a:r>
            <a:endParaRPr lang="en-US" sz="1400" dirty="0"/>
          </a:p>
        </p:txBody>
      </p:sp>
      <p:sp>
        <p:nvSpPr>
          <p:cNvPr id="14" name="Text 12"/>
          <p:cNvSpPr/>
          <p:nvPr/>
        </p:nvSpPr>
        <p:spPr>
          <a:xfrm>
            <a:off x="6360160" y="2585727"/>
            <a:ext cx="497601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Separate from reset: it adds a commit instead of moving HEAD.</a:t>
            </a:r>
            <a:endParaRPr lang="en-US" sz="1300" dirty="0"/>
          </a:p>
        </p:txBody>
      </p:sp>
      <p:sp>
        <p:nvSpPr>
          <p:cNvPr id="15" name="Shape 13"/>
          <p:cNvSpPr/>
          <p:nvPr/>
        </p:nvSpPr>
        <p:spPr>
          <a:xfrm>
            <a:off x="819150" y="3614427"/>
            <a:ext cx="10553700" cy="541020"/>
          </a:xfrm>
          <a:prstGeom prst="roundRect">
            <a:avLst>
              <a:gd name="adj" fmla="val 17606"/>
            </a:avLst>
          </a:prstGeom>
          <a:solidFill>
            <a:srgbClr val="FDF0E1"/>
          </a:solidFill>
          <a:ln w="12700">
            <a:solidFill>
              <a:srgbClr val="E8B27A"/>
            </a:solidFill>
            <a:prstDash val="solid"/>
          </a:ln>
        </p:spPr>
      </p:sp>
      <p:pic>
        <p:nvPicPr>
          <p:cNvPr id="16" name="Image 0" descr="Warning"/>
          <p:cNvPicPr>
            <a:picLocks noChangeAspect="1"/>
          </p:cNvPicPr>
          <p:nvPr/>
        </p:nvPicPr>
        <p:blipFill>
          <a:blip r:embed="rId3"/>
          <a:srcRect/>
          <a:stretch/>
        </p:blipFill>
        <p:spPr>
          <a:xfrm>
            <a:off x="1000760" y="3745235"/>
            <a:ext cx="279400" cy="279400"/>
          </a:xfrm>
          <a:prstGeom prst="rect">
            <a:avLst/>
          </a:prstGeom>
        </p:spPr>
      </p:pic>
      <p:sp>
        <p:nvSpPr>
          <p:cNvPr id="17" name="Text 14"/>
          <p:cNvSpPr/>
          <p:nvPr/>
        </p:nvSpPr>
        <p:spPr>
          <a:xfrm>
            <a:off x="1407160" y="3769358"/>
            <a:ext cx="995934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5C3410"/>
                </a:solidFill>
                <a:latin typeface="Arial" pitchFamily="34" charset="0"/>
                <a:ea typeface="Arial" pitchFamily="34" charset="-122"/>
                <a:cs typeface="Arial" pitchFamily="34" charset="-120"/>
              </a:rPr>
              <a:t>Use with care.</a:t>
            </a:r>
            <a:r>
              <a:rPr lang="en-US" sz="1400" dirty="0">
                <a:solidFill>
                  <a:srgbClr val="5C3410"/>
                </a:solidFill>
                <a:latin typeface="Arial" pitchFamily="34" charset="0"/>
                <a:ea typeface="Arial" pitchFamily="34" charset="-122"/>
                <a:cs typeface="Arial" pitchFamily="34" charset="-120"/>
              </a:rPr>
              <a:t> Operations that update the working tree can overwrite local changes, and edge cases may differ from Git.</a:t>
            </a:r>
            <a:endParaRPr lang="en-US" sz="1400" dirty="0"/>
          </a:p>
        </p:txBody>
      </p:sp>
      <p:pic>
        <p:nvPicPr>
          <p:cNvPr id="18" name="Image 1"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19" name="Text 15"/>
          <p:cNvSpPr/>
          <p:nvPr/>
        </p:nvSpPr>
        <p:spPr>
          <a:xfrm>
            <a:off x="1193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0" name="Text 16"/>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E · MERGE AND CONFLICT HANDLING</a:t>
            </a:r>
            <a:endParaRPr lang="en-US" sz="1200" dirty="0"/>
          </a:p>
        </p:txBody>
      </p:sp>
      <p:sp>
        <p:nvSpPr>
          <p:cNvPr id="3" name="Text 1"/>
          <p:cNvSpPr>
            <a:spLocks noGrp="1"/>
          </p:cNvSpPr>
          <p:nvPr>
            <p:ph type="title"/>
          </p:nvPr>
        </p:nvSpPr>
        <p:spPr>
          <a:xfrm>
            <a:off x="812800" y="873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Merge Overview: loki merge &lt;branch&gt;</a:t>
            </a:r>
            <a:endParaRPr lang="en-US" sz="3200" dirty="0"/>
          </a:p>
        </p:txBody>
      </p:sp>
      <p:sp>
        <p:nvSpPr>
          <p:cNvPr id="4" name="Text 2"/>
          <p:cNvSpPr/>
          <p:nvPr/>
        </p:nvSpPr>
        <p:spPr>
          <a:xfrm>
            <a:off x="812800" y="1600200"/>
            <a:ext cx="504926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Fast-forward</a:t>
            </a:r>
            <a:endParaRPr lang="en-US" sz="1600" dirty="0"/>
          </a:p>
        </p:txBody>
      </p:sp>
      <p:sp>
        <p:nvSpPr>
          <p:cNvPr id="5" name="Text 3"/>
          <p:cNvSpPr/>
          <p:nvPr/>
        </p:nvSpPr>
        <p:spPr>
          <a:xfrm>
            <a:off x="812800" y="1879600"/>
            <a:ext cx="50492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The branch pointer moves forward; no merge commit is needed.</a:t>
            </a:r>
            <a:endParaRPr lang="en-US" sz="1200" dirty="0"/>
          </a:p>
        </p:txBody>
      </p:sp>
      <p:sp>
        <p:nvSpPr>
          <p:cNvPr id="6" name="Text 4"/>
          <p:cNvSpPr/>
          <p:nvPr/>
        </p:nvSpPr>
        <p:spPr>
          <a:xfrm>
            <a:off x="812800" y="2222500"/>
            <a:ext cx="19621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BEFORE</a:t>
            </a:r>
            <a:endParaRPr lang="en-US" sz="1200" dirty="0"/>
          </a:p>
        </p:txBody>
      </p:sp>
      <p:pic>
        <p:nvPicPr>
          <p:cNvPr id="7" name="Image 0" descr="connector"/>
          <p:cNvPicPr>
            <a:picLocks noChangeAspect="1"/>
          </p:cNvPicPr>
          <p:nvPr/>
        </p:nvPicPr>
        <p:blipFill>
          <a:blip r:embed="rId3"/>
          <a:srcRect/>
          <a:stretch/>
        </p:blipFill>
        <p:spPr>
          <a:xfrm>
            <a:off x="1663700" y="2641600"/>
            <a:ext cx="685800" cy="127000"/>
          </a:xfrm>
          <a:prstGeom prst="rect">
            <a:avLst/>
          </a:prstGeom>
        </p:spPr>
      </p:pic>
      <p:pic>
        <p:nvPicPr>
          <p:cNvPr id="8" name="Image 1" descr="connector"/>
          <p:cNvPicPr>
            <a:picLocks noChangeAspect="1"/>
          </p:cNvPicPr>
          <p:nvPr/>
        </p:nvPicPr>
        <p:blipFill>
          <a:blip r:embed="rId3"/>
          <a:srcRect/>
          <a:stretch/>
        </p:blipFill>
        <p:spPr>
          <a:xfrm>
            <a:off x="2679700" y="2641600"/>
            <a:ext cx="685800" cy="127000"/>
          </a:xfrm>
          <a:prstGeom prst="rect">
            <a:avLst/>
          </a:prstGeom>
        </p:spPr>
      </p:pic>
      <p:sp>
        <p:nvSpPr>
          <p:cNvPr id="9" name="Text 5"/>
          <p:cNvSpPr/>
          <p:nvPr/>
        </p:nvSpPr>
        <p:spPr>
          <a:xfrm>
            <a:off x="1270000" y="24765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C1</a:t>
            </a:r>
            <a:endParaRPr lang="en-US" sz="1300" dirty="0"/>
          </a:p>
        </p:txBody>
      </p:sp>
      <p:sp>
        <p:nvSpPr>
          <p:cNvPr id="10" name="Text 6"/>
          <p:cNvSpPr/>
          <p:nvPr/>
        </p:nvSpPr>
        <p:spPr>
          <a:xfrm>
            <a:off x="2286000" y="24765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C2</a:t>
            </a:r>
            <a:endParaRPr lang="en-US" sz="1300" dirty="0"/>
          </a:p>
        </p:txBody>
      </p:sp>
      <p:sp>
        <p:nvSpPr>
          <p:cNvPr id="11" name="Text 7"/>
          <p:cNvSpPr/>
          <p:nvPr/>
        </p:nvSpPr>
        <p:spPr>
          <a:xfrm>
            <a:off x="3302000" y="2476500"/>
            <a:ext cx="457200" cy="457200"/>
          </a:xfrm>
          <a:prstGeom prst="roundRect">
            <a:avLst>
              <a:gd name="adj" fmla="val 50000"/>
            </a:avLst>
          </a:prstGeom>
          <a:solidFill>
            <a:srgbClr val="B45309"/>
          </a:solidFill>
          <a:ln/>
        </p:spPr>
        <p:txBody>
          <a:bodyPr wrap="square" lIns="0" tIns="0" rIns="0" bIns="0" rtlCol="0" anchor="ctr">
            <a:normAutofit/>
          </a:bodyPr>
          <a:lstStyle/>
          <a:p>
            <a:pPr marL="0" indent="0" algn="ctr">
              <a:lnSpc>
                <a:spcPts val="1820"/>
              </a:lnSpc>
              <a:buNone/>
            </a:pPr>
            <a:r>
              <a:rPr lang="en-US" sz="1300" b="1" dirty="0">
                <a:solidFill>
                  <a:srgbClr val="FFF7EE"/>
                </a:solidFill>
                <a:latin typeface="Courier New" pitchFamily="49" charset="0"/>
                <a:ea typeface="Courier New" pitchFamily="49" charset="-122"/>
                <a:cs typeface="Courier New" pitchFamily="49" charset="-120"/>
              </a:rPr>
              <a:t>C3</a:t>
            </a:r>
            <a:endParaRPr lang="en-US" sz="1300" dirty="0"/>
          </a:p>
        </p:txBody>
      </p:sp>
      <p:sp>
        <p:nvSpPr>
          <p:cNvPr id="12" name="Text 8"/>
          <p:cNvSpPr/>
          <p:nvPr/>
        </p:nvSpPr>
        <p:spPr>
          <a:xfrm>
            <a:off x="2203450" y="3016250"/>
            <a:ext cx="622300" cy="241300"/>
          </a:xfrm>
          <a:custGeom>
            <a:avLst/>
            <a:gdLst/>
            <a:ahLst/>
            <a:cxnLst/>
            <a:rect l="l" t="t" r="r" b="b"/>
            <a:pathLst>
              <a:path w="622300" h="241300">
                <a:moveTo>
                  <a:pt x="120650" y="0"/>
                </a:moveTo>
                <a:lnTo>
                  <a:pt x="501650" y="0"/>
                </a:lnTo>
                <a:arcTo wR="120650" hR="120650" stAng="16200000" swAng="5400000"/>
                <a:lnTo>
                  <a:pt x="622300" y="120650"/>
                </a:lnTo>
                <a:arcTo wR="120650" hR="120650" stAng="0" swAng="5400000"/>
                <a:lnTo>
                  <a:pt x="120650" y="241300"/>
                </a:lnTo>
                <a:arcTo wR="120650" hR="120650" stAng="5400000" swAng="5400000"/>
                <a:lnTo>
                  <a:pt x="0" y="120650"/>
                </a:lnTo>
                <a:arcTo wR="120650" hR="120650" stAng="10800000" swAng="5400000"/>
                <a:close/>
              </a:path>
            </a:pathLst>
          </a:custGeom>
          <a:solidFill>
            <a:srgbClr val="E0F2EA"/>
          </a:solidFill>
          <a:ln w="12700">
            <a:solidFill>
              <a:srgbClr val="8CCBB0"/>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main</a:t>
            </a:r>
            <a:endParaRPr lang="en-US" sz="1200" dirty="0"/>
          </a:p>
        </p:txBody>
      </p:sp>
      <p:sp>
        <p:nvSpPr>
          <p:cNvPr id="13" name="Text 9"/>
          <p:cNvSpPr/>
          <p:nvPr/>
        </p:nvSpPr>
        <p:spPr>
          <a:xfrm>
            <a:off x="3124200" y="3016250"/>
            <a:ext cx="812800" cy="241300"/>
          </a:xfrm>
          <a:custGeom>
            <a:avLst/>
            <a:gdLst/>
            <a:ahLst/>
            <a:cxnLst/>
            <a:rect l="l" t="t" r="r" b="b"/>
            <a:pathLst>
              <a:path w="812800" h="241300">
                <a:moveTo>
                  <a:pt x="120650" y="0"/>
                </a:moveTo>
                <a:lnTo>
                  <a:pt x="692150" y="0"/>
                </a:lnTo>
                <a:arcTo wR="120650" hR="120650" stAng="16200000" swAng="5400000"/>
                <a:lnTo>
                  <a:pt x="812800" y="120650"/>
                </a:lnTo>
                <a:arcTo wR="120650" hR="120650" stAng="0" swAng="5400000"/>
                <a:lnTo>
                  <a:pt x="120650" y="241300"/>
                </a:lnTo>
                <a:arcTo wR="120650" hR="120650" stAng="5400000" swAng="5400000"/>
                <a:lnTo>
                  <a:pt x="0" y="120650"/>
                </a:lnTo>
                <a:arcTo wR="120650" hR="120650" stAng="10800000" swAng="5400000"/>
                <a:close/>
              </a:path>
            </a:pathLst>
          </a:custGeom>
          <a:solidFill>
            <a:srgbClr val="FDF0E1"/>
          </a:solidFill>
          <a:ln w="12700">
            <a:solidFill>
              <a:srgbClr val="E8B27A"/>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feature</a:t>
            </a:r>
            <a:endParaRPr lang="en-US" sz="1200" dirty="0"/>
          </a:p>
        </p:txBody>
      </p:sp>
      <p:sp>
        <p:nvSpPr>
          <p:cNvPr id="14" name="Text 10"/>
          <p:cNvSpPr/>
          <p:nvPr/>
        </p:nvSpPr>
        <p:spPr>
          <a:xfrm>
            <a:off x="812800" y="3556000"/>
            <a:ext cx="19621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AFTER</a:t>
            </a:r>
            <a:endParaRPr lang="en-US" sz="1200" dirty="0"/>
          </a:p>
        </p:txBody>
      </p:sp>
      <p:pic>
        <p:nvPicPr>
          <p:cNvPr id="15" name="Image 2" descr="connector"/>
          <p:cNvPicPr>
            <a:picLocks noChangeAspect="1"/>
          </p:cNvPicPr>
          <p:nvPr/>
        </p:nvPicPr>
        <p:blipFill>
          <a:blip r:embed="rId3"/>
          <a:srcRect/>
          <a:stretch/>
        </p:blipFill>
        <p:spPr>
          <a:xfrm>
            <a:off x="1663700" y="3975100"/>
            <a:ext cx="685800" cy="127000"/>
          </a:xfrm>
          <a:prstGeom prst="rect">
            <a:avLst/>
          </a:prstGeom>
        </p:spPr>
      </p:pic>
      <p:pic>
        <p:nvPicPr>
          <p:cNvPr id="16" name="Image 3" descr="connector"/>
          <p:cNvPicPr>
            <a:picLocks noChangeAspect="1"/>
          </p:cNvPicPr>
          <p:nvPr/>
        </p:nvPicPr>
        <p:blipFill>
          <a:blip r:embed="rId3"/>
          <a:srcRect/>
          <a:stretch/>
        </p:blipFill>
        <p:spPr>
          <a:xfrm>
            <a:off x="2679700" y="3975100"/>
            <a:ext cx="685800" cy="127000"/>
          </a:xfrm>
          <a:prstGeom prst="rect">
            <a:avLst/>
          </a:prstGeom>
        </p:spPr>
      </p:pic>
      <p:sp>
        <p:nvSpPr>
          <p:cNvPr id="17" name="Text 11"/>
          <p:cNvSpPr/>
          <p:nvPr/>
        </p:nvSpPr>
        <p:spPr>
          <a:xfrm>
            <a:off x="1270000" y="38100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C1</a:t>
            </a:r>
            <a:endParaRPr lang="en-US" sz="1300" dirty="0"/>
          </a:p>
        </p:txBody>
      </p:sp>
      <p:sp>
        <p:nvSpPr>
          <p:cNvPr id="18" name="Text 12"/>
          <p:cNvSpPr/>
          <p:nvPr/>
        </p:nvSpPr>
        <p:spPr>
          <a:xfrm>
            <a:off x="2286000" y="38100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C2</a:t>
            </a:r>
            <a:endParaRPr lang="en-US" sz="1300" dirty="0"/>
          </a:p>
        </p:txBody>
      </p:sp>
      <p:sp>
        <p:nvSpPr>
          <p:cNvPr id="19" name="Text 13"/>
          <p:cNvSpPr/>
          <p:nvPr/>
        </p:nvSpPr>
        <p:spPr>
          <a:xfrm>
            <a:off x="3302000" y="3810000"/>
            <a:ext cx="457200" cy="457200"/>
          </a:xfrm>
          <a:prstGeom prst="roundRect">
            <a:avLst>
              <a:gd name="adj" fmla="val 50000"/>
            </a:avLst>
          </a:prstGeom>
          <a:solidFill>
            <a:srgbClr val="B45309"/>
          </a:solidFill>
          <a:ln/>
        </p:spPr>
        <p:txBody>
          <a:bodyPr wrap="square" lIns="0" tIns="0" rIns="0" bIns="0" rtlCol="0" anchor="ctr">
            <a:normAutofit/>
          </a:bodyPr>
          <a:lstStyle/>
          <a:p>
            <a:pPr marL="0" indent="0" algn="ctr">
              <a:lnSpc>
                <a:spcPts val="1820"/>
              </a:lnSpc>
              <a:buNone/>
            </a:pPr>
            <a:r>
              <a:rPr lang="en-US" sz="1300" b="1" dirty="0">
                <a:solidFill>
                  <a:srgbClr val="FFF7EE"/>
                </a:solidFill>
                <a:latin typeface="Courier New" pitchFamily="49" charset="0"/>
                <a:ea typeface="Courier New" pitchFamily="49" charset="-122"/>
                <a:cs typeface="Courier New" pitchFamily="49" charset="-120"/>
              </a:rPr>
              <a:t>C3</a:t>
            </a:r>
            <a:endParaRPr lang="en-US" sz="1300" dirty="0"/>
          </a:p>
        </p:txBody>
      </p:sp>
      <p:sp>
        <p:nvSpPr>
          <p:cNvPr id="20" name="Text 14"/>
          <p:cNvSpPr/>
          <p:nvPr/>
        </p:nvSpPr>
        <p:spPr>
          <a:xfrm>
            <a:off x="2736850" y="4349750"/>
            <a:ext cx="622300" cy="241300"/>
          </a:xfrm>
          <a:custGeom>
            <a:avLst/>
            <a:gdLst/>
            <a:ahLst/>
            <a:cxnLst/>
            <a:rect l="l" t="t" r="r" b="b"/>
            <a:pathLst>
              <a:path w="622300" h="241300">
                <a:moveTo>
                  <a:pt x="120650" y="0"/>
                </a:moveTo>
                <a:lnTo>
                  <a:pt x="501650" y="0"/>
                </a:lnTo>
                <a:arcTo wR="120650" hR="120650" stAng="16200000" swAng="5400000"/>
                <a:lnTo>
                  <a:pt x="622300" y="120650"/>
                </a:lnTo>
                <a:arcTo wR="120650" hR="120650" stAng="0" swAng="5400000"/>
                <a:lnTo>
                  <a:pt x="120650" y="241300"/>
                </a:lnTo>
                <a:arcTo wR="120650" hR="120650" stAng="5400000" swAng="5400000"/>
                <a:lnTo>
                  <a:pt x="0" y="120650"/>
                </a:lnTo>
                <a:arcTo wR="120650" hR="120650" stAng="10800000" swAng="5400000"/>
                <a:close/>
              </a:path>
            </a:pathLst>
          </a:custGeom>
          <a:solidFill>
            <a:srgbClr val="E0F2EA"/>
          </a:solidFill>
          <a:ln w="12700">
            <a:solidFill>
              <a:srgbClr val="8CCBB0"/>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main</a:t>
            </a:r>
            <a:endParaRPr lang="en-US" sz="1200" dirty="0"/>
          </a:p>
        </p:txBody>
      </p:sp>
      <p:sp>
        <p:nvSpPr>
          <p:cNvPr id="21" name="Text 15"/>
          <p:cNvSpPr/>
          <p:nvPr/>
        </p:nvSpPr>
        <p:spPr>
          <a:xfrm>
            <a:off x="3473450" y="4349750"/>
            <a:ext cx="812800" cy="241300"/>
          </a:xfrm>
          <a:custGeom>
            <a:avLst/>
            <a:gdLst/>
            <a:ahLst/>
            <a:cxnLst/>
            <a:rect l="l" t="t" r="r" b="b"/>
            <a:pathLst>
              <a:path w="812800" h="241300">
                <a:moveTo>
                  <a:pt x="120650" y="0"/>
                </a:moveTo>
                <a:lnTo>
                  <a:pt x="692150" y="0"/>
                </a:lnTo>
                <a:arcTo wR="120650" hR="120650" stAng="16200000" swAng="5400000"/>
                <a:lnTo>
                  <a:pt x="812800" y="120650"/>
                </a:lnTo>
                <a:arcTo wR="120650" hR="120650" stAng="0" swAng="5400000"/>
                <a:lnTo>
                  <a:pt x="120650" y="241300"/>
                </a:lnTo>
                <a:arcTo wR="120650" hR="120650" stAng="5400000" swAng="5400000"/>
                <a:lnTo>
                  <a:pt x="0" y="120650"/>
                </a:lnTo>
                <a:arcTo wR="120650" hR="120650" stAng="10800000" swAng="5400000"/>
                <a:close/>
              </a:path>
            </a:pathLst>
          </a:custGeom>
          <a:solidFill>
            <a:srgbClr val="FDF0E1"/>
          </a:solidFill>
          <a:ln w="12700">
            <a:solidFill>
              <a:srgbClr val="E8B27A"/>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feature</a:t>
            </a:r>
            <a:endParaRPr lang="en-US" sz="1200" dirty="0"/>
          </a:p>
        </p:txBody>
      </p:sp>
      <p:sp>
        <p:nvSpPr>
          <p:cNvPr id="22" name="Text 16"/>
          <p:cNvSpPr/>
          <p:nvPr/>
        </p:nvSpPr>
        <p:spPr>
          <a:xfrm>
            <a:off x="6477000" y="1600200"/>
            <a:ext cx="504926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7201A"/>
                </a:solidFill>
                <a:latin typeface="Arial" pitchFamily="34" charset="0"/>
                <a:ea typeface="Arial" pitchFamily="34" charset="-122"/>
                <a:cs typeface="Arial" pitchFamily="34" charset="-120"/>
              </a:rPr>
              <a:t>Merge commit</a:t>
            </a:r>
            <a:endParaRPr lang="en-US" sz="1600" dirty="0"/>
          </a:p>
        </p:txBody>
      </p:sp>
      <p:sp>
        <p:nvSpPr>
          <p:cNvPr id="23" name="Text 17"/>
          <p:cNvSpPr/>
          <p:nvPr/>
        </p:nvSpPr>
        <p:spPr>
          <a:xfrm>
            <a:off x="6477000" y="1879600"/>
            <a:ext cx="50492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A new commit joins the two lines of work.</a:t>
            </a:r>
            <a:endParaRPr lang="en-US" sz="1200" dirty="0"/>
          </a:p>
        </p:txBody>
      </p:sp>
      <p:sp>
        <p:nvSpPr>
          <p:cNvPr id="24" name="Text 18"/>
          <p:cNvSpPr/>
          <p:nvPr/>
        </p:nvSpPr>
        <p:spPr>
          <a:xfrm>
            <a:off x="6477000" y="2222500"/>
            <a:ext cx="19621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BEFORE</a:t>
            </a:r>
            <a:endParaRPr lang="en-US" sz="1200" dirty="0"/>
          </a:p>
        </p:txBody>
      </p:sp>
      <p:pic>
        <p:nvPicPr>
          <p:cNvPr id="25" name="Image 4" descr="connector"/>
          <p:cNvPicPr>
            <a:picLocks noChangeAspect="1"/>
          </p:cNvPicPr>
          <p:nvPr/>
        </p:nvPicPr>
        <p:blipFill>
          <a:blip r:embed="rId3"/>
          <a:srcRect/>
          <a:stretch/>
        </p:blipFill>
        <p:spPr>
          <a:xfrm>
            <a:off x="7086600" y="2641600"/>
            <a:ext cx="685800" cy="127000"/>
          </a:xfrm>
          <a:prstGeom prst="rect">
            <a:avLst/>
          </a:prstGeom>
        </p:spPr>
      </p:pic>
      <p:pic>
        <p:nvPicPr>
          <p:cNvPr id="26" name="Image 5" descr="connector"/>
          <p:cNvPicPr>
            <a:picLocks noChangeAspect="1"/>
          </p:cNvPicPr>
          <p:nvPr/>
        </p:nvPicPr>
        <p:blipFill>
          <a:blip r:embed="rId4"/>
          <a:srcRect/>
          <a:stretch/>
        </p:blipFill>
        <p:spPr>
          <a:xfrm>
            <a:off x="8077200" y="2451100"/>
            <a:ext cx="723900" cy="215900"/>
          </a:xfrm>
          <a:prstGeom prst="rect">
            <a:avLst/>
          </a:prstGeom>
        </p:spPr>
      </p:pic>
      <p:pic>
        <p:nvPicPr>
          <p:cNvPr id="27" name="Image 6" descr="connector"/>
          <p:cNvPicPr>
            <a:picLocks noChangeAspect="1"/>
          </p:cNvPicPr>
          <p:nvPr/>
        </p:nvPicPr>
        <p:blipFill>
          <a:blip r:embed="rId5"/>
          <a:srcRect/>
          <a:stretch/>
        </p:blipFill>
        <p:spPr>
          <a:xfrm>
            <a:off x="8077200" y="2743200"/>
            <a:ext cx="736600" cy="431800"/>
          </a:xfrm>
          <a:prstGeom prst="rect">
            <a:avLst/>
          </a:prstGeom>
        </p:spPr>
      </p:pic>
      <p:sp>
        <p:nvSpPr>
          <p:cNvPr id="28" name="Text 19"/>
          <p:cNvSpPr/>
          <p:nvPr/>
        </p:nvSpPr>
        <p:spPr>
          <a:xfrm>
            <a:off x="6692900" y="24765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C1</a:t>
            </a:r>
            <a:endParaRPr lang="en-US" sz="1300" dirty="0"/>
          </a:p>
        </p:txBody>
      </p:sp>
      <p:sp>
        <p:nvSpPr>
          <p:cNvPr id="29" name="Text 20"/>
          <p:cNvSpPr/>
          <p:nvPr/>
        </p:nvSpPr>
        <p:spPr>
          <a:xfrm>
            <a:off x="7708900" y="24765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C2</a:t>
            </a:r>
            <a:endParaRPr lang="en-US" sz="1300" dirty="0"/>
          </a:p>
        </p:txBody>
      </p:sp>
      <p:sp>
        <p:nvSpPr>
          <p:cNvPr id="30" name="Text 21"/>
          <p:cNvSpPr/>
          <p:nvPr/>
        </p:nvSpPr>
        <p:spPr>
          <a:xfrm>
            <a:off x="8724900" y="22860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C4</a:t>
            </a:r>
            <a:endParaRPr lang="en-US" sz="1300" dirty="0"/>
          </a:p>
        </p:txBody>
      </p:sp>
      <p:sp>
        <p:nvSpPr>
          <p:cNvPr id="31" name="Text 22"/>
          <p:cNvSpPr/>
          <p:nvPr/>
        </p:nvSpPr>
        <p:spPr>
          <a:xfrm>
            <a:off x="8724900" y="2921000"/>
            <a:ext cx="457200" cy="457200"/>
          </a:xfrm>
          <a:prstGeom prst="roundRect">
            <a:avLst>
              <a:gd name="adj" fmla="val 50000"/>
            </a:avLst>
          </a:prstGeom>
          <a:solidFill>
            <a:srgbClr val="B45309"/>
          </a:solidFill>
          <a:ln/>
        </p:spPr>
        <p:txBody>
          <a:bodyPr wrap="square" lIns="0" tIns="0" rIns="0" bIns="0" rtlCol="0" anchor="ctr">
            <a:normAutofit/>
          </a:bodyPr>
          <a:lstStyle/>
          <a:p>
            <a:pPr marL="0" indent="0" algn="ctr">
              <a:lnSpc>
                <a:spcPts val="1820"/>
              </a:lnSpc>
              <a:buNone/>
            </a:pPr>
            <a:r>
              <a:rPr lang="en-US" sz="1300" b="1" dirty="0">
                <a:solidFill>
                  <a:srgbClr val="FFF7EE"/>
                </a:solidFill>
                <a:latin typeface="Courier New" pitchFamily="49" charset="0"/>
                <a:ea typeface="Courier New" pitchFamily="49" charset="-122"/>
                <a:cs typeface="Courier New" pitchFamily="49" charset="-120"/>
              </a:rPr>
              <a:t>C3</a:t>
            </a:r>
            <a:endParaRPr lang="en-US" sz="1300" dirty="0"/>
          </a:p>
        </p:txBody>
      </p:sp>
      <p:sp>
        <p:nvSpPr>
          <p:cNvPr id="32" name="Text 23"/>
          <p:cNvSpPr/>
          <p:nvPr/>
        </p:nvSpPr>
        <p:spPr>
          <a:xfrm>
            <a:off x="9340850" y="2393950"/>
            <a:ext cx="622300" cy="241300"/>
          </a:xfrm>
          <a:custGeom>
            <a:avLst/>
            <a:gdLst/>
            <a:ahLst/>
            <a:cxnLst/>
            <a:rect l="l" t="t" r="r" b="b"/>
            <a:pathLst>
              <a:path w="622300" h="241300">
                <a:moveTo>
                  <a:pt x="120650" y="0"/>
                </a:moveTo>
                <a:lnTo>
                  <a:pt x="501650" y="0"/>
                </a:lnTo>
                <a:arcTo wR="120650" hR="120650" stAng="16200000" swAng="5400000"/>
                <a:lnTo>
                  <a:pt x="622300" y="120650"/>
                </a:lnTo>
                <a:arcTo wR="120650" hR="120650" stAng="0" swAng="5400000"/>
                <a:lnTo>
                  <a:pt x="120650" y="241300"/>
                </a:lnTo>
                <a:arcTo wR="120650" hR="120650" stAng="5400000" swAng="5400000"/>
                <a:lnTo>
                  <a:pt x="0" y="120650"/>
                </a:lnTo>
                <a:arcTo wR="120650" hR="120650" stAng="10800000" swAng="5400000"/>
                <a:close/>
              </a:path>
            </a:pathLst>
          </a:custGeom>
          <a:solidFill>
            <a:srgbClr val="E0F2EA"/>
          </a:solidFill>
          <a:ln w="12700">
            <a:solidFill>
              <a:srgbClr val="8CCBB0"/>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main</a:t>
            </a:r>
            <a:endParaRPr lang="en-US" sz="1200" dirty="0"/>
          </a:p>
        </p:txBody>
      </p:sp>
      <p:sp>
        <p:nvSpPr>
          <p:cNvPr id="33" name="Text 24"/>
          <p:cNvSpPr/>
          <p:nvPr/>
        </p:nvSpPr>
        <p:spPr>
          <a:xfrm>
            <a:off x="9340850" y="3028950"/>
            <a:ext cx="812800" cy="241300"/>
          </a:xfrm>
          <a:custGeom>
            <a:avLst/>
            <a:gdLst/>
            <a:ahLst/>
            <a:cxnLst/>
            <a:rect l="l" t="t" r="r" b="b"/>
            <a:pathLst>
              <a:path w="812800" h="241300">
                <a:moveTo>
                  <a:pt x="120650" y="0"/>
                </a:moveTo>
                <a:lnTo>
                  <a:pt x="692150" y="0"/>
                </a:lnTo>
                <a:arcTo wR="120650" hR="120650" stAng="16200000" swAng="5400000"/>
                <a:lnTo>
                  <a:pt x="812800" y="120650"/>
                </a:lnTo>
                <a:arcTo wR="120650" hR="120650" stAng="0" swAng="5400000"/>
                <a:lnTo>
                  <a:pt x="120650" y="241300"/>
                </a:lnTo>
                <a:arcTo wR="120650" hR="120650" stAng="5400000" swAng="5400000"/>
                <a:lnTo>
                  <a:pt x="0" y="120650"/>
                </a:lnTo>
                <a:arcTo wR="120650" hR="120650" stAng="10800000" swAng="5400000"/>
                <a:close/>
              </a:path>
            </a:pathLst>
          </a:custGeom>
          <a:solidFill>
            <a:srgbClr val="FDF0E1"/>
          </a:solidFill>
          <a:ln w="12700">
            <a:solidFill>
              <a:srgbClr val="E8B27A"/>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feature</a:t>
            </a:r>
            <a:endParaRPr lang="en-US" sz="1200" dirty="0"/>
          </a:p>
        </p:txBody>
      </p:sp>
      <p:sp>
        <p:nvSpPr>
          <p:cNvPr id="34" name="Text 25"/>
          <p:cNvSpPr/>
          <p:nvPr/>
        </p:nvSpPr>
        <p:spPr>
          <a:xfrm>
            <a:off x="6477000" y="3556000"/>
            <a:ext cx="19621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itchFamily="34" charset="0"/>
                <a:ea typeface="Arial" pitchFamily="34" charset="-122"/>
                <a:cs typeface="Arial" pitchFamily="34" charset="-120"/>
              </a:rPr>
              <a:t>AFTER</a:t>
            </a:r>
            <a:endParaRPr lang="en-US" sz="1200" dirty="0"/>
          </a:p>
        </p:txBody>
      </p:sp>
      <p:pic>
        <p:nvPicPr>
          <p:cNvPr id="35" name="Image 7" descr="connector"/>
          <p:cNvPicPr>
            <a:picLocks noChangeAspect="1"/>
          </p:cNvPicPr>
          <p:nvPr/>
        </p:nvPicPr>
        <p:blipFill>
          <a:blip r:embed="rId3"/>
          <a:srcRect/>
          <a:stretch/>
        </p:blipFill>
        <p:spPr>
          <a:xfrm>
            <a:off x="7086600" y="3975100"/>
            <a:ext cx="685800" cy="127000"/>
          </a:xfrm>
          <a:prstGeom prst="rect">
            <a:avLst/>
          </a:prstGeom>
        </p:spPr>
      </p:pic>
      <p:pic>
        <p:nvPicPr>
          <p:cNvPr id="36" name="Image 8" descr="connector"/>
          <p:cNvPicPr>
            <a:picLocks noChangeAspect="1"/>
          </p:cNvPicPr>
          <p:nvPr/>
        </p:nvPicPr>
        <p:blipFill>
          <a:blip r:embed="rId4"/>
          <a:srcRect/>
          <a:stretch/>
        </p:blipFill>
        <p:spPr>
          <a:xfrm>
            <a:off x="8077200" y="3784600"/>
            <a:ext cx="723900" cy="215900"/>
          </a:xfrm>
          <a:prstGeom prst="rect">
            <a:avLst/>
          </a:prstGeom>
        </p:spPr>
      </p:pic>
      <p:pic>
        <p:nvPicPr>
          <p:cNvPr id="37" name="Image 9" descr="connector"/>
          <p:cNvPicPr>
            <a:picLocks noChangeAspect="1"/>
          </p:cNvPicPr>
          <p:nvPr/>
        </p:nvPicPr>
        <p:blipFill>
          <a:blip r:embed="rId6"/>
          <a:srcRect/>
          <a:stretch/>
        </p:blipFill>
        <p:spPr>
          <a:xfrm>
            <a:off x="8077200" y="4076700"/>
            <a:ext cx="736600" cy="406400"/>
          </a:xfrm>
          <a:prstGeom prst="rect">
            <a:avLst/>
          </a:prstGeom>
        </p:spPr>
      </p:pic>
      <p:pic>
        <p:nvPicPr>
          <p:cNvPr id="38" name="Image 10" descr="connector"/>
          <p:cNvPicPr>
            <a:picLocks noChangeAspect="1"/>
          </p:cNvPicPr>
          <p:nvPr/>
        </p:nvPicPr>
        <p:blipFill>
          <a:blip r:embed="rId7"/>
          <a:srcRect/>
          <a:stretch/>
        </p:blipFill>
        <p:spPr>
          <a:xfrm>
            <a:off x="9118600" y="3848100"/>
            <a:ext cx="711200" cy="317500"/>
          </a:xfrm>
          <a:prstGeom prst="rect">
            <a:avLst/>
          </a:prstGeom>
        </p:spPr>
      </p:pic>
      <p:pic>
        <p:nvPicPr>
          <p:cNvPr id="39" name="Image 11" descr="connector"/>
          <p:cNvPicPr>
            <a:picLocks noChangeAspect="1"/>
          </p:cNvPicPr>
          <p:nvPr/>
        </p:nvPicPr>
        <p:blipFill>
          <a:blip r:embed="rId8"/>
          <a:srcRect/>
          <a:stretch/>
        </p:blipFill>
        <p:spPr>
          <a:xfrm>
            <a:off x="9118600" y="4191000"/>
            <a:ext cx="723900" cy="292100"/>
          </a:xfrm>
          <a:prstGeom prst="rect">
            <a:avLst/>
          </a:prstGeom>
        </p:spPr>
      </p:pic>
      <p:sp>
        <p:nvSpPr>
          <p:cNvPr id="40" name="Text 26"/>
          <p:cNvSpPr/>
          <p:nvPr/>
        </p:nvSpPr>
        <p:spPr>
          <a:xfrm>
            <a:off x="6692900" y="38100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C1</a:t>
            </a:r>
            <a:endParaRPr lang="en-US" sz="1300" dirty="0"/>
          </a:p>
        </p:txBody>
      </p:sp>
      <p:sp>
        <p:nvSpPr>
          <p:cNvPr id="41" name="Text 27"/>
          <p:cNvSpPr/>
          <p:nvPr/>
        </p:nvSpPr>
        <p:spPr>
          <a:xfrm>
            <a:off x="7708900" y="38100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C2</a:t>
            </a:r>
            <a:endParaRPr lang="en-US" sz="1300" dirty="0"/>
          </a:p>
        </p:txBody>
      </p:sp>
      <p:sp>
        <p:nvSpPr>
          <p:cNvPr id="42" name="Text 28"/>
          <p:cNvSpPr/>
          <p:nvPr/>
        </p:nvSpPr>
        <p:spPr>
          <a:xfrm>
            <a:off x="8724900" y="3619500"/>
            <a:ext cx="457200" cy="457200"/>
          </a:xfrm>
          <a:prstGeom prst="roundRect">
            <a:avLst>
              <a:gd name="adj" fmla="val 50000"/>
            </a:avLst>
          </a:prstGeom>
          <a:solidFill>
            <a:srgbClr val="0F7B54"/>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C4</a:t>
            </a:r>
            <a:endParaRPr lang="en-US" sz="1300" dirty="0"/>
          </a:p>
        </p:txBody>
      </p:sp>
      <p:sp>
        <p:nvSpPr>
          <p:cNvPr id="43" name="Text 29"/>
          <p:cNvSpPr/>
          <p:nvPr/>
        </p:nvSpPr>
        <p:spPr>
          <a:xfrm>
            <a:off x="8724900" y="4254500"/>
            <a:ext cx="457200" cy="457200"/>
          </a:xfrm>
          <a:prstGeom prst="roundRect">
            <a:avLst>
              <a:gd name="adj" fmla="val 50000"/>
            </a:avLst>
          </a:prstGeom>
          <a:solidFill>
            <a:srgbClr val="B45309"/>
          </a:solidFill>
          <a:ln/>
        </p:spPr>
        <p:txBody>
          <a:bodyPr wrap="square" lIns="0" tIns="0" rIns="0" bIns="0" rtlCol="0" anchor="ctr">
            <a:normAutofit/>
          </a:bodyPr>
          <a:lstStyle/>
          <a:p>
            <a:pPr marL="0" indent="0" algn="ctr">
              <a:lnSpc>
                <a:spcPts val="1820"/>
              </a:lnSpc>
              <a:buNone/>
            </a:pPr>
            <a:r>
              <a:rPr lang="en-US" sz="1300" b="1" dirty="0">
                <a:solidFill>
                  <a:srgbClr val="FFF7EE"/>
                </a:solidFill>
                <a:latin typeface="Courier New" pitchFamily="49" charset="0"/>
                <a:ea typeface="Courier New" pitchFamily="49" charset="-122"/>
                <a:cs typeface="Courier New" pitchFamily="49" charset="-120"/>
              </a:rPr>
              <a:t>C3</a:t>
            </a:r>
            <a:endParaRPr lang="en-US" sz="1300" dirty="0"/>
          </a:p>
        </p:txBody>
      </p:sp>
      <p:sp>
        <p:nvSpPr>
          <p:cNvPr id="44" name="Text 30"/>
          <p:cNvSpPr/>
          <p:nvPr/>
        </p:nvSpPr>
        <p:spPr>
          <a:xfrm>
            <a:off x="9740900" y="3937000"/>
            <a:ext cx="457200" cy="457200"/>
          </a:xfrm>
          <a:prstGeom prst="roundRect">
            <a:avLst>
              <a:gd name="adj" fmla="val 50000"/>
            </a:avLst>
          </a:prstGeom>
          <a:solidFill>
            <a:srgbClr val="07201A"/>
          </a:solidFill>
          <a:ln/>
        </p:spPr>
        <p:txBody>
          <a:bodyPr wrap="square" lIns="0" tIns="0" rIns="0" bIns="0" rtlCol="0" anchor="ctr">
            <a:normAutofit/>
          </a:bodyPr>
          <a:lstStyle/>
          <a:p>
            <a:pPr marL="0" indent="0" algn="ctr">
              <a:lnSpc>
                <a:spcPts val="1820"/>
              </a:lnSpc>
              <a:buNone/>
            </a:pPr>
            <a:r>
              <a:rPr lang="en-US" sz="1300" b="1" dirty="0">
                <a:solidFill>
                  <a:srgbClr val="F3F8F5"/>
                </a:solidFill>
                <a:latin typeface="Courier New" pitchFamily="49" charset="0"/>
                <a:ea typeface="Courier New" pitchFamily="49" charset="-122"/>
                <a:cs typeface="Courier New" pitchFamily="49" charset="-120"/>
              </a:rPr>
              <a:t>M</a:t>
            </a:r>
            <a:endParaRPr lang="en-US" sz="1300" dirty="0"/>
          </a:p>
        </p:txBody>
      </p:sp>
      <p:sp>
        <p:nvSpPr>
          <p:cNvPr id="45" name="Text 31"/>
          <p:cNvSpPr/>
          <p:nvPr/>
        </p:nvSpPr>
        <p:spPr>
          <a:xfrm>
            <a:off x="9658350" y="4476750"/>
            <a:ext cx="622300" cy="241300"/>
          </a:xfrm>
          <a:custGeom>
            <a:avLst/>
            <a:gdLst/>
            <a:ahLst/>
            <a:cxnLst/>
            <a:rect l="l" t="t" r="r" b="b"/>
            <a:pathLst>
              <a:path w="622300" h="241300">
                <a:moveTo>
                  <a:pt x="120650" y="0"/>
                </a:moveTo>
                <a:lnTo>
                  <a:pt x="501650" y="0"/>
                </a:lnTo>
                <a:arcTo wR="120650" hR="120650" stAng="16200000" swAng="5400000"/>
                <a:lnTo>
                  <a:pt x="622300" y="120650"/>
                </a:lnTo>
                <a:arcTo wR="120650" hR="120650" stAng="0" swAng="5400000"/>
                <a:lnTo>
                  <a:pt x="120650" y="241300"/>
                </a:lnTo>
                <a:arcTo wR="120650" hR="120650" stAng="5400000" swAng="5400000"/>
                <a:lnTo>
                  <a:pt x="0" y="120650"/>
                </a:lnTo>
                <a:arcTo wR="120650" hR="120650" stAng="10800000" swAng="5400000"/>
                <a:close/>
              </a:path>
            </a:pathLst>
          </a:custGeom>
          <a:solidFill>
            <a:srgbClr val="E0F2EA"/>
          </a:solidFill>
          <a:ln w="12700">
            <a:solidFill>
              <a:srgbClr val="8CCBB0"/>
            </a:solidFill>
            <a:prstDash val="solid"/>
          </a:ln>
        </p:spPr>
        <p:txBody>
          <a:bodyPr wrap="square" lIns="3810" tIns="1270" rIns="3810" bIns="1270" rtlCol="0" anchor="ctr">
            <a:normAutofit/>
          </a:bodyPr>
          <a:lstStyle/>
          <a:p>
            <a:pPr marL="0" indent="0" algn="ctr">
              <a:lnSpc>
                <a:spcPts val="1680"/>
              </a:lnSpc>
              <a:buNone/>
            </a:pPr>
            <a:r>
              <a:rPr lang="en-US" sz="1200" b="1" dirty="0">
                <a:solidFill>
                  <a:srgbClr val="07201A"/>
                </a:solidFill>
                <a:latin typeface="Courier New" pitchFamily="49" charset="0"/>
                <a:ea typeface="Courier New" pitchFamily="49" charset="-122"/>
                <a:cs typeface="Courier New" pitchFamily="49" charset="-120"/>
              </a:rPr>
              <a:t>main</a:t>
            </a:r>
            <a:endParaRPr lang="en-US" sz="1200" dirty="0"/>
          </a:p>
        </p:txBody>
      </p:sp>
      <p:sp>
        <p:nvSpPr>
          <p:cNvPr id="46" name="Text 32"/>
          <p:cNvSpPr/>
          <p:nvPr/>
        </p:nvSpPr>
        <p:spPr>
          <a:xfrm>
            <a:off x="812800" y="5080000"/>
            <a:ext cx="1088339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Fast-forward and 3-way merge flows are implemented. Local branches only. Conflicts are detected at the file/path level (next slides). All names and commits are illustrative.</a:t>
            </a:r>
            <a:endParaRPr lang="en-US" sz="1200" dirty="0"/>
          </a:p>
        </p:txBody>
      </p:sp>
      <p:pic>
        <p:nvPicPr>
          <p:cNvPr id="47" name="Image 12" descr="Loki logo"/>
          <p:cNvPicPr>
            <a:picLocks noChangeAspect="1"/>
          </p:cNvPicPr>
          <p:nvPr/>
        </p:nvPicPr>
        <p:blipFill>
          <a:blip r:embed="rId9"/>
          <a:srcRect t="88" b="88"/>
          <a:stretch/>
        </p:blipFill>
        <p:spPr>
          <a:xfrm>
            <a:off x="812800" y="6159500"/>
            <a:ext cx="279400" cy="368300"/>
          </a:xfrm>
          <a:prstGeom prst="roundRect">
            <a:avLst>
              <a:gd name="adj" fmla="val 18182"/>
            </a:avLst>
          </a:prstGeom>
        </p:spPr>
      </p:pic>
      <p:sp>
        <p:nvSpPr>
          <p:cNvPr id="48" name="Text 33"/>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49" name="Text 34"/>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E · MERGE AND CONFLICT HANDLING</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File-Level Three-Way Merge</a:t>
            </a:r>
            <a:endParaRPr lang="en-US" sz="3200" dirty="0"/>
          </a:p>
        </p:txBody>
      </p:sp>
      <p:sp>
        <p:nvSpPr>
          <p:cNvPr id="4" name="Shape 2"/>
          <p:cNvSpPr/>
          <p:nvPr/>
        </p:nvSpPr>
        <p:spPr>
          <a:xfrm>
            <a:off x="819150" y="1539255"/>
            <a:ext cx="2400300" cy="939800"/>
          </a:xfrm>
          <a:prstGeom prst="roundRect">
            <a:avLst>
              <a:gd name="adj" fmla="val 10135"/>
            </a:avLst>
          </a:prstGeom>
          <a:solidFill>
            <a:srgbClr val="FBFCFE"/>
          </a:solidFill>
          <a:ln w="12700">
            <a:solidFill>
              <a:srgbClr val="C7D8CE"/>
            </a:solidFill>
            <a:prstDash val="solid"/>
          </a:ln>
        </p:spPr>
      </p:sp>
      <p:sp>
        <p:nvSpPr>
          <p:cNvPr id="5" name="Text 3"/>
          <p:cNvSpPr/>
          <p:nvPr/>
        </p:nvSpPr>
        <p:spPr>
          <a:xfrm>
            <a:off x="975360" y="1670050"/>
            <a:ext cx="21505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Common base</a:t>
            </a:r>
            <a:endParaRPr lang="en-US" sz="1600" dirty="0"/>
          </a:p>
        </p:txBody>
      </p:sp>
      <p:sp>
        <p:nvSpPr>
          <p:cNvPr id="6" name="Text 4"/>
          <p:cNvSpPr/>
          <p:nvPr/>
        </p:nvSpPr>
        <p:spPr>
          <a:xfrm>
            <a:off x="975360" y="1952005"/>
            <a:ext cx="2150517"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Arial" pitchFamily="34" charset="0"/>
                <a:ea typeface="Arial" pitchFamily="34" charset="-122"/>
                <a:cs typeface="Arial" pitchFamily="34" charset="-120"/>
              </a:rPr>
              <a:t>The file at the shared starting point</a:t>
            </a:r>
            <a:endParaRPr lang="en-US" sz="1200" dirty="0"/>
          </a:p>
        </p:txBody>
      </p:sp>
      <p:pic>
        <p:nvPicPr>
          <p:cNvPr id="7" name="Image 0" descr="arrow-right"/>
          <p:cNvPicPr>
            <a:picLocks noChangeAspect="1"/>
          </p:cNvPicPr>
          <p:nvPr/>
        </p:nvPicPr>
        <p:blipFill>
          <a:blip r:embed="rId3"/>
          <a:srcRect/>
          <a:stretch/>
        </p:blipFill>
        <p:spPr>
          <a:xfrm>
            <a:off x="3327400" y="1920255"/>
            <a:ext cx="304800" cy="177800"/>
          </a:xfrm>
          <a:prstGeom prst="rect">
            <a:avLst/>
          </a:prstGeom>
        </p:spPr>
      </p:pic>
      <p:sp>
        <p:nvSpPr>
          <p:cNvPr id="8" name="Text 5"/>
          <p:cNvSpPr/>
          <p:nvPr/>
        </p:nvSpPr>
        <p:spPr>
          <a:xfrm>
            <a:off x="3740150" y="1530350"/>
            <a:ext cx="4711700" cy="434340"/>
          </a:xfrm>
          <a:prstGeom prst="roundRect">
            <a:avLst>
              <a:gd name="adj" fmla="val 19006"/>
            </a:avLst>
          </a:prstGeom>
          <a:solidFill>
            <a:srgbClr val="E0F2EA"/>
          </a:solidFill>
          <a:ln w="12700">
            <a:solidFill>
              <a:srgbClr val="8CCBB0"/>
            </a:solidFill>
            <a:prstDash val="solid"/>
          </a:ln>
        </p:spPr>
        <p:txBody>
          <a:bodyPr wrap="square" lIns="119332" tIns="68532" rIns="0" bIns="4313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Current branch version</a:t>
            </a:r>
            <a:endParaRPr lang="en-US" sz="1400" dirty="0"/>
          </a:p>
        </p:txBody>
      </p:sp>
      <p:sp>
        <p:nvSpPr>
          <p:cNvPr id="9" name="Text 6"/>
          <p:cNvSpPr/>
          <p:nvPr/>
        </p:nvSpPr>
        <p:spPr>
          <a:xfrm>
            <a:off x="3740150" y="2053605"/>
            <a:ext cx="4711700" cy="434340"/>
          </a:xfrm>
          <a:prstGeom prst="roundRect">
            <a:avLst>
              <a:gd name="adj" fmla="val 19006"/>
            </a:avLst>
          </a:prstGeom>
          <a:solidFill>
            <a:srgbClr val="FDF0E1"/>
          </a:solidFill>
          <a:ln w="12700">
            <a:solidFill>
              <a:srgbClr val="E8B27A"/>
            </a:solidFill>
            <a:prstDash val="solid"/>
          </a:ln>
        </p:spPr>
        <p:txBody>
          <a:bodyPr wrap="square" lIns="119332" tIns="68532" rIns="0" bIns="43132" rtlCol="0" anchor="t">
            <a:normAutofit/>
          </a:bodyPr>
          <a:lstStyle/>
          <a:p>
            <a:pPr marL="0" indent="0" algn="l">
              <a:lnSpc>
                <a:spcPts val="1960"/>
              </a:lnSpc>
              <a:buNone/>
            </a:pPr>
            <a:r>
              <a:rPr lang="en-US" sz="1400" b="1" dirty="0">
                <a:solidFill>
                  <a:srgbClr val="07201A"/>
                </a:solidFill>
                <a:latin typeface="Arial" pitchFamily="34" charset="0"/>
                <a:ea typeface="Arial" pitchFamily="34" charset="-122"/>
                <a:cs typeface="Arial" pitchFamily="34" charset="-120"/>
              </a:rPr>
              <a:t>Other branch version</a:t>
            </a:r>
            <a:endParaRPr lang="en-US" sz="1400" dirty="0"/>
          </a:p>
        </p:txBody>
      </p:sp>
      <p:pic>
        <p:nvPicPr>
          <p:cNvPr id="10" name="Image 1" descr="arrow-right"/>
          <p:cNvPicPr>
            <a:picLocks noChangeAspect="1"/>
          </p:cNvPicPr>
          <p:nvPr/>
        </p:nvPicPr>
        <p:blipFill>
          <a:blip r:embed="rId3"/>
          <a:srcRect/>
          <a:stretch/>
        </p:blipFill>
        <p:spPr>
          <a:xfrm>
            <a:off x="8559800" y="1920255"/>
            <a:ext cx="304800" cy="177800"/>
          </a:xfrm>
          <a:prstGeom prst="rect">
            <a:avLst/>
          </a:prstGeom>
        </p:spPr>
      </p:pic>
      <p:sp>
        <p:nvSpPr>
          <p:cNvPr id="11" name="Shape 7"/>
          <p:cNvSpPr/>
          <p:nvPr/>
        </p:nvSpPr>
        <p:spPr>
          <a:xfrm>
            <a:off x="8966200" y="1642120"/>
            <a:ext cx="2413000" cy="734060"/>
          </a:xfrm>
          <a:prstGeom prst="roundRect">
            <a:avLst>
              <a:gd name="adj" fmla="val 13841"/>
            </a:avLst>
          </a:prstGeom>
          <a:solidFill>
            <a:srgbClr val="0F7B54"/>
          </a:solidFill>
          <a:ln/>
        </p:spPr>
      </p:sp>
      <p:sp>
        <p:nvSpPr>
          <p:cNvPr id="12" name="Text 8"/>
          <p:cNvSpPr/>
          <p:nvPr/>
        </p:nvSpPr>
        <p:spPr>
          <a:xfrm>
            <a:off x="9118600" y="1769120"/>
            <a:ext cx="21714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8F5"/>
                </a:solidFill>
                <a:latin typeface="Arial" pitchFamily="34" charset="0"/>
                <a:ea typeface="Arial" pitchFamily="34" charset="-122"/>
                <a:cs typeface="Arial" pitchFamily="34" charset="-120"/>
              </a:rPr>
              <a:t>Merge result</a:t>
            </a:r>
            <a:endParaRPr lang="en-US" sz="1600" dirty="0"/>
          </a:p>
        </p:txBody>
      </p:sp>
      <p:sp>
        <p:nvSpPr>
          <p:cNvPr id="13" name="Text 9"/>
          <p:cNvSpPr/>
          <p:nvPr/>
        </p:nvSpPr>
        <p:spPr>
          <a:xfrm>
            <a:off x="9118600" y="2051050"/>
            <a:ext cx="217144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0F2EA"/>
                </a:solidFill>
                <a:latin typeface="Arial" pitchFamily="34" charset="0"/>
                <a:ea typeface="Arial" pitchFamily="34" charset="-122"/>
                <a:cs typeface="Arial" pitchFamily="34" charset="-120"/>
              </a:rPr>
              <a:t>Decided per file path</a:t>
            </a:r>
            <a:endParaRPr lang="en-US" sz="1200" dirty="0"/>
          </a:p>
        </p:txBody>
      </p:sp>
      <p:sp>
        <p:nvSpPr>
          <p:cNvPr id="14" name="Shape 10"/>
          <p:cNvSpPr/>
          <p:nvPr/>
        </p:nvSpPr>
        <p:spPr>
          <a:xfrm>
            <a:off x="812800" y="2697485"/>
            <a:ext cx="10566400" cy="1442720"/>
          </a:xfrm>
          <a:prstGeom prst="rect">
            <a:avLst/>
          </a:prstGeom>
          <a:solidFill>
            <a:srgbClr val="FBFCFE"/>
          </a:solidFill>
          <a:ln/>
        </p:spPr>
      </p:sp>
      <p:sp>
        <p:nvSpPr>
          <p:cNvPr id="15" name="Shape 11"/>
          <p:cNvSpPr/>
          <p:nvPr/>
        </p:nvSpPr>
        <p:spPr>
          <a:xfrm>
            <a:off x="11376025" y="2697485"/>
            <a:ext cx="0" cy="1442720"/>
          </a:xfrm>
          <a:prstGeom prst="line">
            <a:avLst/>
          </a:prstGeom>
          <a:noFill/>
          <a:ln w="6350">
            <a:solidFill>
              <a:srgbClr val="C7D8CE"/>
            </a:solidFill>
            <a:prstDash val="solid"/>
          </a:ln>
        </p:spPr>
      </p:sp>
      <p:sp>
        <p:nvSpPr>
          <p:cNvPr id="16" name="Shape 12"/>
          <p:cNvSpPr/>
          <p:nvPr/>
        </p:nvSpPr>
        <p:spPr>
          <a:xfrm>
            <a:off x="812800" y="4137030"/>
            <a:ext cx="10566400" cy="0"/>
          </a:xfrm>
          <a:prstGeom prst="line">
            <a:avLst/>
          </a:prstGeom>
          <a:noFill/>
          <a:ln w="6350">
            <a:solidFill>
              <a:srgbClr val="C7D8CE"/>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2707645"/>
          <a:ext cx="10551160" cy="1427480"/>
        </p:xfrm>
        <a:graphic>
          <a:graphicData uri="http://schemas.openxmlformats.org/drawingml/2006/table">
            <a:tbl>
              <a:tblPr/>
              <a:tblGrid>
                <a:gridCol w="5803138">
                  <a:extLst>
                    <a:ext uri="{9D8B030D-6E8A-4147-A177-3AD203B41FA5}">
                      <a16:colId xmlns:a16="http://schemas.microsoft.com/office/drawing/2014/main" val="20000"/>
                    </a:ext>
                  </a:extLst>
                </a:gridCol>
                <a:gridCol w="4748022">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07201A"/>
                          </a:solidFill>
                          <a:latin typeface="Arial" pitchFamily="34" charset="0"/>
                          <a:ea typeface="Arial" pitchFamily="34" charset="-122"/>
                          <a:cs typeface="Arial" pitchFamily="34" charset="-120"/>
                        </a:rPr>
                        <a:t>For each file path</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B"/>
                    </a:solidFill>
                  </a:tcPr>
                </a:tc>
                <a:tc>
                  <a:txBody>
                    <a:bodyPr/>
                    <a:lstStyle/>
                    <a:p>
                      <a:pPr marL="0" indent="0">
                        <a:lnSpc>
                          <a:spcPts val="1820"/>
                        </a:lnSpc>
                        <a:buNone/>
                      </a:pPr>
                      <a:r>
                        <a:rPr lang="en-US" sz="1300" b="1" dirty="0">
                          <a:solidFill>
                            <a:srgbClr val="07201A"/>
                          </a:solidFill>
                          <a:latin typeface="Arial" pitchFamily="34" charset="0"/>
                          <a:ea typeface="Arial" pitchFamily="34" charset="-122"/>
                          <a:cs typeface="Arial" pitchFamily="34" charset="-120"/>
                        </a:rPr>
                        <a:t>Outcome</a:t>
                      </a:r>
                      <a:endParaRPr lang="en-US" sz="1300" dirty="0">
                        <a:latin typeface="Arial" charset="0"/>
                        <a:ea typeface="Arial" charset="0"/>
                        <a:cs typeface="Arial" charset="0"/>
                      </a:endParaRPr>
                    </a:p>
                  </a:txBody>
                  <a:tcPr marL="57785" marR="57785" marT="57785" marB="57785">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B"/>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Changed on only one side</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That side's version is used</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Changed differently on both sides</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Reported as a conflict</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Unchanged on both sides</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820"/>
                        </a:lnSpc>
                        <a:buNone/>
                      </a:pPr>
                      <a:r>
                        <a:rPr lang="en-US" sz="1300" dirty="0">
                          <a:solidFill>
                            <a:srgbClr val="07201A"/>
                          </a:solidFill>
                          <a:latin typeface="Arial" pitchFamily="34" charset="0"/>
                          <a:ea typeface="Arial" pitchFamily="34" charset="-122"/>
                          <a:cs typeface="Arial" pitchFamily="34" charset="-120"/>
                        </a:rPr>
                        <a:t>The file stays as it is</a:t>
                      </a:r>
                      <a:endParaRPr lang="en-US" sz="1300" dirty="0">
                        <a:latin typeface="Arial" charset="0"/>
                        <a:ea typeface="Arial" charset="0"/>
                        <a:cs typeface="Arial" charset="0"/>
                      </a:endParaRPr>
                    </a:p>
                  </a:txBody>
                  <a:tcPr marL="57785" marR="57785" marT="57785" marB="57785">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8" name="Text 13"/>
          <p:cNvSpPr/>
          <p:nvPr/>
        </p:nvSpPr>
        <p:spPr>
          <a:xfrm>
            <a:off x="812800" y="43434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The documentation lists 3-way merge flows. This table is a conceptual file-level rule; merge decisions are file/path-based, not line-by-line.</a:t>
            </a:r>
            <a:endParaRPr lang="en-US" sz="1200" dirty="0"/>
          </a:p>
        </p:txBody>
      </p:sp>
      <p:pic>
        <p:nvPicPr>
          <p:cNvPr id="19" name="Image 2"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20" name="Text 14"/>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1" name="Text 15"/>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E · MERGE AND CONFLICT HANDLING</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Merge Conflicts</a:t>
            </a:r>
            <a:endParaRPr lang="en-US" sz="3200" dirty="0"/>
          </a:p>
        </p:txBody>
      </p:sp>
      <p:sp>
        <p:nvSpPr>
          <p:cNvPr id="4" name="Shape 2"/>
          <p:cNvSpPr/>
          <p:nvPr/>
        </p:nvSpPr>
        <p:spPr>
          <a:xfrm>
            <a:off x="812800" y="1524000"/>
            <a:ext cx="5207000" cy="2780030"/>
          </a:xfrm>
          <a:prstGeom prst="roundRect">
            <a:avLst>
              <a:gd name="adj" fmla="val 3655"/>
            </a:avLst>
          </a:prstGeom>
          <a:solidFill>
            <a:srgbClr val="07201A"/>
          </a:solidFill>
          <a:ln/>
        </p:spPr>
      </p:sp>
      <p:sp>
        <p:nvSpPr>
          <p:cNvPr id="5" name="Text 3"/>
          <p:cNvSpPr/>
          <p:nvPr/>
        </p:nvSpPr>
        <p:spPr>
          <a:xfrm>
            <a:off x="1003300" y="1676400"/>
            <a:ext cx="497078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A0"/>
                </a:solidFill>
                <a:latin typeface="Arial" pitchFamily="34" charset="0"/>
                <a:ea typeface="Arial" pitchFamily="34" charset="-122"/>
                <a:cs typeface="Arial" pitchFamily="34" charset="-120"/>
              </a:rPr>
              <a:t>ILLUSTRATIVE CONFLICTED FILE</a:t>
            </a:r>
            <a:endParaRPr lang="en-US" sz="1200" dirty="0"/>
          </a:p>
        </p:txBody>
      </p:sp>
      <p:sp>
        <p:nvSpPr>
          <p:cNvPr id="6" name="Text 4"/>
          <p:cNvSpPr/>
          <p:nvPr/>
        </p:nvSpPr>
        <p:spPr>
          <a:xfrm>
            <a:off x="1003300" y="1965970"/>
            <a:ext cx="4970780" cy="300990"/>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E6B94A"/>
                </a:solidFill>
                <a:latin typeface="Courier New" pitchFamily="49" charset="0"/>
                <a:ea typeface="Courier New" pitchFamily="49" charset="-122"/>
                <a:cs typeface="Courier New" pitchFamily="49" charset="-120"/>
              </a:rPr>
              <a:t>&lt;&lt;&lt;&lt;&lt;&lt;&lt; current</a:t>
            </a:r>
            <a:endParaRPr lang="en-US" sz="1400" dirty="0"/>
          </a:p>
        </p:txBody>
      </p:sp>
      <p:sp>
        <p:nvSpPr>
          <p:cNvPr id="7" name="Text 5"/>
          <p:cNvSpPr/>
          <p:nvPr/>
        </p:nvSpPr>
        <p:spPr>
          <a:xfrm>
            <a:off x="1003300" y="2317750"/>
            <a:ext cx="4970780" cy="300990"/>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E6F2EC"/>
                </a:solidFill>
                <a:latin typeface="Courier New" pitchFamily="49" charset="0"/>
                <a:ea typeface="Courier New" pitchFamily="49" charset="-122"/>
                <a:cs typeface="Courier New" pitchFamily="49" charset="-120"/>
              </a:rPr>
              <a:t>greeting = "Hello"</a:t>
            </a:r>
            <a:endParaRPr lang="en-US" sz="1400" dirty="0"/>
          </a:p>
        </p:txBody>
      </p:sp>
      <p:sp>
        <p:nvSpPr>
          <p:cNvPr id="8" name="Text 6"/>
          <p:cNvSpPr/>
          <p:nvPr/>
        </p:nvSpPr>
        <p:spPr>
          <a:xfrm>
            <a:off x="1003300" y="2669555"/>
            <a:ext cx="4970780" cy="300990"/>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A8C8BB"/>
                </a:solidFill>
                <a:latin typeface="Courier New" pitchFamily="49" charset="0"/>
                <a:ea typeface="Courier New" pitchFamily="49" charset="-122"/>
                <a:cs typeface="Courier New" pitchFamily="49" charset="-120"/>
              </a:rPr>
              <a:t>=======</a:t>
            </a:r>
            <a:endParaRPr lang="en-US" sz="1400" dirty="0"/>
          </a:p>
        </p:txBody>
      </p:sp>
      <p:sp>
        <p:nvSpPr>
          <p:cNvPr id="9" name="Text 7"/>
          <p:cNvSpPr/>
          <p:nvPr/>
        </p:nvSpPr>
        <p:spPr>
          <a:xfrm>
            <a:off x="1003300" y="3021335"/>
            <a:ext cx="4970780" cy="300990"/>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E6F2EC"/>
                </a:solidFill>
                <a:latin typeface="Courier New" pitchFamily="49" charset="0"/>
                <a:ea typeface="Courier New" pitchFamily="49" charset="-122"/>
                <a:cs typeface="Courier New" pitchFamily="49" charset="-120"/>
              </a:rPr>
              <a:t>greeting = "Hi"</a:t>
            </a:r>
            <a:endParaRPr lang="en-US" sz="1400" dirty="0"/>
          </a:p>
        </p:txBody>
      </p:sp>
      <p:sp>
        <p:nvSpPr>
          <p:cNvPr id="10" name="Text 8"/>
          <p:cNvSpPr/>
          <p:nvPr/>
        </p:nvSpPr>
        <p:spPr>
          <a:xfrm>
            <a:off x="1003300" y="3373115"/>
            <a:ext cx="4970780" cy="300990"/>
          </a:xfrm>
          <a:prstGeom prst="rect">
            <a:avLst/>
          </a:prstGeom>
          <a:noFill/>
          <a:ln/>
        </p:spPr>
        <p:txBody>
          <a:bodyPr wrap="none" lIns="0" tIns="0" rIns="0" bIns="0" rtlCol="0" anchor="t">
            <a:normAutofit/>
          </a:bodyPr>
          <a:lstStyle/>
          <a:p>
            <a:pPr marL="0" indent="0" algn="l">
              <a:lnSpc>
                <a:spcPts val="2170"/>
              </a:lnSpc>
              <a:buNone/>
            </a:pPr>
            <a:r>
              <a:rPr lang="en-US" sz="1400" dirty="0">
                <a:solidFill>
                  <a:srgbClr val="F59E5B"/>
                </a:solidFill>
                <a:latin typeface="Courier New" pitchFamily="49" charset="0"/>
                <a:ea typeface="Courier New" pitchFamily="49" charset="-122"/>
                <a:cs typeface="Courier New" pitchFamily="49" charset="-120"/>
              </a:rPr>
              <a:t>&gt;&gt;&gt;&gt;&gt;&gt;&gt; other</a:t>
            </a:r>
            <a:endParaRPr lang="en-US" sz="1400" dirty="0"/>
          </a:p>
        </p:txBody>
      </p:sp>
      <p:sp>
        <p:nvSpPr>
          <p:cNvPr id="11" name="Text 9"/>
          <p:cNvSpPr/>
          <p:nvPr/>
        </p:nvSpPr>
        <p:spPr>
          <a:xfrm>
            <a:off x="1003300" y="3724920"/>
            <a:ext cx="49707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Sample content only; the exact marker format is not specified in the summary.</a:t>
            </a:r>
            <a:endParaRPr lang="en-US" sz="1200" dirty="0"/>
          </a:p>
        </p:txBody>
      </p:sp>
      <p:sp>
        <p:nvSpPr>
          <p:cNvPr id="12" name="Shape 10"/>
          <p:cNvSpPr/>
          <p:nvPr/>
        </p:nvSpPr>
        <p:spPr>
          <a:xfrm>
            <a:off x="6229350" y="1530350"/>
            <a:ext cx="5143500" cy="972820"/>
          </a:xfrm>
          <a:prstGeom prst="roundRect">
            <a:avLst>
              <a:gd name="adj" fmla="val 9791"/>
            </a:avLst>
          </a:prstGeom>
          <a:solidFill>
            <a:srgbClr val="FBFCFE"/>
          </a:solidFill>
          <a:ln w="12700">
            <a:solidFill>
              <a:srgbClr val="C7D8CE"/>
            </a:solidFill>
            <a:prstDash val="solid"/>
          </a:ln>
        </p:spPr>
      </p:sp>
      <p:sp>
        <p:nvSpPr>
          <p:cNvPr id="13" name="Text 11"/>
          <p:cNvSpPr/>
          <p:nvPr/>
        </p:nvSpPr>
        <p:spPr>
          <a:xfrm>
            <a:off x="6385560" y="1661170"/>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When it happens</a:t>
            </a:r>
            <a:endParaRPr lang="en-US" sz="1600" dirty="0"/>
          </a:p>
        </p:txBody>
      </p:sp>
      <p:sp>
        <p:nvSpPr>
          <p:cNvPr id="14" name="Text 12"/>
          <p:cNvSpPr/>
          <p:nvPr/>
        </p:nvSpPr>
        <p:spPr>
          <a:xfrm>
            <a:off x="6385560" y="1943100"/>
            <a:ext cx="4976012"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Both branches changed the same file differently. Conflicts are detected at the file/path level.</a:t>
            </a:r>
            <a:endParaRPr lang="en-US" sz="1300" dirty="0"/>
          </a:p>
        </p:txBody>
      </p:sp>
      <p:sp>
        <p:nvSpPr>
          <p:cNvPr id="15" name="Shape 13"/>
          <p:cNvSpPr/>
          <p:nvPr/>
        </p:nvSpPr>
        <p:spPr>
          <a:xfrm>
            <a:off x="6229350" y="2617465"/>
            <a:ext cx="5143500" cy="758190"/>
          </a:xfrm>
          <a:prstGeom prst="roundRect">
            <a:avLst>
              <a:gd name="adj" fmla="val 12563"/>
            </a:avLst>
          </a:prstGeom>
          <a:solidFill>
            <a:srgbClr val="FBFCFE"/>
          </a:solidFill>
          <a:ln w="12700">
            <a:solidFill>
              <a:srgbClr val="C7D8CE"/>
            </a:solidFill>
            <a:prstDash val="solid"/>
          </a:ln>
        </p:spPr>
      </p:sp>
      <p:sp>
        <p:nvSpPr>
          <p:cNvPr id="16" name="Text 14"/>
          <p:cNvSpPr/>
          <p:nvPr/>
        </p:nvSpPr>
        <p:spPr>
          <a:xfrm>
            <a:off x="6385560" y="2748285"/>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What Loki leaves</a:t>
            </a:r>
            <a:endParaRPr lang="en-US" sz="1600" dirty="0"/>
          </a:p>
        </p:txBody>
      </p:sp>
      <p:sp>
        <p:nvSpPr>
          <p:cNvPr id="17" name="Text 15"/>
          <p:cNvSpPr/>
          <p:nvPr/>
        </p:nvSpPr>
        <p:spPr>
          <a:xfrm>
            <a:off x="6385560" y="3030215"/>
            <a:ext cx="497601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568"/>
                </a:solidFill>
                <a:latin typeface="Arial" pitchFamily="34" charset="0"/>
                <a:ea typeface="Arial" pitchFamily="34" charset="-122"/>
                <a:cs typeface="Arial" pitchFamily="34" charset="-120"/>
              </a:rPr>
              <a:t>Conflicting files may contain conflict markers.</a:t>
            </a:r>
            <a:endParaRPr lang="en-US" sz="1300" dirty="0"/>
          </a:p>
        </p:txBody>
      </p:sp>
      <p:sp>
        <p:nvSpPr>
          <p:cNvPr id="18" name="Shape 16"/>
          <p:cNvSpPr/>
          <p:nvPr/>
        </p:nvSpPr>
        <p:spPr>
          <a:xfrm>
            <a:off x="6229350" y="3489970"/>
            <a:ext cx="5143500" cy="758190"/>
          </a:xfrm>
          <a:prstGeom prst="roundRect">
            <a:avLst>
              <a:gd name="adj" fmla="val 12563"/>
            </a:avLst>
          </a:prstGeom>
          <a:solidFill>
            <a:srgbClr val="E0F2EA"/>
          </a:solidFill>
          <a:ln w="12700">
            <a:solidFill>
              <a:srgbClr val="8CCBB0"/>
            </a:solidFill>
            <a:prstDash val="solid"/>
          </a:ln>
        </p:spPr>
      </p:sp>
      <p:sp>
        <p:nvSpPr>
          <p:cNvPr id="19" name="Text 17"/>
          <p:cNvSpPr/>
          <p:nvPr/>
        </p:nvSpPr>
        <p:spPr>
          <a:xfrm>
            <a:off x="6385560" y="3620765"/>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How to resolve</a:t>
            </a:r>
            <a:endParaRPr lang="en-US" sz="1600" dirty="0"/>
          </a:p>
        </p:txBody>
      </p:sp>
      <p:sp>
        <p:nvSpPr>
          <p:cNvPr id="20" name="Text 18"/>
          <p:cNvSpPr/>
          <p:nvPr/>
        </p:nvSpPr>
        <p:spPr>
          <a:xfrm>
            <a:off x="6385560" y="3902720"/>
            <a:ext cx="4976012"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Edit the files, stage them, then commit.</a:t>
            </a:r>
            <a:endParaRPr lang="en-US" sz="1300" dirty="0"/>
          </a:p>
        </p:txBody>
      </p:sp>
      <p:pic>
        <p:nvPicPr>
          <p:cNvPr id="21"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22" name="Text 19"/>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3" name="Text 20"/>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E · MERGE AND CONFLICT HANDLING</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Merge Workflow</a:t>
            </a:r>
            <a:endParaRPr lang="en-US" sz="3200" dirty="0"/>
          </a:p>
        </p:txBody>
      </p:sp>
      <p:sp>
        <p:nvSpPr>
          <p:cNvPr id="4" name="Shape 2"/>
          <p:cNvSpPr/>
          <p:nvPr/>
        </p:nvSpPr>
        <p:spPr>
          <a:xfrm>
            <a:off x="819150" y="1530350"/>
            <a:ext cx="1846580" cy="1244600"/>
          </a:xfrm>
          <a:prstGeom prst="roundRect">
            <a:avLst>
              <a:gd name="adj" fmla="val 7653"/>
            </a:avLst>
          </a:prstGeom>
          <a:solidFill>
            <a:srgbClr val="FBFCFE"/>
          </a:solidFill>
          <a:ln w="12700">
            <a:solidFill>
              <a:srgbClr val="C7D8CE"/>
            </a:solidFill>
            <a:prstDash val="solid"/>
          </a:ln>
        </p:spPr>
      </p:sp>
      <p:sp>
        <p:nvSpPr>
          <p:cNvPr id="5" name="Text 3"/>
          <p:cNvSpPr/>
          <p:nvPr/>
        </p:nvSpPr>
        <p:spPr>
          <a:xfrm>
            <a:off x="937260" y="1648470"/>
            <a:ext cx="1661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1</a:t>
            </a:r>
            <a:endParaRPr lang="en-US" sz="1500" dirty="0"/>
          </a:p>
        </p:txBody>
      </p:sp>
      <p:sp>
        <p:nvSpPr>
          <p:cNvPr id="6" name="Text 4"/>
          <p:cNvSpPr/>
          <p:nvPr/>
        </p:nvSpPr>
        <p:spPr>
          <a:xfrm>
            <a:off x="937260" y="1965970"/>
            <a:ext cx="166116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7201A"/>
                </a:solidFill>
                <a:latin typeface="Arial" pitchFamily="34" charset="0"/>
                <a:ea typeface="Arial" pitchFamily="34" charset="-122"/>
                <a:cs typeface="Arial" pitchFamily="34" charset="-120"/>
              </a:rPr>
              <a:t>Start the merge</a:t>
            </a:r>
            <a:endParaRPr lang="en-US" sz="1400" dirty="0"/>
          </a:p>
        </p:txBody>
      </p:sp>
      <p:sp>
        <p:nvSpPr>
          <p:cNvPr id="7" name="Text 5"/>
          <p:cNvSpPr/>
          <p:nvPr/>
        </p:nvSpPr>
        <p:spPr>
          <a:xfrm>
            <a:off x="937260" y="2230115"/>
            <a:ext cx="16611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loki merge &lt;branch&gt;</a:t>
            </a:r>
            <a:endParaRPr lang="en-US" sz="1200" dirty="0"/>
          </a:p>
        </p:txBody>
      </p:sp>
      <p:pic>
        <p:nvPicPr>
          <p:cNvPr id="8" name="Image 0" descr="arrow-right"/>
          <p:cNvPicPr>
            <a:picLocks noChangeAspect="1"/>
          </p:cNvPicPr>
          <p:nvPr/>
        </p:nvPicPr>
        <p:blipFill>
          <a:blip r:embed="rId3"/>
          <a:srcRect/>
          <a:stretch/>
        </p:blipFill>
        <p:spPr>
          <a:xfrm>
            <a:off x="2735580" y="2082800"/>
            <a:ext cx="190500" cy="139700"/>
          </a:xfrm>
          <a:prstGeom prst="rect">
            <a:avLst/>
          </a:prstGeom>
        </p:spPr>
      </p:pic>
      <p:sp>
        <p:nvSpPr>
          <p:cNvPr id="9" name="Shape 6"/>
          <p:cNvSpPr/>
          <p:nvPr/>
        </p:nvSpPr>
        <p:spPr>
          <a:xfrm>
            <a:off x="2995930" y="1530350"/>
            <a:ext cx="1846580" cy="1244600"/>
          </a:xfrm>
          <a:prstGeom prst="roundRect">
            <a:avLst>
              <a:gd name="adj" fmla="val 7653"/>
            </a:avLst>
          </a:prstGeom>
          <a:solidFill>
            <a:srgbClr val="FBFCFE"/>
          </a:solidFill>
          <a:ln w="12700">
            <a:solidFill>
              <a:srgbClr val="C7D8CE"/>
            </a:solidFill>
            <a:prstDash val="solid"/>
          </a:ln>
        </p:spPr>
      </p:sp>
      <p:sp>
        <p:nvSpPr>
          <p:cNvPr id="10" name="Text 7"/>
          <p:cNvSpPr/>
          <p:nvPr/>
        </p:nvSpPr>
        <p:spPr>
          <a:xfrm>
            <a:off x="3114040" y="1648470"/>
            <a:ext cx="1661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2</a:t>
            </a:r>
            <a:endParaRPr lang="en-US" sz="1500" dirty="0"/>
          </a:p>
        </p:txBody>
      </p:sp>
      <p:sp>
        <p:nvSpPr>
          <p:cNvPr id="11" name="Text 8"/>
          <p:cNvSpPr/>
          <p:nvPr/>
        </p:nvSpPr>
        <p:spPr>
          <a:xfrm>
            <a:off x="3114040" y="1965970"/>
            <a:ext cx="166116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7201A"/>
                </a:solidFill>
                <a:latin typeface="Arial" pitchFamily="34" charset="0"/>
                <a:ea typeface="Arial" pitchFamily="34" charset="-122"/>
                <a:cs typeface="Arial" pitchFamily="34" charset="-120"/>
              </a:rPr>
              <a:t>Conflicts reported</a:t>
            </a:r>
            <a:endParaRPr lang="en-US" sz="1400" dirty="0"/>
          </a:p>
        </p:txBody>
      </p:sp>
      <p:sp>
        <p:nvSpPr>
          <p:cNvPr id="12" name="Text 9"/>
          <p:cNvSpPr/>
          <p:nvPr/>
        </p:nvSpPr>
        <p:spPr>
          <a:xfrm>
            <a:off x="3114040" y="2230115"/>
            <a:ext cx="166116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Arial" pitchFamily="34" charset="0"/>
                <a:ea typeface="Arial" pitchFamily="34" charset="-122"/>
                <a:cs typeface="Arial" pitchFamily="34" charset="-120"/>
              </a:rPr>
              <a:t>Conflicting files are identified.</a:t>
            </a:r>
            <a:endParaRPr lang="en-US" sz="1200" dirty="0"/>
          </a:p>
        </p:txBody>
      </p:sp>
      <p:pic>
        <p:nvPicPr>
          <p:cNvPr id="13" name="Image 1" descr="arrow-right"/>
          <p:cNvPicPr>
            <a:picLocks noChangeAspect="1"/>
          </p:cNvPicPr>
          <p:nvPr/>
        </p:nvPicPr>
        <p:blipFill>
          <a:blip r:embed="rId3"/>
          <a:srcRect/>
          <a:stretch/>
        </p:blipFill>
        <p:spPr>
          <a:xfrm>
            <a:off x="4912360" y="2082800"/>
            <a:ext cx="190500" cy="139700"/>
          </a:xfrm>
          <a:prstGeom prst="rect">
            <a:avLst/>
          </a:prstGeom>
        </p:spPr>
      </p:pic>
      <p:sp>
        <p:nvSpPr>
          <p:cNvPr id="14" name="Shape 10"/>
          <p:cNvSpPr/>
          <p:nvPr/>
        </p:nvSpPr>
        <p:spPr>
          <a:xfrm>
            <a:off x="5172710" y="1530350"/>
            <a:ext cx="1846580" cy="1244600"/>
          </a:xfrm>
          <a:prstGeom prst="roundRect">
            <a:avLst>
              <a:gd name="adj" fmla="val 7653"/>
            </a:avLst>
          </a:prstGeom>
          <a:solidFill>
            <a:srgbClr val="FBFCFE"/>
          </a:solidFill>
          <a:ln w="12700">
            <a:solidFill>
              <a:srgbClr val="C7D8CE"/>
            </a:solidFill>
            <a:prstDash val="solid"/>
          </a:ln>
        </p:spPr>
      </p:sp>
      <p:sp>
        <p:nvSpPr>
          <p:cNvPr id="15" name="Text 11"/>
          <p:cNvSpPr/>
          <p:nvPr/>
        </p:nvSpPr>
        <p:spPr>
          <a:xfrm>
            <a:off x="5290820" y="1648470"/>
            <a:ext cx="1661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3</a:t>
            </a:r>
            <a:endParaRPr lang="en-US" sz="1500" dirty="0"/>
          </a:p>
        </p:txBody>
      </p:sp>
      <p:sp>
        <p:nvSpPr>
          <p:cNvPr id="16" name="Text 12"/>
          <p:cNvSpPr/>
          <p:nvPr/>
        </p:nvSpPr>
        <p:spPr>
          <a:xfrm>
            <a:off x="5290820" y="1965970"/>
            <a:ext cx="166116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7201A"/>
                </a:solidFill>
                <a:latin typeface="Arial" pitchFamily="34" charset="0"/>
                <a:ea typeface="Arial" pitchFamily="34" charset="-122"/>
                <a:cs typeface="Arial" pitchFamily="34" charset="-120"/>
              </a:rPr>
              <a:t>Resolve</a:t>
            </a:r>
            <a:endParaRPr lang="en-US" sz="1400" dirty="0"/>
          </a:p>
        </p:txBody>
      </p:sp>
      <p:sp>
        <p:nvSpPr>
          <p:cNvPr id="17" name="Text 13"/>
          <p:cNvSpPr/>
          <p:nvPr/>
        </p:nvSpPr>
        <p:spPr>
          <a:xfrm>
            <a:off x="5290820" y="2230115"/>
            <a:ext cx="166116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Arial" pitchFamily="34" charset="0"/>
                <a:ea typeface="Arial" pitchFamily="34" charset="-122"/>
                <a:cs typeface="Arial" pitchFamily="34" charset="-120"/>
              </a:rPr>
              <a:t>Edit the affected files.</a:t>
            </a:r>
            <a:endParaRPr lang="en-US" sz="1200" dirty="0"/>
          </a:p>
        </p:txBody>
      </p:sp>
      <p:pic>
        <p:nvPicPr>
          <p:cNvPr id="18" name="Image 2" descr="arrow-right"/>
          <p:cNvPicPr>
            <a:picLocks noChangeAspect="1"/>
          </p:cNvPicPr>
          <p:nvPr/>
        </p:nvPicPr>
        <p:blipFill>
          <a:blip r:embed="rId3"/>
          <a:srcRect/>
          <a:stretch/>
        </p:blipFill>
        <p:spPr>
          <a:xfrm>
            <a:off x="7089140" y="2082800"/>
            <a:ext cx="190500" cy="139700"/>
          </a:xfrm>
          <a:prstGeom prst="rect">
            <a:avLst/>
          </a:prstGeom>
        </p:spPr>
      </p:pic>
      <p:sp>
        <p:nvSpPr>
          <p:cNvPr id="19" name="Shape 14"/>
          <p:cNvSpPr/>
          <p:nvPr/>
        </p:nvSpPr>
        <p:spPr>
          <a:xfrm>
            <a:off x="7349490" y="1530350"/>
            <a:ext cx="1846580" cy="1244600"/>
          </a:xfrm>
          <a:prstGeom prst="roundRect">
            <a:avLst>
              <a:gd name="adj" fmla="val 7653"/>
            </a:avLst>
          </a:prstGeom>
          <a:solidFill>
            <a:srgbClr val="FBFCFE"/>
          </a:solidFill>
          <a:ln w="12700">
            <a:solidFill>
              <a:srgbClr val="C7D8CE"/>
            </a:solidFill>
            <a:prstDash val="solid"/>
          </a:ln>
        </p:spPr>
      </p:sp>
      <p:sp>
        <p:nvSpPr>
          <p:cNvPr id="20" name="Text 15"/>
          <p:cNvSpPr/>
          <p:nvPr/>
        </p:nvSpPr>
        <p:spPr>
          <a:xfrm>
            <a:off x="7467600" y="1648470"/>
            <a:ext cx="1661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4</a:t>
            </a:r>
            <a:endParaRPr lang="en-US" sz="1500" dirty="0"/>
          </a:p>
        </p:txBody>
      </p:sp>
      <p:sp>
        <p:nvSpPr>
          <p:cNvPr id="21" name="Text 16"/>
          <p:cNvSpPr/>
          <p:nvPr/>
        </p:nvSpPr>
        <p:spPr>
          <a:xfrm>
            <a:off x="7467600" y="1965970"/>
            <a:ext cx="166116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7201A"/>
                </a:solidFill>
                <a:latin typeface="Arial" pitchFamily="34" charset="0"/>
                <a:ea typeface="Arial" pitchFamily="34" charset="-122"/>
                <a:cs typeface="Arial" pitchFamily="34" charset="-120"/>
              </a:rPr>
              <a:t>Stage</a:t>
            </a:r>
            <a:endParaRPr lang="en-US" sz="1400" dirty="0"/>
          </a:p>
        </p:txBody>
      </p:sp>
      <p:sp>
        <p:nvSpPr>
          <p:cNvPr id="22" name="Text 17"/>
          <p:cNvSpPr/>
          <p:nvPr/>
        </p:nvSpPr>
        <p:spPr>
          <a:xfrm>
            <a:off x="7467600" y="2230115"/>
            <a:ext cx="16611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loki add &lt;file&gt;</a:t>
            </a:r>
            <a:endParaRPr lang="en-US" sz="1200" dirty="0"/>
          </a:p>
        </p:txBody>
      </p:sp>
      <p:pic>
        <p:nvPicPr>
          <p:cNvPr id="23" name="Image 3" descr="arrow-right"/>
          <p:cNvPicPr>
            <a:picLocks noChangeAspect="1"/>
          </p:cNvPicPr>
          <p:nvPr/>
        </p:nvPicPr>
        <p:blipFill>
          <a:blip r:embed="rId3"/>
          <a:srcRect/>
          <a:stretch/>
        </p:blipFill>
        <p:spPr>
          <a:xfrm>
            <a:off x="9265920" y="2082800"/>
            <a:ext cx="190500" cy="139700"/>
          </a:xfrm>
          <a:prstGeom prst="rect">
            <a:avLst/>
          </a:prstGeom>
        </p:spPr>
      </p:pic>
      <p:sp>
        <p:nvSpPr>
          <p:cNvPr id="24" name="Shape 18"/>
          <p:cNvSpPr/>
          <p:nvPr/>
        </p:nvSpPr>
        <p:spPr>
          <a:xfrm>
            <a:off x="9526270" y="1530350"/>
            <a:ext cx="1846580" cy="1244600"/>
          </a:xfrm>
          <a:prstGeom prst="roundRect">
            <a:avLst>
              <a:gd name="adj" fmla="val 7653"/>
            </a:avLst>
          </a:prstGeom>
          <a:solidFill>
            <a:srgbClr val="FBFCFE"/>
          </a:solidFill>
          <a:ln w="12700">
            <a:solidFill>
              <a:srgbClr val="C7D8CE"/>
            </a:solidFill>
            <a:prstDash val="solid"/>
          </a:ln>
        </p:spPr>
      </p:sp>
      <p:sp>
        <p:nvSpPr>
          <p:cNvPr id="25" name="Text 19"/>
          <p:cNvSpPr/>
          <p:nvPr/>
        </p:nvSpPr>
        <p:spPr>
          <a:xfrm>
            <a:off x="9644380" y="1648470"/>
            <a:ext cx="1661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7B54"/>
                </a:solidFill>
                <a:latin typeface="Courier New" pitchFamily="49" charset="0"/>
                <a:ea typeface="Courier New" pitchFamily="49" charset="-122"/>
                <a:cs typeface="Courier New" pitchFamily="49" charset="-120"/>
              </a:rPr>
              <a:t>5</a:t>
            </a:r>
            <a:endParaRPr lang="en-US" sz="1500" dirty="0"/>
          </a:p>
        </p:txBody>
      </p:sp>
      <p:sp>
        <p:nvSpPr>
          <p:cNvPr id="26" name="Text 20"/>
          <p:cNvSpPr/>
          <p:nvPr/>
        </p:nvSpPr>
        <p:spPr>
          <a:xfrm>
            <a:off x="9644380" y="1965970"/>
            <a:ext cx="166116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7201A"/>
                </a:solidFill>
                <a:latin typeface="Arial" pitchFamily="34" charset="0"/>
                <a:ea typeface="Arial" pitchFamily="34" charset="-122"/>
                <a:cs typeface="Arial" pitchFamily="34" charset="-120"/>
              </a:rPr>
              <a:t>Complete</a:t>
            </a:r>
            <a:endParaRPr lang="en-US" sz="1400" dirty="0"/>
          </a:p>
        </p:txBody>
      </p:sp>
      <p:sp>
        <p:nvSpPr>
          <p:cNvPr id="27" name="Text 21"/>
          <p:cNvSpPr/>
          <p:nvPr/>
        </p:nvSpPr>
        <p:spPr>
          <a:xfrm>
            <a:off x="9644380" y="2230115"/>
            <a:ext cx="16611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loki commit -m</a:t>
            </a:r>
            <a:endParaRPr lang="en-US" sz="1200" dirty="0"/>
          </a:p>
        </p:txBody>
      </p:sp>
      <p:sp>
        <p:nvSpPr>
          <p:cNvPr id="28" name="Shape 22"/>
          <p:cNvSpPr/>
          <p:nvPr/>
        </p:nvSpPr>
        <p:spPr>
          <a:xfrm>
            <a:off x="819150" y="2990850"/>
            <a:ext cx="5194300" cy="796290"/>
          </a:xfrm>
          <a:prstGeom prst="roundRect">
            <a:avLst>
              <a:gd name="adj" fmla="val 11962"/>
            </a:avLst>
          </a:prstGeom>
          <a:solidFill>
            <a:srgbClr val="E0F2EA"/>
          </a:solidFill>
          <a:ln w="12700">
            <a:solidFill>
              <a:srgbClr val="8CCBB0"/>
            </a:solidFill>
            <a:prstDash val="solid"/>
          </a:ln>
        </p:spPr>
      </p:sp>
      <p:sp>
        <p:nvSpPr>
          <p:cNvPr id="29" name="Text 23"/>
          <p:cNvSpPr/>
          <p:nvPr/>
        </p:nvSpPr>
        <p:spPr>
          <a:xfrm>
            <a:off x="988060" y="3134370"/>
            <a:ext cx="500217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No conflicts</a:t>
            </a:r>
            <a:endParaRPr lang="en-US" sz="1600" dirty="0"/>
          </a:p>
        </p:txBody>
      </p:sp>
      <p:sp>
        <p:nvSpPr>
          <p:cNvPr id="30" name="Text 24"/>
          <p:cNvSpPr/>
          <p:nvPr/>
        </p:nvSpPr>
        <p:spPr>
          <a:xfrm>
            <a:off x="988060" y="3429000"/>
            <a:ext cx="500217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5403A"/>
                </a:solidFill>
                <a:latin typeface="Arial" pitchFamily="34" charset="0"/>
                <a:ea typeface="Arial" pitchFamily="34" charset="-122"/>
                <a:cs typeface="Arial" pitchFamily="34" charset="-120"/>
              </a:rPr>
              <a:t>The merge can fast-forward, or create a merge commit.</a:t>
            </a:r>
            <a:endParaRPr lang="en-US" sz="1300" dirty="0"/>
          </a:p>
        </p:txBody>
      </p:sp>
      <p:sp>
        <p:nvSpPr>
          <p:cNvPr id="31" name="Shape 25"/>
          <p:cNvSpPr/>
          <p:nvPr/>
        </p:nvSpPr>
        <p:spPr>
          <a:xfrm>
            <a:off x="6178550" y="2990850"/>
            <a:ext cx="5194300" cy="796290"/>
          </a:xfrm>
          <a:prstGeom prst="roundRect">
            <a:avLst>
              <a:gd name="adj" fmla="val 11962"/>
            </a:avLst>
          </a:prstGeom>
          <a:solidFill>
            <a:srgbClr val="FDF0E1"/>
          </a:solidFill>
          <a:ln w="12700">
            <a:solidFill>
              <a:srgbClr val="E8B27A"/>
            </a:solidFill>
            <a:prstDash val="solid"/>
          </a:ln>
        </p:spPr>
      </p:sp>
      <p:sp>
        <p:nvSpPr>
          <p:cNvPr id="32" name="Text 26"/>
          <p:cNvSpPr/>
          <p:nvPr/>
        </p:nvSpPr>
        <p:spPr>
          <a:xfrm>
            <a:off x="6347460" y="3134370"/>
            <a:ext cx="500217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With conflicts</a:t>
            </a:r>
            <a:endParaRPr lang="en-US" sz="1600" dirty="0"/>
          </a:p>
        </p:txBody>
      </p:sp>
      <p:sp>
        <p:nvSpPr>
          <p:cNvPr id="33" name="Text 27"/>
          <p:cNvSpPr/>
          <p:nvPr/>
        </p:nvSpPr>
        <p:spPr>
          <a:xfrm>
            <a:off x="6347460" y="3429000"/>
            <a:ext cx="5019040"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C3410"/>
                </a:solidFill>
                <a:latin typeface="Arial" pitchFamily="34" charset="0"/>
                <a:ea typeface="Arial" pitchFamily="34" charset="-122"/>
                <a:cs typeface="Arial" pitchFamily="34" charset="-120"/>
              </a:rPr>
              <a:t>Temporary state files may exist while conflicts are being resolved.</a:t>
            </a:r>
            <a:endParaRPr lang="en-US" sz="1300" dirty="0"/>
          </a:p>
        </p:txBody>
      </p:sp>
      <p:pic>
        <p:nvPicPr>
          <p:cNvPr id="34" name="Image 4"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35" name="Text 28"/>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36" name="Text 29"/>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F · CONFIGURATION, QUALITY AND RELEASE</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Tags, Ignore Rules and Configuration</a:t>
            </a:r>
            <a:endParaRPr lang="en-US" sz="3200" dirty="0"/>
          </a:p>
        </p:txBody>
      </p:sp>
      <p:sp>
        <p:nvSpPr>
          <p:cNvPr id="4" name="Shape 2"/>
          <p:cNvSpPr/>
          <p:nvPr/>
        </p:nvSpPr>
        <p:spPr>
          <a:xfrm>
            <a:off x="819150" y="1530350"/>
            <a:ext cx="3407807" cy="2409825"/>
          </a:xfrm>
          <a:prstGeom prst="roundRect">
            <a:avLst>
              <a:gd name="adj" fmla="val 3953"/>
            </a:avLst>
          </a:prstGeom>
          <a:solidFill>
            <a:srgbClr val="FBFCFE"/>
          </a:solidFill>
          <a:ln w="12700">
            <a:solidFill>
              <a:srgbClr val="C7D8CE"/>
            </a:solidFill>
            <a:prstDash val="solid"/>
          </a:ln>
        </p:spPr>
      </p:sp>
      <p:pic>
        <p:nvPicPr>
          <p:cNvPr id="5" name="Image 0" descr="Star"/>
          <p:cNvPicPr>
            <a:picLocks noChangeAspect="1"/>
          </p:cNvPicPr>
          <p:nvPr/>
        </p:nvPicPr>
        <p:blipFill>
          <a:blip r:embed="rId3"/>
          <a:srcRect/>
          <a:stretch/>
        </p:blipFill>
        <p:spPr>
          <a:xfrm>
            <a:off x="1000760" y="1686570"/>
            <a:ext cx="279400" cy="279400"/>
          </a:xfrm>
          <a:prstGeom prst="rect">
            <a:avLst/>
          </a:prstGeom>
        </p:spPr>
      </p:pic>
      <p:sp>
        <p:nvSpPr>
          <p:cNvPr id="6" name="Text 3"/>
          <p:cNvSpPr/>
          <p:nvPr/>
        </p:nvSpPr>
        <p:spPr>
          <a:xfrm>
            <a:off x="1000760" y="2042170"/>
            <a:ext cx="31359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Tags</a:t>
            </a:r>
            <a:endParaRPr lang="en-US" sz="1600" dirty="0"/>
          </a:p>
        </p:txBody>
      </p:sp>
      <p:sp>
        <p:nvSpPr>
          <p:cNvPr id="7" name="Text 4"/>
          <p:cNvSpPr/>
          <p:nvPr/>
        </p:nvSpPr>
        <p:spPr>
          <a:xfrm>
            <a:off x="1000760" y="2362200"/>
            <a:ext cx="313592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A5A0C"/>
                </a:solidFill>
                <a:latin typeface="Courier New" pitchFamily="49" charset="0"/>
                <a:ea typeface="Courier New" pitchFamily="49" charset="-122"/>
                <a:cs typeface="Courier New" pitchFamily="49" charset="-120"/>
              </a:rPr>
              <a:t>loki tag [options]</a:t>
            </a:r>
            <a:endParaRPr lang="en-US" sz="1300" dirty="0"/>
          </a:p>
        </p:txBody>
      </p:sp>
      <p:sp>
        <p:nvSpPr>
          <p:cNvPr id="8" name="Text 5"/>
          <p:cNvSpPr/>
          <p:nvPr/>
        </p:nvSpPr>
        <p:spPr>
          <a:xfrm>
            <a:off x="1000760" y="2669555"/>
            <a:ext cx="3135924"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Create, list, delete or annotate tags. A tag may be a lightweight reference in refs/tags/ or an annotated tag object. Checking out a tag detaches HEAD.</a:t>
            </a:r>
            <a:endParaRPr lang="en-US" sz="1300" dirty="0"/>
          </a:p>
        </p:txBody>
      </p:sp>
      <p:sp>
        <p:nvSpPr>
          <p:cNvPr id="9" name="Shape 6"/>
          <p:cNvSpPr/>
          <p:nvPr/>
        </p:nvSpPr>
        <p:spPr>
          <a:xfrm>
            <a:off x="4392057" y="1530350"/>
            <a:ext cx="3407886" cy="2409825"/>
          </a:xfrm>
          <a:prstGeom prst="roundRect">
            <a:avLst>
              <a:gd name="adj" fmla="val 3953"/>
            </a:avLst>
          </a:prstGeom>
          <a:solidFill>
            <a:srgbClr val="FBFCFE"/>
          </a:solidFill>
          <a:ln w="12700">
            <a:solidFill>
              <a:srgbClr val="C7D8CE"/>
            </a:solidFill>
            <a:prstDash val="solid"/>
          </a:ln>
        </p:spPr>
      </p:sp>
      <p:pic>
        <p:nvPicPr>
          <p:cNvPr id="10" name="Image 1" descr="Settings"/>
          <p:cNvPicPr>
            <a:picLocks noChangeAspect="1"/>
          </p:cNvPicPr>
          <p:nvPr/>
        </p:nvPicPr>
        <p:blipFill>
          <a:blip r:embed="rId4"/>
          <a:srcRect/>
          <a:stretch/>
        </p:blipFill>
        <p:spPr>
          <a:xfrm>
            <a:off x="4573667" y="1686570"/>
            <a:ext cx="279400" cy="279400"/>
          </a:xfrm>
          <a:prstGeom prst="rect">
            <a:avLst/>
          </a:prstGeom>
        </p:spPr>
      </p:pic>
      <p:sp>
        <p:nvSpPr>
          <p:cNvPr id="11" name="Text 7"/>
          <p:cNvSpPr/>
          <p:nvPr/>
        </p:nvSpPr>
        <p:spPr>
          <a:xfrm>
            <a:off x="4573667" y="2042170"/>
            <a:ext cx="313600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Ignore rules</a:t>
            </a:r>
            <a:endParaRPr lang="en-US" sz="1600" dirty="0"/>
          </a:p>
        </p:txBody>
      </p:sp>
      <p:sp>
        <p:nvSpPr>
          <p:cNvPr id="12" name="Text 8"/>
          <p:cNvSpPr/>
          <p:nvPr/>
        </p:nvSpPr>
        <p:spPr>
          <a:xfrm>
            <a:off x="4573667" y="2362200"/>
            <a:ext cx="313600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A5A0C"/>
                </a:solidFill>
                <a:latin typeface="Courier New" pitchFamily="49" charset="0"/>
                <a:ea typeface="Courier New" pitchFamily="49" charset="-122"/>
                <a:cs typeface="Courier New" pitchFamily="49" charset="-120"/>
              </a:rPr>
              <a:t>.lokiignore</a:t>
            </a:r>
            <a:endParaRPr lang="en-US" sz="1300" dirty="0"/>
          </a:p>
        </p:txBody>
      </p:sp>
      <p:sp>
        <p:nvSpPr>
          <p:cNvPr id="13" name="Text 9"/>
          <p:cNvSpPr/>
          <p:nvPr/>
        </p:nvSpPr>
        <p:spPr>
          <a:xfrm>
            <a:off x="4573667" y="2669555"/>
            <a:ext cx="3136006"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An optional file at the project root that holds ignore patterns. Its pattern syntax is not specified in the supplied documentation.</a:t>
            </a:r>
            <a:endParaRPr lang="en-US" sz="1300" dirty="0"/>
          </a:p>
        </p:txBody>
      </p:sp>
      <p:sp>
        <p:nvSpPr>
          <p:cNvPr id="14" name="Shape 10"/>
          <p:cNvSpPr/>
          <p:nvPr/>
        </p:nvSpPr>
        <p:spPr>
          <a:xfrm>
            <a:off x="7965043" y="1530350"/>
            <a:ext cx="3407807" cy="2409825"/>
          </a:xfrm>
          <a:prstGeom prst="roundRect">
            <a:avLst>
              <a:gd name="adj" fmla="val 3953"/>
            </a:avLst>
          </a:prstGeom>
          <a:solidFill>
            <a:srgbClr val="FBFCFE"/>
          </a:solidFill>
          <a:ln w="12700">
            <a:solidFill>
              <a:srgbClr val="C7D8CE"/>
            </a:solidFill>
            <a:prstDash val="solid"/>
          </a:ln>
        </p:spPr>
      </p:sp>
      <p:pic>
        <p:nvPicPr>
          <p:cNvPr id="15" name="Image 2" descr="Wrench"/>
          <p:cNvPicPr>
            <a:picLocks noChangeAspect="1"/>
          </p:cNvPicPr>
          <p:nvPr/>
        </p:nvPicPr>
        <p:blipFill>
          <a:blip r:embed="rId5"/>
          <a:srcRect/>
          <a:stretch/>
        </p:blipFill>
        <p:spPr>
          <a:xfrm>
            <a:off x="8146653" y="1686570"/>
            <a:ext cx="279400" cy="279400"/>
          </a:xfrm>
          <a:prstGeom prst="rect">
            <a:avLst/>
          </a:prstGeom>
        </p:spPr>
      </p:pic>
      <p:sp>
        <p:nvSpPr>
          <p:cNvPr id="16" name="Text 11"/>
          <p:cNvSpPr/>
          <p:nvPr/>
        </p:nvSpPr>
        <p:spPr>
          <a:xfrm>
            <a:off x="8146653" y="2042170"/>
            <a:ext cx="31359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Configuration</a:t>
            </a:r>
            <a:endParaRPr lang="en-US" sz="1600" dirty="0"/>
          </a:p>
        </p:txBody>
      </p:sp>
      <p:sp>
        <p:nvSpPr>
          <p:cNvPr id="17" name="Text 12"/>
          <p:cNvSpPr/>
          <p:nvPr/>
        </p:nvSpPr>
        <p:spPr>
          <a:xfrm>
            <a:off x="8146653" y="2362200"/>
            <a:ext cx="313592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A5A0C"/>
                </a:solidFill>
                <a:latin typeface="Courier New" pitchFamily="49" charset="0"/>
                <a:ea typeface="Courier New" pitchFamily="49" charset="-122"/>
                <a:cs typeface="Courier New" pitchFamily="49" charset="-120"/>
              </a:rPr>
              <a:t>loki config [key] [value]</a:t>
            </a:r>
            <a:endParaRPr lang="en-US" sz="1300" dirty="0"/>
          </a:p>
        </p:txBody>
      </p:sp>
      <p:sp>
        <p:nvSpPr>
          <p:cNvPr id="18" name="Text 13"/>
          <p:cNvSpPr/>
          <p:nvPr/>
        </p:nvSpPr>
        <p:spPr>
          <a:xfrm>
            <a:off x="8146653" y="2669555"/>
            <a:ext cx="3135924" cy="11398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Arial" pitchFamily="34" charset="0"/>
                <a:ea typeface="Arial" pitchFamily="34" charset="-122"/>
                <a:cs typeface="Arial" pitchFamily="34" charset="-120"/>
              </a:rPr>
              <a:t>Reads or writes repository configuration values, stored in .loki/config. internal/config/ also discovers repository roots. Specific keys are not listed in the supplied documentation.</a:t>
            </a:r>
            <a:endParaRPr lang="en-US" sz="1300" dirty="0"/>
          </a:p>
        </p:txBody>
      </p:sp>
      <p:sp>
        <p:nvSpPr>
          <p:cNvPr id="19" name="Text 14"/>
          <p:cNvSpPr/>
          <p:nvPr/>
        </p:nvSpPr>
        <p:spPr>
          <a:xfrm>
            <a:off x="812800" y="414972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Ignore-pattern examples and configuration keys are left out on purpose rather than guessed.</a:t>
            </a:r>
            <a:endParaRPr lang="en-US" sz="1200" dirty="0"/>
          </a:p>
        </p:txBody>
      </p:sp>
      <p:pic>
        <p:nvPicPr>
          <p:cNvPr id="20" name="Image 3" descr="Loki logo"/>
          <p:cNvPicPr>
            <a:picLocks noChangeAspect="1"/>
          </p:cNvPicPr>
          <p:nvPr/>
        </p:nvPicPr>
        <p:blipFill>
          <a:blip r:embed="rId6"/>
          <a:srcRect t="88" b="88"/>
          <a:stretch/>
        </p:blipFill>
        <p:spPr>
          <a:xfrm>
            <a:off x="812800" y="6159500"/>
            <a:ext cx="279400" cy="368300"/>
          </a:xfrm>
          <a:prstGeom prst="roundRect">
            <a:avLst>
              <a:gd name="adj" fmla="val 18182"/>
            </a:avLst>
          </a:prstGeom>
        </p:spPr>
      </p:pic>
      <p:sp>
        <p:nvSpPr>
          <p:cNvPr id="21" name="Text 15"/>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2" name="Text 16"/>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F · CONFIGURATION, QUALITY AND RELEASE</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Error Handling and Testing</a:t>
            </a:r>
            <a:endParaRPr lang="en-US" sz="3200" dirty="0"/>
          </a:p>
        </p:txBody>
      </p:sp>
      <p:sp>
        <p:nvSpPr>
          <p:cNvPr id="4" name="Shape 2"/>
          <p:cNvSpPr/>
          <p:nvPr/>
        </p:nvSpPr>
        <p:spPr>
          <a:xfrm>
            <a:off x="819150" y="1530350"/>
            <a:ext cx="5194300" cy="2216785"/>
          </a:xfrm>
          <a:prstGeom prst="roundRect">
            <a:avLst>
              <a:gd name="adj" fmla="val 4297"/>
            </a:avLst>
          </a:prstGeom>
          <a:solidFill>
            <a:srgbClr val="FBFCFE"/>
          </a:solidFill>
          <a:ln w="12700">
            <a:solidFill>
              <a:srgbClr val="C7D8CE"/>
            </a:solidFill>
            <a:prstDash val="solid"/>
          </a:ln>
        </p:spPr>
      </p:sp>
      <p:sp>
        <p:nvSpPr>
          <p:cNvPr id="5" name="Text 3"/>
          <p:cNvSpPr/>
          <p:nvPr/>
        </p:nvSpPr>
        <p:spPr>
          <a:xfrm>
            <a:off x="1000760" y="1686570"/>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What the documentation states</a:t>
            </a:r>
            <a:endParaRPr lang="en-US" sz="1600" dirty="0"/>
          </a:p>
        </p:txBody>
      </p:sp>
      <p:sp>
        <p:nvSpPr>
          <p:cNvPr id="6" name="Text 4"/>
          <p:cNvSpPr/>
          <p:nvPr/>
        </p:nvSpPr>
        <p:spPr>
          <a:xfrm>
            <a:off x="1098804" y="2019300"/>
            <a:ext cx="4870348" cy="1362710"/>
          </a:xfrm>
          <a:prstGeom prst="rect">
            <a:avLst/>
          </a:prstGeom>
          <a:noFill/>
          <a:ln/>
        </p:spPr>
        <p:txBody>
          <a:bodyPr wrap="square" lIns="0" tIns="0" rIns="0" bIns="0" rtlCol="0" anchor="t">
            <a:normAutofit/>
          </a:bodyPr>
          <a:lstStyle/>
          <a:p>
            <a:pPr marL="155956" indent="-155956" algn="l">
              <a:lnSpc>
                <a:spcPts val="1755"/>
              </a:lnSpc>
              <a:buSzPct val="100000"/>
              <a:buChar char="•"/>
            </a:pPr>
            <a:r>
              <a:rPr lang="en-US" sz="1300" dirty="0">
                <a:solidFill>
                  <a:srgbClr val="25403A"/>
                </a:solidFill>
                <a:latin typeface="Arial" pitchFamily="34" charset="0"/>
                <a:ea typeface="Arial" pitchFamily="34" charset="-122"/>
                <a:cs typeface="Arial" pitchFamily="34" charset="-120"/>
              </a:rPr>
              <a:t>Merge conflicts are detected at the file/path level.</a:t>
            </a:r>
            <a:endParaRPr lang="en-US" sz="1300" dirty="0"/>
          </a:p>
          <a:p>
            <a:pPr marL="155956" indent="-155956" algn="l">
              <a:lnSpc>
                <a:spcPts val="1755"/>
              </a:lnSpc>
              <a:buSzPct val="100000"/>
              <a:buChar char="•"/>
            </a:pPr>
            <a:r>
              <a:rPr lang="en-US" sz="1300" dirty="0">
                <a:solidFill>
                  <a:srgbClr val="25403A"/>
                </a:solidFill>
                <a:latin typeface="Arial" pitchFamily="34" charset="0"/>
                <a:ea typeface="Arial" pitchFamily="34" charset="-122"/>
                <a:cs typeface="Arial" pitchFamily="34" charset="-120"/>
              </a:rPr>
              <a:t>Revert applies to non-merge commits only.</a:t>
            </a:r>
            <a:endParaRPr lang="en-US" sz="1300" dirty="0"/>
          </a:p>
          <a:p>
            <a:pPr marL="155956" indent="-155956" algn="l">
              <a:lnSpc>
                <a:spcPts val="1755"/>
              </a:lnSpc>
              <a:buSzPct val="100000"/>
              <a:buChar char="•"/>
            </a:pPr>
            <a:r>
              <a:rPr lang="en-US" sz="1300" dirty="0">
                <a:solidFill>
                  <a:srgbClr val="25403A"/>
                </a:solidFill>
                <a:latin typeface="Arial" pitchFamily="34" charset="0"/>
                <a:ea typeface="Arial" pitchFamily="34" charset="-122"/>
                <a:cs typeface="Arial" pitchFamily="34" charset="-120"/>
              </a:rPr>
              <a:t>Merge and revert may keep temporary state files while conflicts are resolved.</a:t>
            </a:r>
            <a:endParaRPr lang="en-US" sz="1300" dirty="0"/>
          </a:p>
          <a:p>
            <a:pPr marL="155956" indent="-155956" algn="l">
              <a:lnSpc>
                <a:spcPts val="1755"/>
              </a:lnSpc>
              <a:buSzPct val="100000"/>
              <a:buChar char="•"/>
            </a:pPr>
            <a:r>
              <a:rPr lang="en-US" sz="1300" dirty="0">
                <a:solidFill>
                  <a:srgbClr val="25403A"/>
                </a:solidFill>
                <a:latin typeface="Arial" pitchFamily="34" charset="0"/>
                <a:ea typeface="Arial" pitchFamily="34" charset="-122"/>
                <a:cs typeface="Arial" pitchFamily="34" charset="-120"/>
              </a:rPr>
              <a:t>Object reads decompress data but do not re-hash it.</a:t>
            </a:r>
            <a:endParaRPr lang="en-US" sz="1300" dirty="0"/>
          </a:p>
          <a:p>
            <a:pPr marL="155956" indent="-155956" algn="l">
              <a:lnSpc>
                <a:spcPts val="1755"/>
              </a:lnSpc>
              <a:buSzPct val="100000"/>
              <a:buChar char="•"/>
            </a:pPr>
            <a:r>
              <a:rPr lang="en-US" sz="1300" dirty="0">
                <a:solidFill>
                  <a:srgbClr val="25403A"/>
                </a:solidFill>
                <a:latin typeface="Arial" pitchFamily="34" charset="0"/>
                <a:ea typeface="Arial" pitchFamily="34" charset="-122"/>
                <a:cs typeface="Arial" pitchFamily="34" charset="-120"/>
              </a:rPr>
              <a:t>No repository locking or concurrency protocol exists.</a:t>
            </a:r>
            <a:endParaRPr lang="en-US" sz="1300" dirty="0"/>
          </a:p>
        </p:txBody>
      </p:sp>
      <p:sp>
        <p:nvSpPr>
          <p:cNvPr id="7" name="Shape 5"/>
          <p:cNvSpPr/>
          <p:nvPr/>
        </p:nvSpPr>
        <p:spPr>
          <a:xfrm>
            <a:off x="6178550" y="1530350"/>
            <a:ext cx="5194300" cy="2216785"/>
          </a:xfrm>
          <a:prstGeom prst="roundRect">
            <a:avLst>
              <a:gd name="adj" fmla="val 4297"/>
            </a:avLst>
          </a:prstGeom>
          <a:solidFill>
            <a:srgbClr val="FDF0E1"/>
          </a:solidFill>
          <a:ln w="12700">
            <a:solidFill>
              <a:srgbClr val="E8B27A"/>
            </a:solidFill>
            <a:prstDash val="solid"/>
          </a:ln>
        </p:spPr>
      </p:sp>
      <p:pic>
        <p:nvPicPr>
          <p:cNvPr id="8" name="Image 0" descr="Warning"/>
          <p:cNvPicPr>
            <a:picLocks noChangeAspect="1"/>
          </p:cNvPicPr>
          <p:nvPr/>
        </p:nvPicPr>
        <p:blipFill>
          <a:blip r:embed="rId3"/>
          <a:srcRect/>
          <a:stretch/>
        </p:blipFill>
        <p:spPr>
          <a:xfrm>
            <a:off x="6360160" y="1686570"/>
            <a:ext cx="279400" cy="279400"/>
          </a:xfrm>
          <a:prstGeom prst="rect">
            <a:avLst/>
          </a:prstGeom>
        </p:spPr>
      </p:pic>
      <p:sp>
        <p:nvSpPr>
          <p:cNvPr id="9" name="Text 6"/>
          <p:cNvSpPr/>
          <p:nvPr/>
        </p:nvSpPr>
        <p:spPr>
          <a:xfrm>
            <a:off x="6360160" y="2054870"/>
            <a:ext cx="49760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7201A"/>
                </a:solidFill>
                <a:latin typeface="Arial" pitchFamily="34" charset="0"/>
                <a:ea typeface="Arial" pitchFamily="34" charset="-122"/>
                <a:cs typeface="Arial" pitchFamily="34" charset="-120"/>
              </a:rPr>
              <a:t>Not established by the supplied files</a:t>
            </a:r>
            <a:endParaRPr lang="en-US" sz="1600" dirty="0"/>
          </a:p>
        </p:txBody>
      </p:sp>
      <p:sp>
        <p:nvSpPr>
          <p:cNvPr id="10" name="Text 7"/>
          <p:cNvSpPr/>
          <p:nvPr/>
        </p:nvSpPr>
        <p:spPr>
          <a:xfrm>
            <a:off x="6458204" y="2387600"/>
            <a:ext cx="4870348" cy="916940"/>
          </a:xfrm>
          <a:prstGeom prst="rect">
            <a:avLst/>
          </a:prstGeom>
          <a:noFill/>
          <a:ln/>
        </p:spPr>
        <p:txBody>
          <a:bodyPr wrap="square" lIns="0" tIns="0" rIns="0" bIns="0" rtlCol="0" anchor="t">
            <a:normAutofit/>
          </a:bodyPr>
          <a:lstStyle/>
          <a:p>
            <a:pPr marL="155956" indent="-155956" algn="l">
              <a:lnSpc>
                <a:spcPts val="1755"/>
              </a:lnSpc>
              <a:buSzPct val="100000"/>
              <a:buChar char="•"/>
            </a:pPr>
            <a:r>
              <a:rPr lang="en-US" sz="1300" dirty="0">
                <a:solidFill>
                  <a:srgbClr val="5C3410"/>
                </a:solidFill>
                <a:latin typeface="Arial" pitchFamily="34" charset="0"/>
                <a:ea typeface="Arial" pitchFamily="34" charset="-122"/>
                <a:cs typeface="Arial" pitchFamily="34" charset="-120"/>
              </a:rPr>
              <a:t>Test counts or coverage percentages</a:t>
            </a:r>
            <a:endParaRPr lang="en-US" sz="1300" dirty="0"/>
          </a:p>
          <a:p>
            <a:pPr marL="155956" indent="-155956" algn="l">
              <a:lnSpc>
                <a:spcPts val="1755"/>
              </a:lnSpc>
              <a:buSzPct val="100000"/>
              <a:buChar char="•"/>
            </a:pPr>
            <a:r>
              <a:rPr lang="en-US" sz="1300" dirty="0">
                <a:solidFill>
                  <a:srgbClr val="5C3410"/>
                </a:solidFill>
                <a:latin typeface="Arial" pitchFamily="34" charset="0"/>
                <a:ea typeface="Arial" pitchFamily="34" charset="-122"/>
                <a:cs typeface="Arial" pitchFamily="34" charset="-120"/>
              </a:rPr>
              <a:t>Continuous-integration results</a:t>
            </a:r>
            <a:endParaRPr lang="en-US" sz="1300" dirty="0"/>
          </a:p>
          <a:p>
            <a:pPr marL="155956" indent="-155956" algn="l">
              <a:lnSpc>
                <a:spcPts val="1755"/>
              </a:lnSpc>
              <a:buSzPct val="100000"/>
              <a:buChar char="•"/>
            </a:pPr>
            <a:r>
              <a:rPr lang="en-US" sz="1300" dirty="0">
                <a:solidFill>
                  <a:srgbClr val="5C3410"/>
                </a:solidFill>
                <a:latin typeface="Arial" pitchFamily="34" charset="0"/>
                <a:ea typeface="Arial" pitchFamily="34" charset="-122"/>
                <a:cs typeface="Arial" pitchFamily="34" charset="-120"/>
              </a:rPr>
              <a:t>Performance benchmarks</a:t>
            </a:r>
            <a:endParaRPr lang="en-US" sz="1300" dirty="0"/>
          </a:p>
          <a:p>
            <a:pPr marL="155956" indent="-155956" algn="l">
              <a:lnSpc>
                <a:spcPts val="1755"/>
              </a:lnSpc>
              <a:buSzPct val="100000"/>
              <a:buChar char="•"/>
            </a:pPr>
            <a:r>
              <a:rPr lang="en-US" sz="1300" dirty="0">
                <a:solidFill>
                  <a:srgbClr val="5C3410"/>
                </a:solidFill>
                <a:latin typeface="Arial" pitchFamily="34" charset="0"/>
                <a:ea typeface="Arial" pitchFamily="34" charset="-122"/>
                <a:cs typeface="Arial" pitchFamily="34" charset="-120"/>
              </a:rPr>
              <a:t>Detailed error messages and validation rules</a:t>
            </a:r>
            <a:endParaRPr lang="en-US" sz="1300" dirty="0"/>
          </a:p>
        </p:txBody>
      </p:sp>
      <p:sp>
        <p:nvSpPr>
          <p:cNvPr id="11" name="Text 8"/>
          <p:cNvSpPr/>
          <p:nvPr/>
        </p:nvSpPr>
        <p:spPr>
          <a:xfrm>
            <a:off x="6360160" y="3368055"/>
            <a:ext cx="4976012"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5C3410"/>
                </a:solidFill>
                <a:latin typeface="Arial" pitchFamily="34" charset="0"/>
                <a:ea typeface="Arial" pitchFamily="34" charset="-122"/>
                <a:cs typeface="Arial" pitchFamily="34" charset="-120"/>
              </a:rPr>
              <a:t>None of these are reported here.</a:t>
            </a:r>
            <a:endParaRPr lang="en-US" sz="1300" dirty="0"/>
          </a:p>
        </p:txBody>
      </p:sp>
      <p:pic>
        <p:nvPicPr>
          <p:cNvPr id="12" name="Image 1"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13" name="Text 9"/>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14" name="Text 10"/>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F · CONFIGURATION, QUALITY AND RELEASE</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Latest Stable Release on GitHub</a:t>
            </a:r>
            <a:endParaRPr lang="en-US" sz="3200" dirty="0"/>
          </a:p>
        </p:txBody>
      </p:sp>
      <p:sp>
        <p:nvSpPr>
          <p:cNvPr id="4" name="Shape 2"/>
          <p:cNvSpPr/>
          <p:nvPr/>
        </p:nvSpPr>
        <p:spPr>
          <a:xfrm>
            <a:off x="812800" y="1524000"/>
            <a:ext cx="6604000" cy="3225800"/>
          </a:xfrm>
          <a:prstGeom prst="roundRect">
            <a:avLst>
              <a:gd name="adj" fmla="val 2362"/>
            </a:avLst>
          </a:prstGeom>
          <a:solidFill>
            <a:srgbClr val="0D1117"/>
          </a:solidFill>
          <a:ln/>
        </p:spPr>
      </p:sp>
      <p:pic>
        <p:nvPicPr>
          <p:cNvPr id="5" name="Image 0" descr="Screenshot of the AnimeshRajwar/loki GitHub release page for the 'stable' release, marked Latest, showing 'Rolling stable build from commit ce17986' and 23 assets including checksums.txt and install-loki files"/>
          <p:cNvPicPr>
            <a:picLocks noChangeAspect="1"/>
          </p:cNvPicPr>
          <p:nvPr/>
        </p:nvPicPr>
        <p:blipFill>
          <a:blip r:embed="rId3"/>
          <a:srcRect l="-168" r="-168"/>
          <a:stretch/>
        </p:blipFill>
        <p:spPr>
          <a:xfrm>
            <a:off x="825500" y="1536700"/>
            <a:ext cx="6578600" cy="3200400"/>
          </a:xfrm>
          <a:prstGeom prst="roundRect">
            <a:avLst>
              <a:gd name="adj" fmla="val 1984"/>
            </a:avLst>
          </a:prstGeom>
        </p:spPr>
      </p:pic>
      <p:sp>
        <p:nvSpPr>
          <p:cNvPr id="6" name="Shape 3"/>
          <p:cNvSpPr/>
          <p:nvPr/>
        </p:nvSpPr>
        <p:spPr>
          <a:xfrm>
            <a:off x="819150" y="1530350"/>
            <a:ext cx="6591300" cy="3213100"/>
          </a:xfrm>
          <a:prstGeom prst="roundRect">
            <a:avLst>
              <a:gd name="adj" fmla="val 2174"/>
            </a:avLst>
          </a:prstGeom>
          <a:noFill/>
          <a:ln w="12700">
            <a:solidFill>
              <a:srgbClr val="C7D8CE"/>
            </a:solidFill>
            <a:prstDash val="solid"/>
          </a:ln>
        </p:spPr>
      </p:sp>
      <p:sp>
        <p:nvSpPr>
          <p:cNvPr id="7" name="Shape 4"/>
          <p:cNvSpPr/>
          <p:nvPr/>
        </p:nvSpPr>
        <p:spPr>
          <a:xfrm>
            <a:off x="7626350" y="1530350"/>
            <a:ext cx="3746500" cy="617220"/>
          </a:xfrm>
          <a:prstGeom prst="roundRect">
            <a:avLst>
              <a:gd name="adj" fmla="val 11317"/>
            </a:avLst>
          </a:prstGeom>
          <a:solidFill>
            <a:srgbClr val="FBFCFE"/>
          </a:solidFill>
          <a:ln w="12700">
            <a:solidFill>
              <a:srgbClr val="C7D8CE"/>
            </a:solidFill>
            <a:prstDash val="solid"/>
          </a:ln>
        </p:spPr>
      </p:sp>
      <p:sp>
        <p:nvSpPr>
          <p:cNvPr id="8" name="Text 5"/>
          <p:cNvSpPr/>
          <p:nvPr/>
        </p:nvSpPr>
        <p:spPr>
          <a:xfrm>
            <a:off x="7744460" y="1610370"/>
            <a:ext cx="361558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Repository</a:t>
            </a:r>
            <a:endParaRPr lang="en-US" sz="1200" dirty="0"/>
          </a:p>
        </p:txBody>
      </p:sp>
      <p:sp>
        <p:nvSpPr>
          <p:cNvPr id="9" name="Text 6"/>
          <p:cNvSpPr/>
          <p:nvPr/>
        </p:nvSpPr>
        <p:spPr>
          <a:xfrm>
            <a:off x="7744460" y="1836415"/>
            <a:ext cx="3615588"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7201A"/>
                </a:solidFill>
                <a:latin typeface="Courier New" pitchFamily="49" charset="0"/>
                <a:ea typeface="Courier New" pitchFamily="49" charset="-122"/>
                <a:cs typeface="Courier New" pitchFamily="49" charset="-120"/>
              </a:rPr>
              <a:t>AnimeshRajwar/loki</a:t>
            </a:r>
            <a:endParaRPr lang="en-US" sz="1300" dirty="0"/>
          </a:p>
        </p:txBody>
      </p:sp>
      <p:sp>
        <p:nvSpPr>
          <p:cNvPr id="10" name="Shape 7"/>
          <p:cNvSpPr/>
          <p:nvPr/>
        </p:nvSpPr>
        <p:spPr>
          <a:xfrm>
            <a:off x="7626350" y="2236465"/>
            <a:ext cx="3746500" cy="798830"/>
          </a:xfrm>
          <a:prstGeom prst="roundRect">
            <a:avLst>
              <a:gd name="adj" fmla="val 8744"/>
            </a:avLst>
          </a:prstGeom>
          <a:solidFill>
            <a:srgbClr val="FBFCFE"/>
          </a:solidFill>
          <a:ln w="12700">
            <a:solidFill>
              <a:srgbClr val="C7D8CE"/>
            </a:solidFill>
            <a:prstDash val="solid"/>
          </a:ln>
        </p:spPr>
      </p:sp>
      <p:sp>
        <p:nvSpPr>
          <p:cNvPr id="11" name="Text 8"/>
          <p:cNvSpPr/>
          <p:nvPr/>
        </p:nvSpPr>
        <p:spPr>
          <a:xfrm>
            <a:off x="7744460" y="2316485"/>
            <a:ext cx="361558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Release</a:t>
            </a:r>
            <a:endParaRPr lang="en-US" sz="1200" dirty="0"/>
          </a:p>
        </p:txBody>
      </p:sp>
      <p:sp>
        <p:nvSpPr>
          <p:cNvPr id="12" name="Text 9"/>
          <p:cNvSpPr/>
          <p:nvPr/>
        </p:nvSpPr>
        <p:spPr>
          <a:xfrm>
            <a:off x="7744460" y="2542555"/>
            <a:ext cx="3615588"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07201A"/>
                </a:solidFill>
                <a:latin typeface="Arial" pitchFamily="34" charset="0"/>
                <a:ea typeface="Arial" pitchFamily="34" charset="-122"/>
                <a:cs typeface="Arial" pitchFamily="34" charset="-120"/>
              </a:rPr>
              <a:t>stable</a:t>
            </a:r>
            <a:r>
              <a:rPr lang="en-US" sz="1300" dirty="0">
                <a:solidFill>
                  <a:srgbClr val="07201A"/>
                </a:solidFill>
                <a:latin typeface="Arial" pitchFamily="34" charset="0"/>
                <a:ea typeface="Arial" pitchFamily="34" charset="-122"/>
                <a:cs typeface="Arial" pitchFamily="34" charset="-120"/>
              </a:rPr>
              <a:t>, labelled Latest, built from commit </a:t>
            </a:r>
            <a:r>
              <a:rPr lang="en-US" sz="1300" b="1" dirty="0">
                <a:solidFill>
                  <a:srgbClr val="07201A"/>
                </a:solidFill>
                <a:latin typeface="Arial" pitchFamily="34" charset="0"/>
                <a:ea typeface="Arial" pitchFamily="34" charset="-122"/>
                <a:cs typeface="Arial" pitchFamily="34" charset="-120"/>
              </a:rPr>
              <a:t>ce17986</a:t>
            </a:r>
            <a:endParaRPr lang="en-US" sz="1300" dirty="0"/>
          </a:p>
        </p:txBody>
      </p:sp>
      <p:sp>
        <p:nvSpPr>
          <p:cNvPr id="13" name="Shape 10"/>
          <p:cNvSpPr/>
          <p:nvPr/>
        </p:nvSpPr>
        <p:spPr>
          <a:xfrm>
            <a:off x="7626350" y="3124200"/>
            <a:ext cx="3746500" cy="592455"/>
          </a:xfrm>
          <a:prstGeom prst="roundRect">
            <a:avLst>
              <a:gd name="adj" fmla="val 11790"/>
            </a:avLst>
          </a:prstGeom>
          <a:solidFill>
            <a:srgbClr val="FBFCFE"/>
          </a:solidFill>
          <a:ln w="12700">
            <a:solidFill>
              <a:srgbClr val="C7D8CE"/>
            </a:solidFill>
            <a:prstDash val="solid"/>
          </a:ln>
        </p:spPr>
      </p:sp>
      <p:sp>
        <p:nvSpPr>
          <p:cNvPr id="14" name="Text 11"/>
          <p:cNvSpPr/>
          <p:nvPr/>
        </p:nvSpPr>
        <p:spPr>
          <a:xfrm>
            <a:off x="7744460" y="3204220"/>
            <a:ext cx="361558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Assets: 23</a:t>
            </a:r>
            <a:endParaRPr lang="en-US" sz="1200" dirty="0"/>
          </a:p>
        </p:txBody>
      </p:sp>
      <p:sp>
        <p:nvSpPr>
          <p:cNvPr id="15" name="Text 12"/>
          <p:cNvSpPr/>
          <p:nvPr/>
        </p:nvSpPr>
        <p:spPr>
          <a:xfrm>
            <a:off x="7744460" y="3430265"/>
            <a:ext cx="3615588"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07201A"/>
                </a:solidFill>
                <a:latin typeface="Arial" pitchFamily="34" charset="0"/>
                <a:ea typeface="Arial" pitchFamily="34" charset="-122"/>
                <a:cs typeface="Arial" pitchFamily="34" charset="-120"/>
              </a:rPr>
              <a:t>checksums.txt and five install files are visible</a:t>
            </a:r>
            <a:endParaRPr lang="en-US" sz="1300" dirty="0"/>
          </a:p>
        </p:txBody>
      </p:sp>
      <p:pic>
        <p:nvPicPr>
          <p:cNvPr id="16" name="Image 1" descr="Loki logo"/>
          <p:cNvPicPr>
            <a:picLocks noChangeAspect="1"/>
          </p:cNvPicPr>
          <p:nvPr/>
        </p:nvPicPr>
        <p:blipFill>
          <a:blip r:embed="rId4"/>
          <a:srcRect t="88" b="88"/>
          <a:stretch/>
        </p:blipFill>
        <p:spPr>
          <a:xfrm>
            <a:off x="812800" y="6159500"/>
            <a:ext cx="279400" cy="368300"/>
          </a:xfrm>
          <a:prstGeom prst="roundRect">
            <a:avLst>
              <a:gd name="adj" fmla="val 18182"/>
            </a:avLst>
          </a:prstGeom>
        </p:spPr>
      </p:pic>
      <p:sp>
        <p:nvSpPr>
          <p:cNvPr id="17" name="Text 13"/>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18" name="Text 14"/>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F · CONFIGURATION, QUALITY AND RELEASE</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Installation: Linux, macOS and Windows</a:t>
            </a:r>
            <a:endParaRPr lang="en-US" sz="3200" dirty="0"/>
          </a:p>
        </p:txBody>
      </p:sp>
      <p:sp>
        <p:nvSpPr>
          <p:cNvPr id="4" name="Shape 2"/>
          <p:cNvSpPr/>
          <p:nvPr/>
        </p:nvSpPr>
        <p:spPr>
          <a:xfrm>
            <a:off x="812800" y="1498600"/>
            <a:ext cx="6350000" cy="3134360"/>
          </a:xfrm>
          <a:prstGeom prst="roundRect">
            <a:avLst>
              <a:gd name="adj" fmla="val 3241"/>
            </a:avLst>
          </a:prstGeom>
          <a:solidFill>
            <a:srgbClr val="07201A"/>
          </a:solidFill>
          <a:ln/>
        </p:spPr>
      </p:sp>
      <p:sp>
        <p:nvSpPr>
          <p:cNvPr id="5" name="Text 3"/>
          <p:cNvSpPr/>
          <p:nvPr/>
        </p:nvSpPr>
        <p:spPr>
          <a:xfrm>
            <a:off x="990600" y="1638300"/>
            <a:ext cx="617423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Arial" pitchFamily="34" charset="0"/>
                <a:ea typeface="Arial" pitchFamily="34" charset="-122"/>
                <a:cs typeface="Arial" pitchFamily="34" charset="-120"/>
              </a:rPr>
              <a:t>Linux and macOS</a:t>
            </a:r>
            <a:endParaRPr lang="en-US" sz="1400" dirty="0"/>
          </a:p>
        </p:txBody>
      </p:sp>
      <p:sp>
        <p:nvSpPr>
          <p:cNvPr id="6" name="Text 4"/>
          <p:cNvSpPr/>
          <p:nvPr/>
        </p:nvSpPr>
        <p:spPr>
          <a:xfrm>
            <a:off x="990600" y="1963415"/>
            <a:ext cx="6174232"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8C8BB"/>
                </a:solidFill>
                <a:latin typeface="Arial" pitchFamily="34" charset="0"/>
                <a:ea typeface="Arial" pitchFamily="34" charset="-122"/>
                <a:cs typeface="Arial" pitchFamily="34" charset="-120"/>
              </a:rPr>
              <a:t>Same release-installer flow. The scripts detect the platform and download the right binary.</a:t>
            </a:r>
            <a:endParaRPr lang="en-US" sz="1200" dirty="0"/>
          </a:p>
        </p:txBody>
      </p:sp>
      <p:sp>
        <p:nvSpPr>
          <p:cNvPr id="7" name="Text 5"/>
          <p:cNvSpPr/>
          <p:nvPr/>
        </p:nvSpPr>
        <p:spPr>
          <a:xfrm>
            <a:off x="990600" y="2435870"/>
            <a:ext cx="61742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8FB5A5"/>
                </a:solidFill>
                <a:latin typeface="Courier New" pitchFamily="49" charset="0"/>
                <a:ea typeface="Courier New" pitchFamily="49" charset="-122"/>
                <a:cs typeface="Courier New" pitchFamily="49" charset="-120"/>
              </a:rPr>
              <a:t># User install (default: $HOME/.local/bin)</a:t>
            </a:r>
            <a:endParaRPr lang="en-US" sz="1200" dirty="0"/>
          </a:p>
        </p:txBody>
      </p:sp>
      <p:sp>
        <p:nvSpPr>
          <p:cNvPr id="8" name="Text 6"/>
          <p:cNvSpPr/>
          <p:nvPr/>
        </p:nvSpPr>
        <p:spPr>
          <a:xfrm>
            <a:off x="990600" y="2740670"/>
            <a:ext cx="6174232"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6F2EC"/>
                </a:solidFill>
                <a:latin typeface="Courier New" pitchFamily="49" charset="0"/>
                <a:ea typeface="Courier New" pitchFamily="49" charset="-122"/>
                <a:cs typeface="Courier New" pitchFamily="49" charset="-120"/>
              </a:rPr>
              <a:t>curl -fsSL https://raw.githubusercontent.com/AnimeshRajwar/loki/master/scripts/install.sh | bash -s stable</a:t>
            </a:r>
            <a:endParaRPr lang="en-US" sz="1200" dirty="0"/>
          </a:p>
        </p:txBody>
      </p:sp>
      <p:sp>
        <p:nvSpPr>
          <p:cNvPr id="9" name="Text 7"/>
          <p:cNvSpPr/>
          <p:nvPr/>
        </p:nvSpPr>
        <p:spPr>
          <a:xfrm>
            <a:off x="990600" y="3502670"/>
            <a:ext cx="617423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8FB5A5"/>
                </a:solidFill>
                <a:latin typeface="Courier New" pitchFamily="49" charset="0"/>
                <a:ea typeface="Courier New" pitchFamily="49" charset="-122"/>
                <a:cs typeface="Courier New" pitchFamily="49" charset="-120"/>
              </a:rPr>
              <a:t># System install (requires sudo)</a:t>
            </a:r>
            <a:endParaRPr lang="en-US" sz="1200" dirty="0"/>
          </a:p>
        </p:txBody>
      </p:sp>
      <p:sp>
        <p:nvSpPr>
          <p:cNvPr id="10" name="Text 8"/>
          <p:cNvSpPr/>
          <p:nvPr/>
        </p:nvSpPr>
        <p:spPr>
          <a:xfrm>
            <a:off x="990600" y="3807470"/>
            <a:ext cx="6174232"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6F2EC"/>
                </a:solidFill>
                <a:latin typeface="Courier New" pitchFamily="49" charset="0"/>
                <a:ea typeface="Courier New" pitchFamily="49" charset="-122"/>
                <a:cs typeface="Courier New" pitchFamily="49" charset="-120"/>
              </a:rPr>
              <a:t>curl -fsSL https://raw.githubusercontent.com/AnimeshRajwar/loki/master/scripts/install-system.sh | bash -s stable /usr/local/bin</a:t>
            </a:r>
            <a:endParaRPr lang="en-US" sz="1200" dirty="0"/>
          </a:p>
        </p:txBody>
      </p:sp>
      <p:sp>
        <p:nvSpPr>
          <p:cNvPr id="11" name="Shape 9"/>
          <p:cNvSpPr/>
          <p:nvPr/>
        </p:nvSpPr>
        <p:spPr>
          <a:xfrm>
            <a:off x="7315200" y="1498600"/>
            <a:ext cx="4064000" cy="3134360"/>
          </a:xfrm>
          <a:prstGeom prst="roundRect">
            <a:avLst>
              <a:gd name="adj" fmla="val 3241"/>
            </a:avLst>
          </a:prstGeom>
          <a:solidFill>
            <a:srgbClr val="07201A"/>
          </a:solidFill>
          <a:ln/>
        </p:spPr>
      </p:sp>
      <p:sp>
        <p:nvSpPr>
          <p:cNvPr id="12" name="Text 10"/>
          <p:cNvSpPr/>
          <p:nvPr/>
        </p:nvSpPr>
        <p:spPr>
          <a:xfrm>
            <a:off x="7493000" y="1638300"/>
            <a:ext cx="381965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FD6A0"/>
                </a:solidFill>
                <a:latin typeface="Arial" pitchFamily="34" charset="0"/>
                <a:ea typeface="Arial" pitchFamily="34" charset="-122"/>
                <a:cs typeface="Arial" pitchFamily="34" charset="-120"/>
              </a:rPr>
              <a:t>Windows</a:t>
            </a:r>
            <a:endParaRPr lang="en-US" sz="1400" dirty="0"/>
          </a:p>
        </p:txBody>
      </p:sp>
      <p:sp>
        <p:nvSpPr>
          <p:cNvPr id="13" name="Text 11"/>
          <p:cNvSpPr/>
          <p:nvPr/>
        </p:nvSpPr>
        <p:spPr>
          <a:xfrm>
            <a:off x="7493000" y="1963415"/>
            <a:ext cx="3819652"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8C8BB"/>
                </a:solidFill>
                <a:latin typeface="Arial" pitchFamily="34" charset="0"/>
                <a:ea typeface="Arial" pitchFamily="34" charset="-122"/>
                <a:cs typeface="Arial" pitchFamily="34" charset="-120"/>
              </a:rPr>
              <a:t>PowerShell installs the release asset and adds the install folder to your user PATH.</a:t>
            </a:r>
            <a:endParaRPr lang="en-US" sz="1200" dirty="0"/>
          </a:p>
        </p:txBody>
      </p:sp>
      <p:sp>
        <p:nvSpPr>
          <p:cNvPr id="14" name="Text 12"/>
          <p:cNvSpPr/>
          <p:nvPr/>
        </p:nvSpPr>
        <p:spPr>
          <a:xfrm>
            <a:off x="7493000" y="2435870"/>
            <a:ext cx="3819652" cy="1397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6F2EC"/>
                </a:solidFill>
                <a:latin typeface="Courier New" pitchFamily="49" charset="0"/>
                <a:ea typeface="Courier New" pitchFamily="49" charset="-122"/>
                <a:cs typeface="Courier New" pitchFamily="49" charset="-120"/>
              </a:rPr>
              <a:t>powershell -ExecutionPolicy Bypass -Command "Invoke-WebRequest https://raw.githubusercontent.com/AnimeshRajwar/loki/master/scripts/install.ps1 -OutFile install-loki.ps1; .install-loki.ps1 -Channel stable"</a:t>
            </a:r>
            <a:endParaRPr lang="en-US" sz="1200" dirty="0"/>
          </a:p>
        </p:txBody>
      </p:sp>
      <p:sp>
        <p:nvSpPr>
          <p:cNvPr id="15" name="Text 13"/>
          <p:cNvSpPr/>
          <p:nvPr/>
        </p:nvSpPr>
        <p:spPr>
          <a:xfrm>
            <a:off x="7493000" y="3883670"/>
            <a:ext cx="3819652"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8FB5A5"/>
                </a:solidFill>
                <a:latin typeface="Courier New" pitchFamily="49" charset="0"/>
                <a:ea typeface="Courier New" pitchFamily="49" charset="-122"/>
                <a:cs typeface="Courier New" pitchFamily="49" charset="-120"/>
              </a:rPr>
              <a:t># or from PowerShell directly: # .install-loki.ps1 -Channel latest</a:t>
            </a:r>
            <a:endParaRPr lang="en-US" sz="1200" dirty="0"/>
          </a:p>
        </p:txBody>
      </p:sp>
      <p:sp>
        <p:nvSpPr>
          <p:cNvPr id="16" name="Shape 14"/>
          <p:cNvSpPr/>
          <p:nvPr/>
        </p:nvSpPr>
        <p:spPr>
          <a:xfrm>
            <a:off x="819150" y="4817120"/>
            <a:ext cx="3558540" cy="698500"/>
          </a:xfrm>
          <a:prstGeom prst="roundRect">
            <a:avLst>
              <a:gd name="adj" fmla="val 11818"/>
            </a:avLst>
          </a:prstGeom>
          <a:solidFill>
            <a:srgbClr val="E0F2EA"/>
          </a:solidFill>
          <a:ln w="12700">
            <a:solidFill>
              <a:srgbClr val="8CCBB0"/>
            </a:solidFill>
            <a:prstDash val="solid"/>
          </a:ln>
        </p:spPr>
      </p:sp>
      <p:sp>
        <p:nvSpPr>
          <p:cNvPr id="17" name="Text 15"/>
          <p:cNvSpPr/>
          <p:nvPr/>
        </p:nvSpPr>
        <p:spPr>
          <a:xfrm>
            <a:off x="962660" y="4922515"/>
            <a:ext cx="336966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Verify the install</a:t>
            </a:r>
            <a:endParaRPr lang="en-US" sz="1200" dirty="0"/>
          </a:p>
        </p:txBody>
      </p:sp>
      <p:sp>
        <p:nvSpPr>
          <p:cNvPr id="18" name="Text 16"/>
          <p:cNvSpPr/>
          <p:nvPr/>
        </p:nvSpPr>
        <p:spPr>
          <a:xfrm>
            <a:off x="962660" y="5161285"/>
            <a:ext cx="336966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7201A"/>
                </a:solidFill>
                <a:latin typeface="Courier New" pitchFamily="49" charset="0"/>
                <a:ea typeface="Courier New" pitchFamily="49" charset="-122"/>
                <a:cs typeface="Courier New" pitchFamily="49" charset="-120"/>
              </a:rPr>
              <a:t>loki --help</a:t>
            </a:r>
            <a:endParaRPr lang="en-US" sz="1400" dirty="0"/>
          </a:p>
        </p:txBody>
      </p:sp>
      <p:sp>
        <p:nvSpPr>
          <p:cNvPr id="19" name="Shape 17"/>
          <p:cNvSpPr/>
          <p:nvPr/>
        </p:nvSpPr>
        <p:spPr>
          <a:xfrm>
            <a:off x="4542790" y="4817120"/>
            <a:ext cx="6830060" cy="698500"/>
          </a:xfrm>
          <a:prstGeom prst="roundRect">
            <a:avLst>
              <a:gd name="adj" fmla="val 11818"/>
            </a:avLst>
          </a:prstGeom>
          <a:solidFill>
            <a:srgbClr val="FBFCFE"/>
          </a:solidFill>
          <a:ln w="12700">
            <a:solidFill>
              <a:srgbClr val="C7D8CE"/>
            </a:solidFill>
            <a:prstDash val="solid"/>
          </a:ln>
        </p:spPr>
      </p:sp>
      <p:sp>
        <p:nvSpPr>
          <p:cNvPr id="20" name="Text 18"/>
          <p:cNvSpPr/>
          <p:nvPr/>
        </p:nvSpPr>
        <p:spPr>
          <a:xfrm>
            <a:off x="4686300" y="4922515"/>
            <a:ext cx="673933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B54"/>
                </a:solidFill>
                <a:latin typeface="Arial" pitchFamily="34" charset="0"/>
                <a:ea typeface="Arial" pitchFamily="34" charset="-122"/>
                <a:cs typeface="Arial" pitchFamily="34" charset="-120"/>
              </a:rPr>
              <a:t>Release assets (slide 37)</a:t>
            </a:r>
            <a:endParaRPr lang="en-US" sz="1200" dirty="0"/>
          </a:p>
        </p:txBody>
      </p:sp>
      <p:sp>
        <p:nvSpPr>
          <p:cNvPr id="21" name="Text 19"/>
          <p:cNvSpPr/>
          <p:nvPr/>
        </p:nvSpPr>
        <p:spPr>
          <a:xfrm>
            <a:off x="4686300" y="5161285"/>
            <a:ext cx="6739331"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Arial" pitchFamily="34" charset="0"/>
                <a:ea typeface="Arial" pitchFamily="34" charset="-122"/>
                <a:cs typeface="Arial" pitchFamily="34" charset="-120"/>
              </a:rPr>
              <a:t>checksums.txt, install-loki-system.ps1 and .sh, install-loki.bat, .command and .desktop</a:t>
            </a:r>
            <a:endParaRPr lang="en-US" sz="1200" dirty="0"/>
          </a:p>
        </p:txBody>
      </p:sp>
      <p:pic>
        <p:nvPicPr>
          <p:cNvPr id="22"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23" name="Text 20"/>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4" name="Text 21"/>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8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F7B54"/>
                </a:solidFill>
                <a:latin typeface="Arial" pitchFamily="34" charset="0"/>
                <a:ea typeface="Arial" pitchFamily="34" charset="-122"/>
                <a:cs typeface="Arial" pitchFamily="34" charset="-120"/>
              </a:rPr>
              <a:t>G · LIMITATIONS AND CONCLUSION</a:t>
            </a:r>
            <a:endParaRPr lang="en-US" sz="1200" dirty="0"/>
          </a:p>
        </p:txBody>
      </p:sp>
      <p:sp>
        <p:nvSpPr>
          <p:cNvPr id="3" name="Text 1"/>
          <p:cNvSpPr>
            <a:spLocks noGrp="1"/>
          </p:cNvSpPr>
          <p:nvPr>
            <p:ph type="title"/>
          </p:nvPr>
        </p:nvSpPr>
        <p:spPr>
          <a:xfrm>
            <a:off x="812800" y="873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7201A"/>
                </a:solidFill>
                <a:latin typeface="Arial" pitchFamily="34" charset="0"/>
                <a:ea typeface="Arial" pitchFamily="34" charset="-122"/>
                <a:cs typeface="Arial" pitchFamily="34" charset="-120"/>
              </a:rPr>
              <a:t>Current Limitations and Future Improvements</a:t>
            </a:r>
            <a:endParaRPr lang="en-US" sz="3200" dirty="0"/>
          </a:p>
        </p:txBody>
      </p:sp>
      <p:sp>
        <p:nvSpPr>
          <p:cNvPr id="4" name="Shape 2"/>
          <p:cNvSpPr/>
          <p:nvPr/>
        </p:nvSpPr>
        <p:spPr>
          <a:xfrm>
            <a:off x="819150" y="1530350"/>
            <a:ext cx="5194300" cy="2204720"/>
          </a:xfrm>
          <a:prstGeom prst="roundRect">
            <a:avLst>
              <a:gd name="adj" fmla="val 4320"/>
            </a:avLst>
          </a:prstGeom>
          <a:solidFill>
            <a:srgbClr val="FDF0E1"/>
          </a:solidFill>
          <a:ln w="12700">
            <a:solidFill>
              <a:srgbClr val="E8B27A"/>
            </a:solidFill>
            <a:prstDash val="solid"/>
          </a:ln>
        </p:spPr>
      </p:sp>
      <p:sp>
        <p:nvSpPr>
          <p:cNvPr id="5" name="Text 3"/>
          <p:cNvSpPr/>
          <p:nvPr/>
        </p:nvSpPr>
        <p:spPr>
          <a:xfrm>
            <a:off x="1000760" y="1686570"/>
            <a:ext cx="49760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09"/>
                </a:solidFill>
                <a:latin typeface="Arial" pitchFamily="34" charset="0"/>
                <a:ea typeface="Arial" pitchFamily="34" charset="-122"/>
                <a:cs typeface="Arial" pitchFamily="34" charset="-120"/>
              </a:rPr>
              <a:t>DOCUMENTED LIMITATIONS</a:t>
            </a:r>
            <a:endParaRPr lang="en-US" sz="1200" dirty="0"/>
          </a:p>
        </p:txBody>
      </p:sp>
      <p:sp>
        <p:nvSpPr>
          <p:cNvPr id="6" name="Text 4"/>
          <p:cNvSpPr/>
          <p:nvPr/>
        </p:nvSpPr>
        <p:spPr>
          <a:xfrm>
            <a:off x="1098804" y="1988815"/>
            <a:ext cx="4870348" cy="1527810"/>
          </a:xfrm>
          <a:prstGeom prst="rect">
            <a:avLst/>
          </a:prstGeom>
          <a:noFill/>
          <a:ln/>
        </p:spPr>
        <p:txBody>
          <a:bodyPr wrap="square" lIns="0" tIns="0" rIns="0" bIns="0" rtlCol="0" anchor="t">
            <a:normAutofit/>
          </a:bodyPr>
          <a:lstStyle/>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Local only: no remote repositories, and no fetch, pull or push.</a:t>
            </a:r>
            <a:endParaRPr lang="en-US" sz="1300" dirty="0"/>
          </a:p>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loki log reads commits.log; it does not traverse commit ancestry.</a:t>
            </a:r>
            <a:endParaRPr lang="en-US" sz="1300" dirty="0"/>
          </a:p>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Object reads decompress but do not re-hash to verify IDs.</a:t>
            </a:r>
            <a:endParaRPr lang="en-US" sz="1300" dirty="0"/>
          </a:p>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No repository locking or concurrency protocol.</a:t>
            </a:r>
            <a:endParaRPr lang="en-US" sz="1300" dirty="0"/>
          </a:p>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Merges are file/path-based, not line-by-line.</a:t>
            </a:r>
            <a:endParaRPr lang="en-US" sz="1300" dirty="0"/>
          </a:p>
          <a:p>
            <a:pPr marL="155956" indent="-155956" algn="l">
              <a:lnSpc>
                <a:spcPts val="1690"/>
              </a:lnSpc>
              <a:buSzPct val="100000"/>
              <a:buChar char="•"/>
            </a:pPr>
            <a:r>
              <a:rPr lang="en-US" sz="1300" dirty="0">
                <a:solidFill>
                  <a:srgbClr val="3D2410"/>
                </a:solidFill>
                <a:latin typeface="Arial" pitchFamily="34" charset="0"/>
                <a:ea typeface="Arial" pitchFamily="34" charset="-122"/>
                <a:cs typeface="Arial" pitchFamily="34" charset="-120"/>
              </a:rPr>
              <a:t>The index is a custom JSON format, not Git's.</a:t>
            </a:r>
            <a:endParaRPr lang="en-US" sz="1300" dirty="0"/>
          </a:p>
        </p:txBody>
      </p:sp>
      <p:sp>
        <p:nvSpPr>
          <p:cNvPr id="7" name="Shape 5"/>
          <p:cNvSpPr/>
          <p:nvPr/>
        </p:nvSpPr>
        <p:spPr>
          <a:xfrm>
            <a:off x="6178550" y="1530350"/>
            <a:ext cx="5194300" cy="2204720"/>
          </a:xfrm>
          <a:prstGeom prst="roundRect">
            <a:avLst>
              <a:gd name="adj" fmla="val 4320"/>
            </a:avLst>
          </a:prstGeom>
          <a:solidFill>
            <a:srgbClr val="E0F2EA"/>
          </a:solidFill>
          <a:ln w="12700">
            <a:solidFill>
              <a:srgbClr val="5FB594"/>
            </a:solidFill>
            <a:prstDash val="dash"/>
          </a:ln>
        </p:spPr>
      </p:sp>
      <p:sp>
        <p:nvSpPr>
          <p:cNvPr id="8" name="Text 6"/>
          <p:cNvSpPr/>
          <p:nvPr/>
        </p:nvSpPr>
        <p:spPr>
          <a:xfrm>
            <a:off x="6360160" y="1686570"/>
            <a:ext cx="49760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F7B54"/>
                </a:solidFill>
                <a:latin typeface="Arial" pitchFamily="34" charset="0"/>
                <a:ea typeface="Arial" pitchFamily="34" charset="-122"/>
                <a:cs typeface="Arial" pitchFamily="34" charset="-120"/>
              </a:rPr>
              <a:t>POTENTIAL IMPROVEMENTS: PROPOSALS ONLY</a:t>
            </a:r>
            <a:endParaRPr lang="en-US" sz="1200" dirty="0"/>
          </a:p>
        </p:txBody>
      </p:sp>
      <p:sp>
        <p:nvSpPr>
          <p:cNvPr id="9" name="Text 7"/>
          <p:cNvSpPr/>
          <p:nvPr/>
        </p:nvSpPr>
        <p:spPr>
          <a:xfrm>
            <a:off x="6458204" y="1988815"/>
            <a:ext cx="4870348" cy="1313180"/>
          </a:xfrm>
          <a:prstGeom prst="rect">
            <a:avLst/>
          </a:prstGeom>
          <a:noFill/>
          <a:ln/>
        </p:spPr>
        <p:txBody>
          <a:bodyPr wrap="square" lIns="0" tIns="0" rIns="0" bIns="0" rtlCol="0" anchor="t">
            <a:normAutofit/>
          </a:bodyPr>
          <a:lstStyle/>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Remote repository support</a:t>
            </a:r>
            <a:endParaRPr lang="en-US" sz="1300" dirty="0"/>
          </a:p>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Stronger object integrity verification</a:t>
            </a:r>
            <a:endParaRPr lang="en-US" sz="1300" dirty="0"/>
          </a:p>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Safer atomic updates and concurrency handling</a:t>
            </a:r>
            <a:endParaRPr lang="en-US" sz="1300" dirty="0"/>
          </a:p>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More comprehensive automated testing</a:t>
            </a:r>
            <a:endParaRPr lang="en-US" sz="1300" dirty="0"/>
          </a:p>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Improved documentation and error messages</a:t>
            </a:r>
            <a:endParaRPr lang="en-US" sz="1300" dirty="0"/>
          </a:p>
          <a:p>
            <a:pPr marL="155956" indent="-155956" algn="l">
              <a:lnSpc>
                <a:spcPts val="1690"/>
              </a:lnSpc>
              <a:buSzPct val="100000"/>
              <a:buChar char="•"/>
            </a:pPr>
            <a:r>
              <a:rPr lang="en-US" sz="1300" dirty="0">
                <a:solidFill>
                  <a:srgbClr val="16342C"/>
                </a:solidFill>
                <a:latin typeface="Arial" pitchFamily="34" charset="0"/>
                <a:ea typeface="Arial" pitchFamily="34" charset="-122"/>
                <a:cs typeface="Arial" pitchFamily="34" charset="-120"/>
              </a:rPr>
              <a:t>Additional merge and history capabilities</a:t>
            </a:r>
            <a:endParaRPr lang="en-US" sz="1300" dirty="0"/>
          </a:p>
        </p:txBody>
      </p:sp>
      <p:sp>
        <p:nvSpPr>
          <p:cNvPr id="10" name="Text 8"/>
          <p:cNvSpPr/>
          <p:nvPr/>
        </p:nvSpPr>
        <p:spPr>
          <a:xfrm>
            <a:off x="6360160" y="3365500"/>
            <a:ext cx="49760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403A"/>
                </a:solidFill>
                <a:latin typeface="Arial" pitchFamily="34" charset="0"/>
                <a:ea typeface="Arial" pitchFamily="34" charset="-122"/>
                <a:cs typeface="Arial" pitchFamily="34" charset="-120"/>
              </a:rPr>
              <a:t>None of these are implemented today.</a:t>
            </a:r>
            <a:endParaRPr lang="en-US" sz="1200" dirty="0"/>
          </a:p>
        </p:txBody>
      </p:sp>
      <p:pic>
        <p:nvPicPr>
          <p:cNvPr id="11"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12" name="Text 9"/>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7"/>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13" name="Text 10"/>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7"/>
                </a:solidFill>
                <a:latin typeface="Arial" pitchFamily="34" charset="0"/>
                <a:ea typeface="Arial" pitchFamily="34" charset="-122"/>
                <a:cs typeface="Arial" pitchFamily="34" charset="-120"/>
              </a:rPr>
              <a:t>Loki VCS · 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201A"/>
        </a:solidFill>
        <a:effectLst/>
      </p:bgPr>
    </p:bg>
    <p:spTree>
      <p:nvGrpSpPr>
        <p:cNvPr id="1" name=""/>
        <p:cNvGrpSpPr/>
        <p:nvPr/>
      </p:nvGrpSpPr>
      <p:grpSpPr>
        <a:xfrm>
          <a:off x="0" y="0"/>
          <a:ext cx="0" cy="0"/>
          <a:chOff x="0" y="0"/>
          <a:chExt cx="0" cy="0"/>
        </a:xfrm>
      </p:grpSpPr>
      <p:sp>
        <p:nvSpPr>
          <p:cNvPr id="12" name="Shape 10"/>
          <p:cNvSpPr/>
          <p:nvPr/>
        </p:nvSpPr>
        <p:spPr>
          <a:xfrm>
            <a:off x="3212464" y="1878965"/>
            <a:ext cx="4129205" cy="2434590"/>
          </a:xfrm>
          <a:prstGeom prst="roundRect">
            <a:avLst>
              <a:gd name="adj" fmla="val 5216"/>
            </a:avLst>
          </a:prstGeom>
          <a:solidFill>
            <a:srgbClr val="0F7B54"/>
          </a:solidFill>
          <a:ln/>
        </p:spPr>
      </p:sp>
      <p:sp>
        <p:nvSpPr>
          <p:cNvPr id="13" name="Text 11"/>
          <p:cNvSpPr>
            <a:spLocks noGrp="1"/>
          </p:cNvSpPr>
          <p:nvPr>
            <p:ph type="title"/>
          </p:nvPr>
        </p:nvSpPr>
        <p:spPr>
          <a:xfrm>
            <a:off x="3613785" y="2084070"/>
            <a:ext cx="3662680" cy="612140"/>
          </a:xfrm>
          <a:prstGeom prst="rect">
            <a:avLst/>
          </a:prstGeom>
          <a:noFill/>
          <a:ln/>
        </p:spPr>
        <p:txBody>
          <a:bodyPr wrap="square" lIns="0" tIns="0" rIns="0" bIns="0" rtlCol="0" anchor="t">
            <a:normAutofit/>
          </a:bodyPr>
          <a:lstStyle/>
          <a:p>
            <a:pPr marL="0" indent="0" algn="l">
              <a:lnSpc>
                <a:spcPts val="4620"/>
              </a:lnSpc>
              <a:buNone/>
            </a:pPr>
            <a:r>
              <a:rPr lang="en-US" sz="4400" b="1" i="0" dirty="0">
                <a:solidFill>
                  <a:srgbClr val="F3F8F5"/>
                </a:solidFill>
                <a:latin typeface="Arial" pitchFamily="34" charset="0"/>
                <a:ea typeface="Arial" pitchFamily="34" charset="-122"/>
                <a:cs typeface="Arial" pitchFamily="34" charset="-120"/>
              </a:rPr>
              <a:t>Thank You</a:t>
            </a:r>
            <a:endParaRPr lang="en-US" sz="4400" dirty="0"/>
          </a:p>
        </p:txBody>
      </p:sp>
      <p:sp>
        <p:nvSpPr>
          <p:cNvPr id="15" name="Shape 13"/>
          <p:cNvSpPr/>
          <p:nvPr/>
        </p:nvSpPr>
        <p:spPr>
          <a:xfrm>
            <a:off x="3526590" y="2853705"/>
            <a:ext cx="3556000" cy="0"/>
          </a:xfrm>
          <a:prstGeom prst="line">
            <a:avLst/>
          </a:prstGeom>
          <a:noFill/>
          <a:ln w="12700">
            <a:solidFill>
              <a:srgbClr val="7FD1A8"/>
            </a:solidFill>
            <a:prstDash val="solid"/>
          </a:ln>
        </p:spPr>
      </p:sp>
      <p:sp>
        <p:nvSpPr>
          <p:cNvPr id="16" name="Text 14"/>
          <p:cNvSpPr/>
          <p:nvPr/>
        </p:nvSpPr>
        <p:spPr>
          <a:xfrm>
            <a:off x="3678990" y="2959100"/>
            <a:ext cx="33314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8F5"/>
                </a:solidFill>
                <a:latin typeface="Arial" pitchFamily="34" charset="0"/>
                <a:ea typeface="Arial" pitchFamily="34" charset="-122"/>
                <a:cs typeface="Arial" pitchFamily="34" charset="-120"/>
              </a:rPr>
              <a:t>PIET NON ASMP – 04</a:t>
            </a:r>
            <a:endParaRPr lang="en-US" sz="1400" dirty="0"/>
          </a:p>
        </p:txBody>
      </p:sp>
      <p:sp>
        <p:nvSpPr>
          <p:cNvPr id="17" name="Text 15"/>
          <p:cNvSpPr/>
          <p:nvPr/>
        </p:nvSpPr>
        <p:spPr>
          <a:xfrm>
            <a:off x="3678990" y="3306119"/>
            <a:ext cx="3662680"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0F2EA"/>
                </a:solidFill>
                <a:latin typeface="Arial" pitchFamily="34" charset="0"/>
                <a:ea typeface="Arial" pitchFamily="34" charset="-122"/>
                <a:cs typeface="Arial" pitchFamily="34" charset="-120"/>
              </a:rPr>
              <a:t>Parul Institute of Engineering and Technology</a:t>
            </a:r>
            <a:endParaRPr lang="en-US" sz="1300" dirty="0"/>
          </a:p>
        </p:txBody>
      </p:sp>
      <p:sp>
        <p:nvSpPr>
          <p:cNvPr id="18" name="Text 16"/>
          <p:cNvSpPr/>
          <p:nvPr/>
        </p:nvSpPr>
        <p:spPr>
          <a:xfrm>
            <a:off x="3678990" y="3657453"/>
            <a:ext cx="36626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0F2EA"/>
                </a:solidFill>
                <a:latin typeface="Arial" pitchFamily="34" charset="0"/>
                <a:ea typeface="Arial" pitchFamily="34" charset="-122"/>
                <a:cs typeface="Arial" pitchFamily="34" charset="-120"/>
              </a:rPr>
              <a:t>Parul University, Vadodara</a:t>
            </a:r>
            <a:endParaRPr lang="en-US" sz="1300" dirty="0"/>
          </a:p>
        </p:txBody>
      </p:sp>
      <p:pic>
        <p:nvPicPr>
          <p:cNvPr id="19" name="Image 0" descr="Loki logo"/>
          <p:cNvPicPr>
            <a:picLocks noChangeAspect="1"/>
          </p:cNvPicPr>
          <p:nvPr/>
        </p:nvPicPr>
        <p:blipFill>
          <a:blip r:embed="rId3"/>
          <a:srcRect t="88" b="88"/>
          <a:stretch/>
        </p:blipFill>
        <p:spPr>
          <a:xfrm>
            <a:off x="812800" y="6159500"/>
            <a:ext cx="279400" cy="368300"/>
          </a:xfrm>
          <a:prstGeom prst="roundRect">
            <a:avLst>
              <a:gd name="adj" fmla="val 18182"/>
            </a:avLst>
          </a:prstGeom>
        </p:spPr>
      </p:pic>
      <p:sp>
        <p:nvSpPr>
          <p:cNvPr id="20" name="Text 17"/>
          <p:cNvSpPr/>
          <p:nvPr/>
        </p:nvSpPr>
        <p:spPr>
          <a:xfrm>
            <a:off x="1193800" y="6238255"/>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8BB"/>
                </a:solidFill>
                <a:latin typeface="Arial" pitchFamily="34" charset="0"/>
                <a:ea typeface="Arial" pitchFamily="34" charset="-122"/>
                <a:cs typeface="Arial" pitchFamily="34" charset="-120"/>
              </a:rPr>
              <a:t>PIET NON ASMP – 04 | Parul Institute of Engineering and Technology | Parul University</a:t>
            </a:r>
            <a:endParaRPr lang="en-US" sz="1200" dirty="0"/>
          </a:p>
        </p:txBody>
      </p:sp>
      <p:sp>
        <p:nvSpPr>
          <p:cNvPr id="21" name="Text 18"/>
          <p:cNvSpPr/>
          <p:nvPr/>
        </p:nvSpPr>
        <p:spPr>
          <a:xfrm>
            <a:off x="9417050" y="6238255"/>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8C8BB"/>
                </a:solidFill>
                <a:latin typeface="Arial" pitchFamily="34" charset="0"/>
                <a:ea typeface="Arial" pitchFamily="34" charset="-122"/>
                <a:cs typeface="Arial" pitchFamily="34" charset="-120"/>
              </a:rPr>
              <a:t>Loki VCS · 40</a:t>
            </a:r>
            <a:endParaRPr lang="en-US" sz="1200" dirty="0"/>
          </a:p>
        </p:txBody>
      </p:sp>
    </p:spTree>
  </p:cSld>
  <p:clrMapOvr>
    <a:masterClrMapping/>
  </p:clrMapOvr>
</p:sld>
</file>

<file path=ppt/theme/theme1.xml><?xml version="1.0" encoding="utf-8"?>
<a:theme xmlns:a="http://schemas.openxmlformats.org/drawingml/2006/main" name="Loki VCS — Architecture Presentation">
  <a:themeElements>
    <a:clrScheme name="Loki VCS — Architecture Presentation">
      <a:dk1>
        <a:srgbClr val="07201A"/>
      </a:dk1>
      <a:lt1>
        <a:srgbClr val="F3F8F5"/>
      </a:lt1>
      <a:dk2>
        <a:srgbClr val="425651"/>
      </a:dk2>
      <a:lt2>
        <a:srgbClr val="DBE2DF"/>
      </a:lt2>
      <a:accent1>
        <a:srgbClr val="0F7B54"/>
      </a:accent1>
      <a:accent2>
        <a:srgbClr val="4FD6A0"/>
      </a:accent2>
      <a:accent3>
        <a:srgbClr val="7A5A0C"/>
      </a:accent3>
      <a:accent4>
        <a:srgbClr val="B45309"/>
      </a:accent4>
      <a:accent5>
        <a:srgbClr val="5C3410"/>
      </a:accent5>
      <a:accent6>
        <a:srgbClr val="F59E5B"/>
      </a:accent6>
      <a:hlink>
        <a:srgbClr val="0563C1"/>
      </a:hlink>
      <a:folHlink>
        <a:srgbClr val="954F72"/>
      </a:folHlink>
    </a:clrScheme>
    <a:fontScheme name="Loki VCS — Architecture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10326</Words>
  <Application>Microsoft Office PowerPoint</Application>
  <PresentationFormat>Widescreen</PresentationFormat>
  <Paragraphs>854</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Courier New</vt:lpstr>
      <vt:lpstr>Loki VCS — Architecture Presentation</vt:lpstr>
      <vt:lpstr>Loki — A Transparent Git-Style Version Control System</vt:lpstr>
      <vt:lpstr>Project Team and Academic Details</vt:lpstr>
      <vt:lpstr>Agenda</vt:lpstr>
      <vt:lpstr>What Is Version Control?</vt:lpstr>
      <vt:lpstr>Loki is an educational, local, Git-style version control system written in Go.</vt:lpstr>
      <vt:lpstr>Project Objectives</vt:lpstr>
      <vt:lpstr>Key Features: Implemented Commands</vt:lpstr>
      <vt:lpstr>High-Level Architecture</vt:lpstr>
      <vt:lpstr>Architectural Layers</vt:lpstr>
      <vt:lpstr>CLI Entry Point and Command Handlers</vt:lpstr>
      <vt:lpstr>Core Repository Logic</vt:lpstr>
      <vt:lpstr>Models, Storage and Utilities</vt:lpstr>
      <vt:lpstr>End-to-End Command Flow: loki add</vt:lpstr>
      <vt:lpstr>Repository Initialization</vt:lpstr>
      <vt:lpstr>Internal .loki Directory Structure</vt:lpstr>
      <vt:lpstr>Loki Data Model</vt:lpstr>
      <vt:lpstr>Blob Objects</vt:lpstr>
      <vt:lpstr>Tree Objects</vt:lpstr>
      <vt:lpstr>Commit Objects</vt:lpstr>
      <vt:lpstr>Tags and References</vt:lpstr>
      <vt:lpstr>Content-Addressed Object Storage</vt:lpstr>
      <vt:lpstr>Object Serialization and Compression</vt:lpstr>
      <vt:lpstr>The Staging Area and Index</vt:lpstr>
      <vt:lpstr>Commit History Representation</vt:lpstr>
      <vt:lpstr>Basic Loki Workflow</vt:lpstr>
      <vt:lpstr>File Staging Workflow</vt:lpstr>
      <vt:lpstr>Status and Diff</vt:lpstr>
      <vt:lpstr>Commit and History</vt:lpstr>
      <vt:lpstr>Branching and Checkout</vt:lpstr>
      <vt:lpstr>Reset and Revert</vt:lpstr>
      <vt:lpstr>Merge Overview: loki merge &lt;branch&gt;</vt:lpstr>
      <vt:lpstr>File-Level Three-Way Merge</vt:lpstr>
      <vt:lpstr>Merge Conflicts</vt:lpstr>
      <vt:lpstr>Merge Workflow</vt:lpstr>
      <vt:lpstr>Tags, Ignore Rules and Configuration</vt:lpstr>
      <vt:lpstr>Error Handling and Testing</vt:lpstr>
      <vt:lpstr>Latest Stable Release on GitHub</vt:lpstr>
      <vt:lpstr>Installation: Linux, macOS and Windows</vt:lpstr>
      <vt:lpstr>Current Limitations and Future Improvements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Loki VCS — Architecture Presentation</dc:title>
  <dc:subject/>
  <dc:creator/>
  <cp:lastModifiedBy>ajayagnihotri001@outlook.com</cp:lastModifiedBy>
  <cp:revision>2</cp:revision>
  <dcterms:created xsi:type="dcterms:W3CDTF">2026-10-14T11:49:17Z</dcterms:created>
  <dcterms:modified xsi:type="dcterms:W3CDTF">2026-10-14T11:53:39Z</dcterms:modified>
</cp:coreProperties>
</file>